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913bcddb54c91" /><Relationship Type="http://schemas.openxmlformats.org/officeDocument/2006/relationships/extended-properties" Target="/docProps/app.xml" Id="R87d917961b534d1b" /><Relationship Type="http://schemas.openxmlformats.org/officeDocument/2006/relationships/officeDocument" Target="/ppt/presentation.xml" Id="Re574452a1320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f6806816a44ba"/>
  </p:sldMasterIdLst>
  <p:notesMasterIdLst>
    <p:notesMasterId xmlns:r="http://schemas.openxmlformats.org/officeDocument/2006/relationships" r:id="Rc8611ae88d424c37"/>
  </p:notesMasterIdLst>
  <p:sldIdLst>
    <p:sldId xmlns:r="http://schemas.openxmlformats.org/officeDocument/2006/relationships" id="256" r:id="Ra688a3dbf37d4cee"/>
    <p:sldId xmlns:r="http://schemas.openxmlformats.org/officeDocument/2006/relationships" id="257" r:id="R169dfbcd47304faa"/>
    <p:sldId xmlns:r="http://schemas.openxmlformats.org/officeDocument/2006/relationships" id="258" r:id="Rd4cb790b91ed45c4"/>
    <p:sldId xmlns:r="http://schemas.openxmlformats.org/officeDocument/2006/relationships" id="259" r:id="Refb0c1acfd1b40f6"/>
    <p:sldId xmlns:r="http://schemas.openxmlformats.org/officeDocument/2006/relationships" id="260" r:id="R1b9c93d971434a28"/>
    <p:sldId xmlns:r="http://schemas.openxmlformats.org/officeDocument/2006/relationships" id="261" r:id="Ra201b71d4bf2476c"/>
    <p:sldId xmlns:r="http://schemas.openxmlformats.org/officeDocument/2006/relationships" id="262" r:id="R0d73aa01b6fa4a89"/>
    <p:sldId xmlns:r="http://schemas.openxmlformats.org/officeDocument/2006/relationships" id="263" r:id="R08820938f427405a"/>
    <p:sldId xmlns:r="http://schemas.openxmlformats.org/officeDocument/2006/relationships" id="264" r:id="R7bd5ddcea31d42cd"/>
    <p:sldId xmlns:r="http://schemas.openxmlformats.org/officeDocument/2006/relationships" id="265" r:id="R6d98e21b867a4eae"/>
    <p:sldId xmlns:r="http://schemas.openxmlformats.org/officeDocument/2006/relationships" id="266" r:id="Rdc03b90cab7d47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d1f00d4d1941ba" /><Relationship Type="http://schemas.openxmlformats.org/officeDocument/2006/relationships/slideMaster" Target="/ppt/slideMasters/slideMaster1.xml" Id="Rbfff6806816a44ba" /><Relationship Type="http://schemas.openxmlformats.org/officeDocument/2006/relationships/notesMaster" Target="/ppt/notesMasters/notesMaster1.xml" Id="Rc8611ae88d424c37" /><Relationship Type="http://schemas.openxmlformats.org/officeDocument/2006/relationships/presProps" Target="/ppt/presProps.xml" Id="Rff0f396dfc594fae" /><Relationship Type="http://schemas.openxmlformats.org/officeDocument/2006/relationships/tableStyles" Target="/ppt/tableStyles.xml" Id="R1d4fa4b6b19a4804" /><Relationship Type="http://schemas.openxmlformats.org/officeDocument/2006/relationships/slide" Target="/ppt/slides/slide1.xml" Id="Ra688a3dbf37d4cee" /><Relationship Type="http://schemas.openxmlformats.org/officeDocument/2006/relationships/slide" Target="/ppt/slides/slide2.xml" Id="R169dfbcd47304faa" /><Relationship Type="http://schemas.openxmlformats.org/officeDocument/2006/relationships/slide" Target="/ppt/slides/slide3.xml" Id="Rd4cb790b91ed45c4" /><Relationship Type="http://schemas.openxmlformats.org/officeDocument/2006/relationships/slide" Target="/ppt/slides/slide4.xml" Id="Refb0c1acfd1b40f6" /><Relationship Type="http://schemas.openxmlformats.org/officeDocument/2006/relationships/slide" Target="/ppt/slides/slide5.xml" Id="R1b9c93d971434a28" /><Relationship Type="http://schemas.openxmlformats.org/officeDocument/2006/relationships/slide" Target="/ppt/slides/slide6.xml" Id="Ra201b71d4bf2476c" /><Relationship Type="http://schemas.openxmlformats.org/officeDocument/2006/relationships/slide" Target="/ppt/slides/slide7.xml" Id="R0d73aa01b6fa4a89" /><Relationship Type="http://schemas.openxmlformats.org/officeDocument/2006/relationships/slide" Target="/ppt/slides/slide8.xml" Id="R08820938f427405a" /><Relationship Type="http://schemas.openxmlformats.org/officeDocument/2006/relationships/slide" Target="/ppt/slides/slide9.xml" Id="R7bd5ddcea31d42cd" /><Relationship Type="http://schemas.openxmlformats.org/officeDocument/2006/relationships/slide" Target="/ppt/slides/slide10.xml" Id="R6d98e21b867a4eae" /><Relationship Type="http://schemas.openxmlformats.org/officeDocument/2006/relationships/slide" Target="/ppt/slides/slide11.xml" Id="Rdc03b90cab7d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c3484e0600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c50b493f114df7" /><Relationship Type="http://schemas.openxmlformats.org/officeDocument/2006/relationships/notesMaster" Target="/ppt/notesMasters/notesMaster1.xml" Id="Rc21661658a3747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aead4d45e473d" /><Relationship Type="http://schemas.openxmlformats.org/officeDocument/2006/relationships/notesMaster" Target="/ppt/notesMasters/notesMaster1.xml" Id="R11862bb1e3d6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81405d9434014" /><Relationship Type="http://schemas.openxmlformats.org/officeDocument/2006/relationships/notesMaster" Target="/ppt/notesMasters/notesMaster1.xml" Id="R21fb147d7f284e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04938026b4713" /><Relationship Type="http://schemas.openxmlformats.org/officeDocument/2006/relationships/notesMaster" Target="/ppt/notesMasters/notesMaster1.xml" Id="R310a01ff5741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804094e004626" /><Relationship Type="http://schemas.openxmlformats.org/officeDocument/2006/relationships/notesMaster" Target="/ppt/notesMasters/notesMaster1.xml" Id="Rd8ef3f31d538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7b498b5e74f68" /><Relationship Type="http://schemas.openxmlformats.org/officeDocument/2006/relationships/notesMaster" Target="/ppt/notesMasters/notesMaster1.xml" Id="Rff53c27230e84b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4f6e4e13d44b43" /><Relationship Type="http://schemas.openxmlformats.org/officeDocument/2006/relationships/notesMaster" Target="/ppt/notesMasters/notesMaster1.xml" Id="R4abe8b7e76ac43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4505ab3e041b7" /><Relationship Type="http://schemas.openxmlformats.org/officeDocument/2006/relationships/notesMaster" Target="/ppt/notesMasters/notesMaster1.xml" Id="R4d9a6d1e3023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6eff595c0342e3" /><Relationship Type="http://schemas.openxmlformats.org/officeDocument/2006/relationships/notesMaster" Target="/ppt/notesMasters/notesMaster1.xml" Id="R66777d07d502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cd52e056c44439" /><Relationship Type="http://schemas.openxmlformats.org/officeDocument/2006/relationships/notesMaster" Target="/ppt/notesMasters/notesMaster1.xml" Id="R8fc53922d71d46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64c401f2bf4d86" /><Relationship Type="http://schemas.openxmlformats.org/officeDocument/2006/relationships/notesMaster" Target="/ppt/notesMasters/notesMaster1.xml" Id="R85021d0da482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problem. Canary does not replace farm judgment; it organizes evidence into a repeatable daily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linear story: identify, explain, forecast, act. The risk score is separate from the predictive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there are more training rows than final outcomes: each building-cycle is recreated at multiple decision checkpoints, but validation keeps related rows together by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separation is a core design decision. Rules provide operational explainability, models estimate outcomes, and the playbook turns recorded triggers into inspections.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missing or stale evidence is marked not scored, never treated as safe. Environmental severity thresholds remain provisional pending farm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best learned linear challenger was Ridge, but it was 5.7% worse than historical remaining gain and reached only 60.5% within 200 g. The approved gate requires 10% improvement and at least 70% within 200 g, so the baseline remains operational.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Nested whole-cycle validation now selects ordinary linear regression for the continuous estimate. It improves cycle-balanced MAE by 14.5% and keeps positive R², but it does not validate 95% hit-versus-miss classification.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action playbook follows Doc Raymond's trigger concepts. Wording, thresholds, and approval status remain visible so the team never presents a recommendation as hidden AI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evidence to score, then forecasts, then action. Point out that environmental evidence is not scored because the last reading is stale—not because conditions were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panel-safe framing. The project is defensible because it exposes limitations rather than hiding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having one teammate repeat the 20-second explanation without reading. Then ask the team to practice explaining one engine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/Users/jourdan.go/Downloads/PROJECT CANARY/canary_app/docs/PROJECT_CANARY_DEFENSE_CHEAT_SHEET.md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a7d972ab0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8ff1f64e14764" /><Relationship Type="http://schemas.openxmlformats.org/officeDocument/2006/relationships/slideLayout" Target="/ppt/slideLayouts/slideLayout1.xml" Id="R72339124acc1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39124acc1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7f7436b2f476a" /><Relationship Type="http://schemas.openxmlformats.org/officeDocument/2006/relationships/notesSlide" Target="/ppt/notesSlides/notesSlide1.xml" Id="R59564fc5ddf0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f9cc6349f4889" /><Relationship Type="http://schemas.openxmlformats.org/officeDocument/2006/relationships/notesSlide" Target="/ppt/notesSlides/notesSlide2.xml" Id="Rca605f72e163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8f68966cb4a26" /><Relationship Type="http://schemas.openxmlformats.org/officeDocument/2006/relationships/notesSlide" Target="/ppt/notesSlides/notesSlide3.xml" Id="R70e66de3ee154e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23a4bda3e4ade" /><Relationship Type="http://schemas.openxmlformats.org/officeDocument/2006/relationships/notesSlide" Target="/ppt/notesSlides/notesSlide4.xml" Id="Re72f51ec3a8d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e5dc234054664" /><Relationship Type="http://schemas.openxmlformats.org/officeDocument/2006/relationships/notesSlide" Target="/ppt/notesSlides/notesSlide5.xml" Id="R37d1009c57ac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801e383fc4cc8" /><Relationship Type="http://schemas.openxmlformats.org/officeDocument/2006/relationships/notesSlide" Target="/ppt/notesSlides/notesSlide6.xml" Id="R126a14ff091c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a5e5981bc46fc" /><Relationship Type="http://schemas.openxmlformats.org/officeDocument/2006/relationships/notesSlide" Target="/ppt/notesSlides/notesSlide7.xml" Id="R65c2a4dd53a04d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ffa48544641b8" /><Relationship Type="http://schemas.openxmlformats.org/officeDocument/2006/relationships/notesSlide" Target="/ppt/notesSlides/notesSlide8.xml" Id="Re0e002d6571d49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448c5a3fb4b75" /><Relationship Type="http://schemas.openxmlformats.org/officeDocument/2006/relationships/notesSlide" Target="/ppt/notesSlides/notesSlide9.xml" Id="R680154aca0274d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991d9d46a4d08" /><Relationship Type="http://schemas.openxmlformats.org/officeDocument/2006/relationships/notesSlide" Target="/ppt/notesSlides/notesSlide10.xml" Id="Rb3a06258aebb4a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594d1bd344d1e" /><Relationship Type="http://schemas.openxmlformats.org/officeDocument/2006/relationships/notesSlide" Target="/ppt/notesSlides/notesSlide11.xml" Id="Rdd92b16d67b04f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bar">
            <a:extLst xmlns:a="http://schemas.openxmlformats.org/drawingml/2006/main">
              <a:ext uri="{FF2B5EF4-FFF2-40B4-BE49-F238E27FC236}">
                <a16:creationId xmlns:a16="http://schemas.microsoft.com/office/drawing/2014/main" id="{78ECA869-145F-447A-B590-6881C482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2-44">
            <a:extLst xmlns:a="http://schemas.openxmlformats.org/drawingml/2006/main">
              <a:ext uri="{FF2B5EF4-FFF2-40B4-BE49-F238E27FC236}">
                <a16:creationId xmlns:a16="http://schemas.microsoft.com/office/drawing/2014/main" id="{A4574431-20D1-4B16-B51A-4E1D384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 · TEAM WALKTHROUGH</a:t>
            </a:r>
          </a:p>
        </p:txBody>
      </p:sp>
      <p:sp>
        <p:nvSpPr>
          <p:cNvPr id="3" name="text-52-174">
            <a:extLst xmlns:a="http://schemas.openxmlformats.org/drawingml/2006/main">
              <a:ext uri="{FF2B5EF4-FFF2-40B4-BE49-F238E27FC236}">
                <a16:creationId xmlns:a16="http://schemas.microsoft.com/office/drawing/2014/main" id="{935CF6BF-B373-4133-89EA-F65A19B4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90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farm data,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turned into a decision</a:t>
            </a:r>
          </a:p>
        </p:txBody>
      </p:sp>
      <p:sp>
        <p:nvSpPr>
          <p:cNvPr id="4" name="text-56-430">
            <a:extLst xmlns:a="http://schemas.openxmlformats.org/drawingml/2006/main">
              <a:ext uri="{FF2B5EF4-FFF2-40B4-BE49-F238E27FC236}">
                <a16:creationId xmlns:a16="http://schemas.microsoft.com/office/drawing/2014/main" id="{42850A74-1D1E-40CC-839F-8FC1B6D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Identify buildings at risk, forecast Day 35 weight and final recovery, and recommend what management should inspect next.</a:t>
            </a:r>
          </a:p>
        </p:txBody>
      </p:sp>
      <p:sp>
        <p:nvSpPr>
          <p:cNvPr id="5" name="canary-mark">
            <a:extLst xmlns:a="http://schemas.openxmlformats.org/drawingml/2006/main">
              <a:ext uri="{FF2B5EF4-FFF2-40B4-BE49-F238E27FC236}">
                <a16:creationId xmlns:a16="http://schemas.microsoft.com/office/drawing/2014/main" id="{B52E8F5C-EDB6-42C8-8CF6-084FCB1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096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80-116">
            <a:extLst xmlns:a="http://schemas.openxmlformats.org/drawingml/2006/main">
              <a:ext uri="{FF2B5EF4-FFF2-40B4-BE49-F238E27FC236}">
                <a16:creationId xmlns:a16="http://schemas.microsoft.com/office/drawing/2014/main" id="{B432E4A4-176B-4BD5-BF3C-DEBBB0AE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04900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text-958-248">
            <a:extLst xmlns:a="http://schemas.openxmlformats.org/drawingml/2006/main">
              <a:ext uri="{FF2B5EF4-FFF2-40B4-BE49-F238E27FC236}">
                <a16:creationId xmlns:a16="http://schemas.microsoft.com/office/drawing/2014/main" id="{89D22A37-7203-4AA8-BF74-6FCBBAC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business-logic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engines</a:t>
            </a:r>
          </a:p>
        </p:txBody>
      </p:sp>
      <p:sp>
        <p:nvSpPr>
          <p:cNvPr id="8" name="text-56-640">
            <a:extLst xmlns:a="http://schemas.openxmlformats.org/drawingml/2006/main">
              <a:ext uri="{FF2B5EF4-FFF2-40B4-BE49-F238E27FC236}">
                <a16:creationId xmlns:a16="http://schemas.microsoft.com/office/drawing/2014/main" id="{884216BF-A226-47DD-81A8-8839F85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CAPSTONE PROTOTYPE</a:t>
            </a:r>
          </a:p>
        </p:txBody>
      </p:sp>
    </p:spTree>
    <p:extLst>
      <p:ext uri="{BB962C8B-B14F-4D97-AF65-F5344CB8AC3E}">
        <p14:creationId xmlns:p14="http://schemas.microsoft.com/office/powerpoint/2010/main" val="1068573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FA264A22-B0AD-4895-8CBE-A33762C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BE6E09C-35DE-461A-9FB8-E76A724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Canary answers one daily management question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4BB792D5-2D2F-4E00-B29B-718C3603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ext-84-186">
            <a:extLst xmlns:a="http://schemas.openxmlformats.org/drawingml/2006/main">
              <a:ext uri="{FF2B5EF4-FFF2-40B4-BE49-F238E27FC236}">
                <a16:creationId xmlns:a16="http://schemas.microsoft.com/office/drawing/2014/main" id="{D9E1A3D8-8602-4091-ABED-3E7C0BF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8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Which buildings need attention today—why, what outcomes are currently expected, and what should management inspect next?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95350" y="34861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4F3C"/>
            </a:solidFill>
            <a:prstDash val="solid"/>
          </a:ln>
        </p:spPr>
      </p:cxnSp>
      <p:sp>
        <p:nvSpPr>
          <p:cNvPr id="7" name="text-98-398">
            <a:extLst xmlns:a="http://schemas.openxmlformats.org/drawingml/2006/main">
              <a:ext uri="{FF2B5EF4-FFF2-40B4-BE49-F238E27FC236}">
                <a16:creationId xmlns:a16="http://schemas.microsoft.com/office/drawing/2014/main" id="{B0197A17-E79D-43B1-9BF4-78A9F55D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text-98-442">
            <a:extLst xmlns:a="http://schemas.openxmlformats.org/drawingml/2006/main">
              <a:ext uri="{FF2B5EF4-FFF2-40B4-BE49-F238E27FC236}">
                <a16:creationId xmlns:a16="http://schemas.microsoft.com/office/drawing/2014/main" id="{594724FD-8D7C-4FAC-A645-3FDF3D5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 the risk</a:t>
            </a:r>
          </a:p>
        </p:txBody>
      </p:sp>
      <p:sp>
        <p:nvSpPr>
          <p:cNvPr id="9" name="text-98-490">
            <a:extLst xmlns:a="http://schemas.openxmlformats.org/drawingml/2006/main">
              <a:ext uri="{FF2B5EF4-FFF2-40B4-BE49-F238E27FC236}">
                <a16:creationId xmlns:a16="http://schemas.microsoft.com/office/drawing/2014/main" id="{4E61C2C8-625E-427F-97C8-7445209B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Rank all six buildings using direct operational evidence.</a:t>
            </a:r>
          </a:p>
        </p:txBody>
      </p:sp>
      <p:sp>
        <p:nvSpPr>
          <p:cNvPr id="10" name="text-387-398">
            <a:extLst xmlns:a="http://schemas.openxmlformats.org/drawingml/2006/main">
              <a:ext uri="{FF2B5EF4-FFF2-40B4-BE49-F238E27FC236}">
                <a16:creationId xmlns:a16="http://schemas.microsoft.com/office/drawing/2014/main" id="{2D1EA771-1FD3-484A-9020-B87E9899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90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-387-442">
            <a:extLst xmlns:a="http://schemas.openxmlformats.org/drawingml/2006/main">
              <a:ext uri="{FF2B5EF4-FFF2-40B4-BE49-F238E27FC236}">
                <a16:creationId xmlns:a16="http://schemas.microsoft.com/office/drawing/2014/main" id="{75983335-8C60-4844-8CA4-63A8EFA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the why</a:t>
            </a:r>
          </a:p>
        </p:txBody>
      </p:sp>
      <p:sp>
        <p:nvSpPr>
          <p:cNvPr id="12" name="text-387-490">
            <a:extLst xmlns:a="http://schemas.openxmlformats.org/drawingml/2006/main">
              <a:ext uri="{FF2B5EF4-FFF2-40B4-BE49-F238E27FC236}">
                <a16:creationId xmlns:a16="http://schemas.microsoft.com/office/drawing/2014/main" id="{BD592ABB-2FE8-4673-BB8E-00B956F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67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Show the measurement, threshold, and points behind the label.</a:t>
            </a:r>
          </a:p>
        </p:txBody>
      </p:sp>
      <p:sp>
        <p:nvSpPr>
          <p:cNvPr id="13" name="text-676-398">
            <a:extLst xmlns:a="http://schemas.openxmlformats.org/drawingml/2006/main">
              <a:ext uri="{FF2B5EF4-FFF2-40B4-BE49-F238E27FC236}">
                <a16:creationId xmlns:a16="http://schemas.microsoft.com/office/drawing/2014/main" id="{D1B6F2A8-1D54-4B08-99C3-A137D3E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-676-442">
            <a:extLst xmlns:a="http://schemas.openxmlformats.org/drawingml/2006/main">
              <a:ext uri="{FF2B5EF4-FFF2-40B4-BE49-F238E27FC236}">
                <a16:creationId xmlns:a16="http://schemas.microsoft.com/office/drawing/2014/main" id="{2E459477-3591-401F-87A9-AE57FEC1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Project outcomes</a:t>
            </a:r>
          </a:p>
        </p:txBody>
      </p:sp>
      <p:sp>
        <p:nvSpPr>
          <p:cNvPr id="15" name="text-676-490">
            <a:extLst xmlns:a="http://schemas.openxmlformats.org/drawingml/2006/main">
              <a:ext uri="{FF2B5EF4-FFF2-40B4-BE49-F238E27FC236}">
                <a16:creationId xmlns:a16="http://schemas.microsoft.com/office/drawing/2014/main" id="{67FA000D-DBBD-44C1-80CD-A402D0B7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Estimate Day 35 weight and final harvest recovery.</a:t>
            </a:r>
          </a:p>
        </p:txBody>
      </p:sp>
      <p:sp>
        <p:nvSpPr>
          <p:cNvPr id="16" name="text-965-398">
            <a:extLst xmlns:a="http://schemas.openxmlformats.org/drawingml/2006/main">
              <a:ext uri="{FF2B5EF4-FFF2-40B4-BE49-F238E27FC236}">
                <a16:creationId xmlns:a16="http://schemas.microsoft.com/office/drawing/2014/main" id="{37D31F50-DE3F-4824-B1AD-F6784F70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90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-965-442">
            <a:extLst xmlns:a="http://schemas.openxmlformats.org/drawingml/2006/main">
              <a:ext uri="{FF2B5EF4-FFF2-40B4-BE49-F238E27FC236}">
                <a16:creationId xmlns:a16="http://schemas.microsoft.com/office/drawing/2014/main" id="{71A7722A-B2E1-4FDB-BD66-8E91B78C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 next</a:t>
            </a:r>
          </a:p>
        </p:txBody>
      </p:sp>
      <p:sp>
        <p:nvSpPr>
          <p:cNvPr id="18" name="text-965-490">
            <a:extLst xmlns:a="http://schemas.openxmlformats.org/drawingml/2006/main">
              <a:ext uri="{FF2B5EF4-FFF2-40B4-BE49-F238E27FC236}">
                <a16:creationId xmlns:a16="http://schemas.microsoft.com/office/drawing/2014/main" id="{C5BA6C28-78B4-45E7-9D76-99ADE20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Map the strongest trigger to a traceable inspection playbook.</a:t>
            </a:r>
          </a:p>
        </p:txBody>
      </p:sp>
    </p:spTree>
    <p:extLst>
      <p:ext uri="{BB962C8B-B14F-4D97-AF65-F5344CB8AC3E}">
        <p14:creationId xmlns:p14="http://schemas.microsoft.com/office/powerpoint/2010/main" val="309976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3">
            <a:extLst xmlns:a="http://schemas.openxmlformats.org/drawingml/2006/main">
              <a:ext uri="{FF2B5EF4-FFF2-40B4-BE49-F238E27FC236}">
                <a16:creationId xmlns:a16="http://schemas.microsoft.com/office/drawing/2014/main" id="{5F2A088F-3664-4CD8-9895-CE93021D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311FEB9-F1E2-4B40-8F4B-FA9187B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methodology starts with leakage-safe data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31B6D9C-A1F3-46B5-8918-19A3F711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ext-42-154">
            <a:extLst xmlns:a="http://schemas.openxmlformats.org/drawingml/2006/main">
              <a:ext uri="{FF2B5EF4-FFF2-40B4-BE49-F238E27FC236}">
                <a16:creationId xmlns:a16="http://schemas.microsoft.com/office/drawing/2014/main" id="{30A090F7-15F5-4034-9787-0C70F9A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Every forecast is recreated as if management were standing on that review date—future records stay hidden.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DCD31-40A3-407C-879B-156DF855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6A979-4F4B-45F1-9411-475B14E3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861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11ED1-CE1B-43E2-9A11-A269793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DFA2E-1B25-4B06-BF87-51CC36D6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1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48-256">
            <a:extLst xmlns:a="http://schemas.openxmlformats.org/drawingml/2006/main">
              <a:ext uri="{FF2B5EF4-FFF2-40B4-BE49-F238E27FC236}">
                <a16:creationId xmlns:a16="http://schemas.microsoft.com/office/drawing/2014/main" id="{9B6C56E3-5849-43A8-8F8D-7FE7122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57200" y="28194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2" name="text-48-318">
            <a:extLst xmlns:a="http://schemas.openxmlformats.org/drawingml/2006/main">
              <a:ext uri="{FF2B5EF4-FFF2-40B4-BE49-F238E27FC236}">
                <a16:creationId xmlns:a16="http://schemas.microsoft.com/office/drawing/2014/main" id="{412B94B4-002D-4203-B481-1C49561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3" name="text-48-390">
            <a:extLst xmlns:a="http://schemas.openxmlformats.org/drawingml/2006/main">
              <a:ext uri="{FF2B5EF4-FFF2-40B4-BE49-F238E27FC236}">
                <a16:creationId xmlns:a16="http://schemas.microsoft.com/office/drawing/2014/main" id="{DB3B14F1-0B5B-456A-AF94-AEFD775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1,785 rows</a:t>
            </a:r>
          </a:p>
        </p:txBody>
      </p:sp>
      <p:sp>
        <p:nvSpPr>
          <p:cNvPr id="14" name="text-286-256">
            <a:extLst xmlns:a="http://schemas.openxmlformats.org/drawingml/2006/main">
              <a:ext uri="{FF2B5EF4-FFF2-40B4-BE49-F238E27FC236}">
                <a16:creationId xmlns:a16="http://schemas.microsoft.com/office/drawing/2014/main" id="{DB47BF99-2B82-4EBC-B84E-84C0DDA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2724150" y="28194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6" name="text-286-318">
            <a:extLst xmlns:a="http://schemas.openxmlformats.org/drawingml/2006/main">
              <a:ext uri="{FF2B5EF4-FFF2-40B4-BE49-F238E27FC236}">
                <a16:creationId xmlns:a16="http://schemas.microsoft.com/office/drawing/2014/main" id="{222B276E-A5D4-4652-9EFF-D13F04A9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17" name="text-286-390">
            <a:extLst xmlns:a="http://schemas.openxmlformats.org/drawingml/2006/main">
              <a:ext uri="{FF2B5EF4-FFF2-40B4-BE49-F238E27FC236}">
                <a16:creationId xmlns:a16="http://schemas.microsoft.com/office/drawing/2014/main" id="{A4569498-CB0A-49E4-9399-C4480061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1,666 building-days</a:t>
            </a:r>
          </a:p>
        </p:txBody>
      </p:sp>
      <p:sp>
        <p:nvSpPr>
          <p:cNvPr id="18" name="text-524-256">
            <a:extLst xmlns:a="http://schemas.openxmlformats.org/drawingml/2006/main">
              <a:ext uri="{FF2B5EF4-FFF2-40B4-BE49-F238E27FC236}">
                <a16:creationId xmlns:a16="http://schemas.microsoft.com/office/drawing/2014/main" id="{00DF893C-F914-409E-B79E-90519D9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991100" y="28194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0" name="text-524-318">
            <a:extLst xmlns:a="http://schemas.openxmlformats.org/drawingml/2006/main">
              <a:ext uri="{FF2B5EF4-FFF2-40B4-BE49-F238E27FC236}">
                <a16:creationId xmlns:a16="http://schemas.microsoft.com/office/drawing/2014/main" id="{861F0270-29B8-48CA-85D0-33881FF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Outcomes</a:t>
            </a:r>
          </a:p>
        </p:txBody>
      </p:sp>
      <p:sp>
        <p:nvSpPr>
          <p:cNvPr id="21" name="text-524-390">
            <a:extLst xmlns:a="http://schemas.openxmlformats.org/drawingml/2006/main">
              <a:ext uri="{FF2B5EF4-FFF2-40B4-BE49-F238E27FC236}">
                <a16:creationId xmlns:a16="http://schemas.microsoft.com/office/drawing/2014/main" id="{53262A19-6CB5-4E09-996D-4F9D1E01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 recovery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 weight</a:t>
            </a:r>
          </a:p>
        </p:txBody>
      </p:sp>
      <p:sp>
        <p:nvSpPr>
          <p:cNvPr id="22" name="text-762-256">
            <a:extLst xmlns:a="http://schemas.openxmlformats.org/drawingml/2006/main">
              <a:ext uri="{FF2B5EF4-FFF2-40B4-BE49-F238E27FC236}">
                <a16:creationId xmlns:a16="http://schemas.microsoft.com/office/drawing/2014/main" id="{BDB59CF2-F633-4B03-BA7E-DF2C4D7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7258050" y="28194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4" name="text-762-318">
            <a:extLst xmlns:a="http://schemas.openxmlformats.org/drawingml/2006/main">
              <a:ext uri="{FF2B5EF4-FFF2-40B4-BE49-F238E27FC236}">
                <a16:creationId xmlns:a16="http://schemas.microsoft.com/office/drawing/2014/main" id="{23CD55C0-F8F3-4FEB-ABBA-6939436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Snapshots</a:t>
            </a:r>
          </a:p>
        </p:txBody>
      </p:sp>
      <p:sp>
        <p:nvSpPr>
          <p:cNvPr id="25" name="text-762-390">
            <a:extLst xmlns:a="http://schemas.openxmlformats.org/drawingml/2006/main">
              <a:ext uri="{FF2B5EF4-FFF2-40B4-BE49-F238E27FC236}">
                <a16:creationId xmlns:a16="http://schemas.microsoft.com/office/drawing/2014/main" id="{C302C978-E247-4748-B413-368FDDC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122 recovery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124 weight</a:t>
            </a:r>
          </a:p>
        </p:txBody>
      </p:sp>
      <p:sp>
        <p:nvSpPr>
          <p:cNvPr id="26" name="text-1000-256">
            <a:extLst xmlns:a="http://schemas.openxmlformats.org/drawingml/2006/main">
              <a:ext uri="{FF2B5EF4-FFF2-40B4-BE49-F238E27FC236}">
                <a16:creationId xmlns:a16="http://schemas.microsoft.com/office/drawing/2014/main" id="{8EFAE9B9-C220-4F81-82EA-9648A000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9525000" y="28194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8" name="text-1000-318">
            <a:extLst xmlns:a="http://schemas.openxmlformats.org/drawingml/2006/main">
              <a:ext uri="{FF2B5EF4-FFF2-40B4-BE49-F238E27FC236}">
                <a16:creationId xmlns:a16="http://schemas.microsoft.com/office/drawing/2014/main" id="{94AEAEC8-487F-499F-99BD-AC3C9FD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29" name="text-1000-390">
            <a:extLst xmlns:a="http://schemas.openxmlformats.org/drawingml/2006/main">
              <a:ext uri="{FF2B5EF4-FFF2-40B4-BE49-F238E27FC236}">
                <a16:creationId xmlns:a16="http://schemas.microsoft.com/office/drawing/2014/main" id="{BDA85E85-DC2E-4646-BCB0-618C865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Hold out</a:t>
            </a:r>
          </a:p>
          <a:p xmlns:a="http://schemas.openxmlformats.org/drawingml/2006/main">
            <a:pPr algn="l">
              <a:def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whole cycles</a:t>
            </a:r>
          </a:p>
        </p:txBody>
      </p:sp>
      <p:sp>
        <p:nvSpPr>
          <p:cNvPr id="30" name="leakage-callout">
            <a:extLst xmlns:a="http://schemas.openxmlformats.org/drawingml/2006/main">
              <a:ext uri="{FF2B5EF4-FFF2-40B4-BE49-F238E27FC236}">
                <a16:creationId xmlns:a16="http://schemas.microsoft.com/office/drawing/2014/main" id="{0A2C1C45-5980-4F76-9A46-2C97E3F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64-570">
            <a:extLst xmlns:a="http://schemas.openxmlformats.org/drawingml/2006/main">
              <a:ext uri="{FF2B5EF4-FFF2-40B4-BE49-F238E27FC236}">
                <a16:creationId xmlns:a16="http://schemas.microsoft.com/office/drawing/2014/main" id="{AE8B27EE-C7B0-4F76-B5F2-5E7353E8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Key defense point</a:t>
            </a:r>
          </a:p>
        </p:txBody>
      </p:sp>
      <p:sp>
        <p:nvSpPr>
          <p:cNvPr id="32" name="text-276-568">
            <a:extLst xmlns:a="http://schemas.openxmlformats.org/drawingml/2006/main">
              <a:ext uri="{FF2B5EF4-FFF2-40B4-BE49-F238E27FC236}">
                <a16:creationId xmlns:a16="http://schemas.microsoft.com/office/drawing/2014/main" id="{1D9A87BE-3A94-4F2E-B906-CB206E1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1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Rows from the held-out harvest cycle never appear in training, and earlier snapshots never contain later checkpoint weights.</a:t>
            </a:r>
          </a:p>
        </p:txBody>
      </p:sp>
    </p:spTree>
    <p:extLst>
      <p:ext uri="{BB962C8B-B14F-4D97-AF65-F5344CB8AC3E}">
        <p14:creationId xmlns:p14="http://schemas.microsoft.com/office/powerpoint/2010/main" val="557177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4">
            <a:extLst xmlns:a="http://schemas.openxmlformats.org/drawingml/2006/main">
              <a:ext uri="{FF2B5EF4-FFF2-40B4-BE49-F238E27FC236}">
                <a16:creationId xmlns:a16="http://schemas.microsoft.com/office/drawing/2014/main" id="{410CDE4C-AE06-42E9-8B44-953C14F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60248E-2025-42FB-B647-0C895F5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separate engines turn evidence into action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0BDA9CA-15AB-4BFB-ADF0-D23AA469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ext-52-178">
            <a:extLst xmlns:a="http://schemas.openxmlformats.org/drawingml/2006/main">
              <a:ext uri="{FF2B5EF4-FFF2-40B4-BE49-F238E27FC236}">
                <a16:creationId xmlns:a16="http://schemas.microsoft.com/office/drawing/2014/main" id="{FF455C3E-6537-4683-A5A8-B931EF1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95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text-52-270">
            <a:extLst xmlns:a="http://schemas.openxmlformats.org/drawingml/2006/main">
              <a:ext uri="{FF2B5EF4-FFF2-40B4-BE49-F238E27FC236}">
                <a16:creationId xmlns:a16="http://schemas.microsoft.com/office/drawing/2014/main" id="{36D7C383-A9F5-44FA-A70B-0F9181C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Rules-based risk</a:t>
            </a:r>
          </a:p>
        </p:txBody>
      </p:sp>
      <p:sp>
        <p:nvSpPr>
          <p:cNvPr id="7" name="text-52-334">
            <a:extLst xmlns:a="http://schemas.openxmlformats.org/drawingml/2006/main">
              <a:ext uri="{FF2B5EF4-FFF2-40B4-BE49-F238E27FC236}">
                <a16:creationId xmlns:a16="http://schemas.microsoft.com/office/drawing/2014/main" id="{A26DE6B7-8E79-4B8D-B8B9-188E09A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Who needs attention—and why?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9530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9" name="text-52-458">
            <a:extLst xmlns:a="http://schemas.openxmlformats.org/drawingml/2006/main">
              <a:ext uri="{FF2B5EF4-FFF2-40B4-BE49-F238E27FC236}">
                <a16:creationId xmlns:a16="http://schemas.microsoft.com/office/drawing/2014/main" id="{E7C4BE62-CBCA-4426-B7CA-8239A9A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0–12 score</a:t>
            </a:r>
          </a:p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Low / Medium / High / Critical</a:t>
            </a:r>
          </a:p>
        </p:txBody>
      </p:sp>
      <p:sp>
        <p:nvSpPr>
          <p:cNvPr id="10" name="text-445-178">
            <a:extLst xmlns:a="http://schemas.openxmlformats.org/drawingml/2006/main">
              <a:ext uri="{FF2B5EF4-FFF2-40B4-BE49-F238E27FC236}">
                <a16:creationId xmlns:a16="http://schemas.microsoft.com/office/drawing/2014/main" id="{B20BBB2A-A8F1-49D5-9FB5-4E6B86A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95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text-445-270">
            <a:extLst xmlns:a="http://schemas.openxmlformats.org/drawingml/2006/main">
              <a:ext uri="{FF2B5EF4-FFF2-40B4-BE49-F238E27FC236}">
                <a16:creationId xmlns:a16="http://schemas.microsoft.com/office/drawing/2014/main" id="{F52C9EF6-8223-4479-8D61-6207C799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Predictive forecasts</a:t>
            </a:r>
          </a:p>
        </p:txBody>
      </p:sp>
      <p:sp>
        <p:nvSpPr>
          <p:cNvPr id="12" name="text-445-334">
            <a:extLst xmlns:a="http://schemas.openxmlformats.org/drawingml/2006/main">
              <a:ext uri="{FF2B5EF4-FFF2-40B4-BE49-F238E27FC236}">
                <a16:creationId xmlns:a16="http://schemas.microsoft.com/office/drawing/2014/main" id="{8BA7F732-AB23-49F7-884A-C459B932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81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What outcomes are currently expected?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238625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4" name="text-445-458">
            <a:extLst xmlns:a="http://schemas.openxmlformats.org/drawingml/2006/main">
              <a:ext uri="{FF2B5EF4-FFF2-40B4-BE49-F238E27FC236}">
                <a16:creationId xmlns:a16="http://schemas.microsoft.com/office/drawing/2014/main" id="{CB33B579-ABF8-4D6B-9866-9CE91C2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624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Day 35 weight</a:t>
            </a:r>
          </a:p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Final harvest recovery</a:t>
            </a:r>
          </a:p>
        </p:txBody>
      </p:sp>
      <p:sp>
        <p:nvSpPr>
          <p:cNvPr id="15" name="text-838-178">
            <a:extLst xmlns:a="http://schemas.openxmlformats.org/drawingml/2006/main">
              <a:ext uri="{FF2B5EF4-FFF2-40B4-BE49-F238E27FC236}">
                <a16:creationId xmlns:a16="http://schemas.microsoft.com/office/drawing/2014/main" id="{AA6F9BF1-2737-41B8-BF8C-7BBEE8C2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95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-838-270">
            <a:extLst xmlns:a="http://schemas.openxmlformats.org/drawingml/2006/main">
              <a:ext uri="{FF2B5EF4-FFF2-40B4-BE49-F238E27FC236}">
                <a16:creationId xmlns:a16="http://schemas.microsoft.com/office/drawing/2014/main" id="{59C73B14-A2BD-4AAF-8D15-BC4A41E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Recommendation playbook</a:t>
            </a:r>
          </a:p>
        </p:txBody>
      </p:sp>
      <p:sp>
        <p:nvSpPr>
          <p:cNvPr id="17" name="text-838-334">
            <a:extLst xmlns:a="http://schemas.openxmlformats.org/drawingml/2006/main">
              <a:ext uri="{FF2B5EF4-FFF2-40B4-BE49-F238E27FC236}">
                <a16:creationId xmlns:a16="http://schemas.microsoft.com/office/drawing/2014/main" id="{C739C652-3B17-4088-90DB-13353A7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What should management inspect next?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98195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9" name="text-838-458">
            <a:extLst xmlns:a="http://schemas.openxmlformats.org/drawingml/2006/main">
              <a:ext uri="{FF2B5EF4-FFF2-40B4-BE49-F238E27FC236}">
                <a16:creationId xmlns:a16="http://schemas.microsoft.com/office/drawing/2014/main" id="{59B6C90F-D12C-41AE-8D7A-A14F427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Problem pattern</a:t>
            </a:r>
          </a:p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Action · urgency · rule ID</a:t>
            </a:r>
          </a:p>
        </p:txBody>
      </p:sp>
      <p:sp>
        <p:nvSpPr>
          <p:cNvPr id="20" name="text-52-626">
            <a:extLst xmlns:a="http://schemas.openxmlformats.org/drawingml/2006/main">
              <a:ext uri="{FF2B5EF4-FFF2-40B4-BE49-F238E27FC236}">
                <a16:creationId xmlns:a16="http://schemas.microsoft.com/office/drawing/2014/main" id="{BD0638B2-D052-4F48-8178-FF3474E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risk score is not a probability—and predictions do not add risk points.</a:t>
            </a:r>
          </a:p>
        </p:txBody>
      </p:sp>
    </p:spTree>
    <p:extLst>
      <p:ext uri="{BB962C8B-B14F-4D97-AF65-F5344CB8AC3E}">
        <p14:creationId xmlns:p14="http://schemas.microsoft.com/office/powerpoint/2010/main" val="974251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5">
            <a:extLst xmlns:a="http://schemas.openxmlformats.org/drawingml/2006/main">
              <a:ext uri="{FF2B5EF4-FFF2-40B4-BE49-F238E27FC236}">
                <a16:creationId xmlns:a16="http://schemas.microsoft.com/office/drawing/2014/main" id="{462B1772-43D2-438E-8092-EA845CA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6AC24D0-5FBA-4251-BB12-18154806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Risk scoring uses four direct, auditable checks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11BFDCF-F846-4596-BDFA-197F7B3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text-48-178">
            <a:extLst xmlns:a="http://schemas.openxmlformats.org/drawingml/2006/main">
              <a:ext uri="{FF2B5EF4-FFF2-40B4-BE49-F238E27FC236}">
                <a16:creationId xmlns:a16="http://schemas.microsoft.com/office/drawing/2014/main" id="{8CA4D048-8B12-4801-A53C-74A0F0F7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0–3</a:t>
            </a:r>
          </a:p>
        </p:txBody>
      </p:sp>
      <p:sp>
        <p:nvSpPr>
          <p:cNvPr id="6" name="text-180-180">
            <a:extLst xmlns:a="http://schemas.openxmlformats.org/drawingml/2006/main">
              <a:ext uri="{FF2B5EF4-FFF2-40B4-BE49-F238E27FC236}">
                <a16:creationId xmlns:a16="http://schemas.microsoft.com/office/drawing/2014/main" id="{B7AF9E64-BD2C-433E-AFCE-5F6FAFE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WEIGHT GAP</a:t>
            </a:r>
          </a:p>
        </p:txBody>
      </p:sp>
      <p:sp>
        <p:nvSpPr>
          <p:cNvPr id="7" name="text-180-224">
            <a:extLst xmlns:a="http://schemas.openxmlformats.org/drawingml/2006/main">
              <a:ext uri="{FF2B5EF4-FFF2-40B4-BE49-F238E27FC236}">
                <a16:creationId xmlns:a16="http://schemas.microsoft.com/office/drawing/2014/main" id="{D4F4AF42-BD9D-42D3-BEF1-BB098EC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Latest measured weight versus the smoothed age target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30480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9" name="text-652-178">
            <a:extLst xmlns:a="http://schemas.openxmlformats.org/drawingml/2006/main">
              <a:ext uri="{FF2B5EF4-FFF2-40B4-BE49-F238E27FC236}">
                <a16:creationId xmlns:a16="http://schemas.microsoft.com/office/drawing/2014/main" id="{A5F720CF-BE24-4FF4-8653-02C1EBB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0–3</a:t>
            </a:r>
          </a:p>
        </p:txBody>
      </p:sp>
      <p:sp>
        <p:nvSpPr>
          <p:cNvPr id="10" name="text-784-180">
            <a:extLst xmlns:a="http://schemas.openxmlformats.org/drawingml/2006/main">
              <a:ext uri="{FF2B5EF4-FFF2-40B4-BE49-F238E27FC236}">
                <a16:creationId xmlns:a16="http://schemas.microsoft.com/office/drawing/2014/main" id="{F1ABC323-1BE0-40C3-B233-9A3386C5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POPULATION LOSS</a:t>
            </a:r>
          </a:p>
        </p:txBody>
      </p:sp>
      <p:sp>
        <p:nvSpPr>
          <p:cNvPr id="11" name="text-784-224">
            <a:extLst xmlns:a="http://schemas.openxmlformats.org/drawingml/2006/main">
              <a:ext uri="{FF2B5EF4-FFF2-40B4-BE49-F238E27FC236}">
                <a16:creationId xmlns:a16="http://schemas.microsoft.com/office/drawing/2014/main" id="{4F9D91B8-5538-484F-A599-BA1C4BAB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Cumulative loss versus beginning population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210300" y="30480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3" name="text-48-398">
            <a:extLst xmlns:a="http://schemas.openxmlformats.org/drawingml/2006/main">
              <a:ext uri="{FF2B5EF4-FFF2-40B4-BE49-F238E27FC236}">
                <a16:creationId xmlns:a16="http://schemas.microsoft.com/office/drawing/2014/main" id="{B4BECD89-804E-4C5D-BFEC-564ADA2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0–3</a:t>
            </a:r>
          </a:p>
        </p:txBody>
      </p:sp>
      <p:sp>
        <p:nvSpPr>
          <p:cNvPr id="14" name="text-180-400">
            <a:extLst xmlns:a="http://schemas.openxmlformats.org/drawingml/2006/main">
              <a:ext uri="{FF2B5EF4-FFF2-40B4-BE49-F238E27FC236}">
                <a16:creationId xmlns:a16="http://schemas.microsoft.com/office/drawing/2014/main" id="{7E58239F-346C-43FD-BD85-A14FD20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DAILY MORTALITY</a:t>
            </a:r>
          </a:p>
        </p:txBody>
      </p:sp>
      <p:sp>
        <p:nvSpPr>
          <p:cNvPr id="15" name="text-180-444">
            <a:extLst xmlns:a="http://schemas.openxmlformats.org/drawingml/2006/main">
              <a:ext uri="{FF2B5EF4-FFF2-40B4-BE49-F238E27FC236}">
                <a16:creationId xmlns:a16="http://schemas.microsoft.com/office/drawing/2014/main" id="{61834B7E-1C9D-46DE-8A67-20CB7DA2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Latest mortality as a percentage of beginning birds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51435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7" name="text-652-398">
            <a:extLst xmlns:a="http://schemas.openxmlformats.org/drawingml/2006/main">
              <a:ext uri="{FF2B5EF4-FFF2-40B4-BE49-F238E27FC236}">
                <a16:creationId xmlns:a16="http://schemas.microsoft.com/office/drawing/2014/main" id="{1A3C149B-8027-4F91-8A51-9F532F5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0–3</a:t>
            </a:r>
          </a:p>
        </p:txBody>
      </p:sp>
      <p:sp>
        <p:nvSpPr>
          <p:cNvPr id="18" name="text-784-400">
            <a:extLst xmlns:a="http://schemas.openxmlformats.org/drawingml/2006/main">
              <a:ext uri="{FF2B5EF4-FFF2-40B4-BE49-F238E27FC236}">
                <a16:creationId xmlns:a16="http://schemas.microsoft.com/office/drawing/2014/main" id="{895F186F-AF00-4DA8-A7F0-B457768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ENVIRONMENT</a:t>
            </a:r>
          </a:p>
        </p:txBody>
      </p:sp>
      <p:sp>
        <p:nvSpPr>
          <p:cNvPr id="19" name="text-784-444">
            <a:extLst xmlns:a="http://schemas.openxmlformats.org/drawingml/2006/main">
              <a:ext uri="{FF2B5EF4-FFF2-40B4-BE49-F238E27FC236}">
                <a16:creationId xmlns:a16="http://schemas.microsoft.com/office/drawing/2014/main" id="{4C605559-3206-4A3E-9D0A-B95C8FF4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Temperature and humidity outside age-specific tropical ranges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210300" y="51435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1" name="risk-label-band">
            <a:extLst xmlns:a="http://schemas.openxmlformats.org/drawingml/2006/main">
              <a:ext uri="{FF2B5EF4-FFF2-40B4-BE49-F238E27FC236}">
                <a16:creationId xmlns:a16="http://schemas.microsoft.com/office/drawing/2014/main" id="{42DECC82-7F39-467D-9AB1-097A2F8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89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72-612">
            <a:extLst xmlns:a="http://schemas.openxmlformats.org/drawingml/2006/main">
              <a:ext uri="{FF2B5EF4-FFF2-40B4-BE49-F238E27FC236}">
                <a16:creationId xmlns:a16="http://schemas.microsoft.com/office/drawing/2014/main" id="{A868FD6C-7F36-4961-8AE1-D6AA1611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TOTAL</a:t>
            </a:r>
          </a:p>
        </p:txBody>
      </p:sp>
      <p:sp>
        <p:nvSpPr>
          <p:cNvPr id="23" name="text-230-608">
            <a:extLst xmlns:a="http://schemas.openxmlformats.org/drawingml/2006/main">
              <a:ext uri="{FF2B5EF4-FFF2-40B4-BE49-F238E27FC236}">
                <a16:creationId xmlns:a16="http://schemas.microsoft.com/office/drawing/2014/main" id="{AC16A6AD-A2AB-4B06-8CAB-65447DA5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91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0–1 Low</a:t>
            </a:r>
          </a:p>
        </p:txBody>
      </p:sp>
      <p:sp>
        <p:nvSpPr>
          <p:cNvPr id="24" name="text-446-608">
            <a:extLst xmlns:a="http://schemas.openxmlformats.org/drawingml/2006/main">
              <a:ext uri="{FF2B5EF4-FFF2-40B4-BE49-F238E27FC236}">
                <a16:creationId xmlns:a16="http://schemas.microsoft.com/office/drawing/2014/main" id="{8ACC5E6A-4B56-447F-9E04-DBAF339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91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2–3 Medium</a:t>
            </a:r>
          </a:p>
        </p:txBody>
      </p:sp>
      <p:sp>
        <p:nvSpPr>
          <p:cNvPr id="25" name="text-690-608">
            <a:extLst xmlns:a="http://schemas.openxmlformats.org/drawingml/2006/main">
              <a:ext uri="{FF2B5EF4-FFF2-40B4-BE49-F238E27FC236}">
                <a16:creationId xmlns:a16="http://schemas.microsoft.com/office/drawing/2014/main" id="{446D934B-3EDD-483B-BEC7-2D7ACB0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4–5 High</a:t>
            </a:r>
          </a:p>
        </p:txBody>
      </p:sp>
      <p:sp>
        <p:nvSpPr>
          <p:cNvPr id="26" name="text-900-608">
            <a:extLst xmlns:a="http://schemas.openxmlformats.org/drawingml/2006/main">
              <a:ext uri="{FF2B5EF4-FFF2-40B4-BE49-F238E27FC236}">
                <a16:creationId xmlns:a16="http://schemas.microsoft.com/office/drawing/2014/main" id="{2CC6CEE4-6562-452F-B64C-0341FAEB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91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6–12 Critical</a:t>
            </a:r>
          </a:p>
        </p:txBody>
      </p:sp>
    </p:spTree>
    <p:extLst>
      <p:ext uri="{BB962C8B-B14F-4D97-AF65-F5344CB8AC3E}">
        <p14:creationId xmlns:p14="http://schemas.microsoft.com/office/powerpoint/2010/main" val="2026504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6">
            <a:extLst xmlns:a="http://schemas.openxmlformats.org/drawingml/2006/main">
              <a:ext uri="{FF2B5EF4-FFF2-40B4-BE49-F238E27FC236}">
                <a16:creationId xmlns:a16="http://schemas.microsoft.com/office/drawing/2014/main" id="{CDA7F709-0E22-4AFA-944B-A81FC7B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2607A59-AB0E-4172-BC25-053F23D0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Weight model gates keep the transparent fallback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B3F0657-C85D-4BB5-8657-9E0CD3B0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text-42-148">
            <a:extLst xmlns:a="http://schemas.openxmlformats.org/drawingml/2006/main">
              <a:ext uri="{FF2B5EF4-FFF2-40B4-BE49-F238E27FC236}">
                <a16:creationId xmlns:a16="http://schemas.microsoft.com/office/drawing/2014/main" id="{2B444560-51B7-4F6E-81CA-57922AD4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Y: observed building average weight on Day 35</a:t>
            </a:r>
          </a:p>
        </p:txBody>
      </p:sp>
      <p:sp>
        <p:nvSpPr>
          <p:cNvPr id="6" name="text-42-184">
            <a:extLst xmlns:a="http://schemas.openxmlformats.org/drawingml/2006/main">
              <a:ext uri="{FF2B5EF4-FFF2-40B4-BE49-F238E27FC236}">
                <a16:creationId xmlns:a16="http://schemas.microsoft.com/office/drawing/2014/main" id="{ED802948-923B-4872-BFC0-233F3C9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X tested: checkpoint weights known by the review date, age, target progress, growth, current survival, and environment-band exposure.</a:t>
            </a:r>
          </a:p>
        </p:txBody>
      </p:sp>
      <p:sp>
        <p:nvSpPr>
          <p:cNvPr id="7" name="model-table-header-278">
            <a:extLst xmlns:a="http://schemas.openxmlformats.org/drawingml/2006/main">
              <a:ext uri="{FF2B5EF4-FFF2-40B4-BE49-F238E27FC236}">
                <a16:creationId xmlns:a16="http://schemas.microsoft.com/office/drawing/2014/main" id="{1D709B4C-7FFD-4018-9B2A-43EFDF12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0-288">
            <a:extLst xmlns:a="http://schemas.openxmlformats.org/drawingml/2006/main">
              <a:ext uri="{FF2B5EF4-FFF2-40B4-BE49-F238E27FC236}">
                <a16:creationId xmlns:a16="http://schemas.microsoft.com/office/drawing/2014/main" id="{96E63424-66CB-4236-8676-B1C92FF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9" name="text-222-288">
            <a:extLst xmlns:a="http://schemas.openxmlformats.org/drawingml/2006/main">
              <a:ext uri="{FF2B5EF4-FFF2-40B4-BE49-F238E27FC236}">
                <a16:creationId xmlns:a16="http://schemas.microsoft.com/office/drawing/2014/main" id="{20840555-25A1-400F-8AA5-C9DE06F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3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Cycle MAE</a:t>
            </a:r>
          </a:p>
        </p:txBody>
      </p:sp>
      <p:sp>
        <p:nvSpPr>
          <p:cNvPr id="10" name="text-310-288">
            <a:extLst xmlns:a="http://schemas.openxmlformats.org/drawingml/2006/main">
              <a:ext uri="{FF2B5EF4-FFF2-40B4-BE49-F238E27FC236}">
                <a16:creationId xmlns:a16="http://schemas.microsoft.com/office/drawing/2014/main" id="{D5BBAE3B-D8C4-45E9-8E49-256E22C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11" name="text-392-288">
            <a:extLst xmlns:a="http://schemas.openxmlformats.org/drawingml/2006/main">
              <a:ext uri="{FF2B5EF4-FFF2-40B4-BE49-F238E27FC236}">
                <a16:creationId xmlns:a16="http://schemas.microsoft.com/office/drawing/2014/main" id="{332A8004-35EB-4880-8E2C-6A04B8FD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2" name="text-450-288">
            <a:extLst xmlns:a="http://schemas.openxmlformats.org/drawingml/2006/main">
              <a:ext uri="{FF2B5EF4-FFF2-40B4-BE49-F238E27FC236}">
                <a16:creationId xmlns:a16="http://schemas.microsoft.com/office/drawing/2014/main" id="{4816A46F-E207-4865-B06A-6202B89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model-table-row-278-0">
            <a:extLst xmlns:a="http://schemas.openxmlformats.org/drawingml/2006/main">
              <a:ext uri="{FF2B5EF4-FFF2-40B4-BE49-F238E27FC236}">
                <a16:creationId xmlns:a16="http://schemas.microsoft.com/office/drawing/2014/main" id="{569DD01D-8BBF-4DBE-BC91-0F69D60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346710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5" name="text-50-330">
            <a:extLst xmlns:a="http://schemas.openxmlformats.org/drawingml/2006/main">
              <a:ext uri="{FF2B5EF4-FFF2-40B4-BE49-F238E27FC236}">
                <a16:creationId xmlns:a16="http://schemas.microsoft.com/office/drawing/2014/main" id="{DC20FF63-F485-4688-A994-D1EBFA1B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Remaining gain</a:t>
            </a:r>
          </a:p>
        </p:txBody>
      </p:sp>
      <p:sp>
        <p:nvSpPr>
          <p:cNvPr id="16" name="text-222-330">
            <a:extLst xmlns:a="http://schemas.openxmlformats.org/drawingml/2006/main">
              <a:ext uri="{FF2B5EF4-FFF2-40B4-BE49-F238E27FC236}">
                <a16:creationId xmlns:a16="http://schemas.microsoft.com/office/drawing/2014/main" id="{2E8AF447-3550-4216-841A-5B84B32B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182 g</a:t>
            </a:r>
          </a:p>
        </p:txBody>
      </p:sp>
      <p:sp>
        <p:nvSpPr>
          <p:cNvPr id="17" name="text-310-330">
            <a:extLst xmlns:a="http://schemas.openxmlformats.org/drawingml/2006/main">
              <a:ext uri="{FF2B5EF4-FFF2-40B4-BE49-F238E27FC236}">
                <a16:creationId xmlns:a16="http://schemas.microsoft.com/office/drawing/2014/main" id="{6CDFC17D-AFC3-4E93-A408-1CDE515F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242 g</a:t>
            </a:r>
          </a:p>
        </p:txBody>
      </p:sp>
      <p:sp>
        <p:nvSpPr>
          <p:cNvPr id="18" name="text-392-330">
            <a:extLst xmlns:a="http://schemas.openxmlformats.org/drawingml/2006/main">
              <a:ext uri="{FF2B5EF4-FFF2-40B4-BE49-F238E27FC236}">
                <a16:creationId xmlns:a16="http://schemas.microsoft.com/office/drawing/2014/main" id="{D5D9C3D5-6A84-46A0-B71A-7DC591D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0.126</a:t>
            </a:r>
          </a:p>
        </p:txBody>
      </p:sp>
      <p:sp>
        <p:nvSpPr>
          <p:cNvPr id="19" name="text-450-330">
            <a:extLst xmlns:a="http://schemas.openxmlformats.org/drawingml/2006/main">
              <a:ext uri="{FF2B5EF4-FFF2-40B4-BE49-F238E27FC236}">
                <a16:creationId xmlns:a16="http://schemas.microsoft.com/office/drawing/2014/main" id="{55D120FB-2109-44C2-B905-3F56164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20" name="model-table-row-278-1">
            <a:extLst xmlns:a="http://schemas.openxmlformats.org/drawingml/2006/main">
              <a:ext uri="{FF2B5EF4-FFF2-40B4-BE49-F238E27FC236}">
                <a16:creationId xmlns:a16="http://schemas.microsoft.com/office/drawing/2014/main" id="{0621C609-D878-47C0-9785-966798D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3876675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2" name="text-50-373">
            <a:extLst xmlns:a="http://schemas.openxmlformats.org/drawingml/2006/main">
              <a:ext uri="{FF2B5EF4-FFF2-40B4-BE49-F238E27FC236}">
                <a16:creationId xmlns:a16="http://schemas.microsoft.com/office/drawing/2014/main" id="{0C1D3319-493A-49AD-BCAB-05A1F36C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5282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Linear regression</a:t>
            </a:r>
          </a:p>
        </p:txBody>
      </p:sp>
      <p:sp>
        <p:nvSpPr>
          <p:cNvPr id="23" name="text-222-373">
            <a:extLst xmlns:a="http://schemas.openxmlformats.org/drawingml/2006/main">
              <a:ext uri="{FF2B5EF4-FFF2-40B4-BE49-F238E27FC236}">
                <a16:creationId xmlns:a16="http://schemas.microsoft.com/office/drawing/2014/main" id="{383CB6C2-53B1-4819-9863-8570398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52825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209 g</a:t>
            </a:r>
          </a:p>
        </p:txBody>
      </p:sp>
      <p:sp>
        <p:nvSpPr>
          <p:cNvPr id="24" name="text-310-373">
            <a:extLst xmlns:a="http://schemas.openxmlformats.org/drawingml/2006/main">
              <a:ext uri="{FF2B5EF4-FFF2-40B4-BE49-F238E27FC236}">
                <a16:creationId xmlns:a16="http://schemas.microsoft.com/office/drawing/2014/main" id="{4E3E1E9F-0F8D-4094-967D-17EDCD12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273 g</a:t>
            </a:r>
          </a:p>
        </p:txBody>
      </p:sp>
      <p:sp>
        <p:nvSpPr>
          <p:cNvPr id="25" name="text-392-373">
            <a:extLst xmlns:a="http://schemas.openxmlformats.org/drawingml/2006/main">
              <a:ext uri="{FF2B5EF4-FFF2-40B4-BE49-F238E27FC236}">
                <a16:creationId xmlns:a16="http://schemas.microsoft.com/office/drawing/2014/main" id="{D164B9E7-8AD3-476E-A059-10CE4C3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528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11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−0.114</a:t>
            </a:r>
          </a:p>
        </p:txBody>
      </p:sp>
      <p:sp>
        <p:nvSpPr>
          <p:cNvPr id="26" name="text-450-373">
            <a:extLst xmlns:a="http://schemas.openxmlformats.org/drawingml/2006/main">
              <a:ext uri="{FF2B5EF4-FFF2-40B4-BE49-F238E27FC236}">
                <a16:creationId xmlns:a16="http://schemas.microsoft.com/office/drawing/2014/main" id="{687C9BC6-1D94-4926-A0AA-B1BC100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5282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27" name="model-table-row-278-2">
            <a:extLst xmlns:a="http://schemas.openxmlformats.org/drawingml/2006/main">
              <a:ext uri="{FF2B5EF4-FFF2-40B4-BE49-F238E27FC236}">
                <a16:creationId xmlns:a16="http://schemas.microsoft.com/office/drawing/2014/main" id="{0E8E9951-71F8-42F3-8099-1288A38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00050" y="428625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9" name="text-50-416">
            <a:extLst xmlns:a="http://schemas.openxmlformats.org/drawingml/2006/main">
              <a:ext uri="{FF2B5EF4-FFF2-40B4-BE49-F238E27FC236}">
                <a16:creationId xmlns:a16="http://schemas.microsoft.com/office/drawing/2014/main" id="{FA07B4BE-FAC8-4B56-8045-030F0C32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6240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Ridge regression</a:t>
            </a:r>
          </a:p>
        </p:txBody>
      </p:sp>
      <p:sp>
        <p:nvSpPr>
          <p:cNvPr id="30" name="text-222-416">
            <a:extLst xmlns:a="http://schemas.openxmlformats.org/drawingml/2006/main">
              <a:ext uri="{FF2B5EF4-FFF2-40B4-BE49-F238E27FC236}">
                <a16:creationId xmlns:a16="http://schemas.microsoft.com/office/drawing/2014/main" id="{DF8B5663-D6C2-463F-9359-E50B980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624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193 g</a:t>
            </a:r>
          </a:p>
        </p:txBody>
      </p:sp>
      <p:sp>
        <p:nvSpPr>
          <p:cNvPr id="31" name="text-310-416">
            <a:extLst xmlns:a="http://schemas.openxmlformats.org/drawingml/2006/main">
              <a:ext uri="{FF2B5EF4-FFF2-40B4-BE49-F238E27FC236}">
                <a16:creationId xmlns:a16="http://schemas.microsoft.com/office/drawing/2014/main" id="{2917BB75-CB53-423C-BE0A-6EE29AC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6240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252 g</a:t>
            </a:r>
          </a:p>
        </p:txBody>
      </p:sp>
      <p:sp>
        <p:nvSpPr>
          <p:cNvPr id="32" name="text-392-416">
            <a:extLst xmlns:a="http://schemas.openxmlformats.org/drawingml/2006/main">
              <a:ext uri="{FF2B5EF4-FFF2-40B4-BE49-F238E27FC236}">
                <a16:creationId xmlns:a16="http://schemas.microsoft.com/office/drawing/2014/main" id="{533ADAAF-CC14-44D8-832A-860735F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0.048</a:t>
            </a:r>
          </a:p>
        </p:txBody>
      </p:sp>
      <p:sp>
        <p:nvSpPr>
          <p:cNvPr id="33" name="text-450-416">
            <a:extLst xmlns:a="http://schemas.openxmlformats.org/drawingml/2006/main">
              <a:ext uri="{FF2B5EF4-FFF2-40B4-BE49-F238E27FC236}">
                <a16:creationId xmlns:a16="http://schemas.microsoft.com/office/drawing/2014/main" id="{5719D8E0-E8D7-41DC-890E-D78BF12F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24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Best learned</a:t>
            </a:r>
          </a:p>
        </p:txBody>
      </p:sp>
      <p:sp>
        <p:nvSpPr>
          <p:cNvPr id="34" name="model-table-row-278-3">
            <a:extLst xmlns:a="http://schemas.openxmlformats.org/drawingml/2006/main">
              <a:ext uri="{FF2B5EF4-FFF2-40B4-BE49-F238E27FC236}">
                <a16:creationId xmlns:a16="http://schemas.microsoft.com/office/drawing/2014/main" id="{4CDA5F7F-B01B-4B62-A3D9-CAD80418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4695825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36" name="text-50-459">
            <a:extLst xmlns:a="http://schemas.openxmlformats.org/drawingml/2006/main">
              <a:ext uri="{FF2B5EF4-FFF2-40B4-BE49-F238E27FC236}">
                <a16:creationId xmlns:a16="http://schemas.microsoft.com/office/drawing/2014/main" id="{19CFFC7C-A5F2-444C-A43C-1D04ABC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719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sp>
        <p:nvSpPr>
          <p:cNvPr id="37" name="text-222-459">
            <a:extLst xmlns:a="http://schemas.openxmlformats.org/drawingml/2006/main">
              <a:ext uri="{FF2B5EF4-FFF2-40B4-BE49-F238E27FC236}">
                <a16:creationId xmlns:a16="http://schemas.microsoft.com/office/drawing/2014/main" id="{98721DE1-E9E4-417C-B327-DFA9B8A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189 g</a:t>
            </a:r>
          </a:p>
        </p:txBody>
      </p:sp>
      <p:sp>
        <p:nvSpPr>
          <p:cNvPr id="38" name="text-310-459">
            <a:extLst xmlns:a="http://schemas.openxmlformats.org/drawingml/2006/main">
              <a:ext uri="{FF2B5EF4-FFF2-40B4-BE49-F238E27FC236}">
                <a16:creationId xmlns:a16="http://schemas.microsoft.com/office/drawing/2014/main" id="{C28DA12F-EAD3-4188-B8AF-47779AC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7197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256 g</a:t>
            </a:r>
          </a:p>
        </p:txBody>
      </p:sp>
      <p:sp>
        <p:nvSpPr>
          <p:cNvPr id="39" name="text-392-459">
            <a:extLst xmlns:a="http://schemas.openxmlformats.org/drawingml/2006/main">
              <a:ext uri="{FF2B5EF4-FFF2-40B4-BE49-F238E27FC236}">
                <a16:creationId xmlns:a16="http://schemas.microsoft.com/office/drawing/2014/main" id="{2C1A5BA7-0173-442F-A092-7BBF93C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719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0.018</a:t>
            </a:r>
          </a:p>
        </p:txBody>
      </p:sp>
      <p:sp>
        <p:nvSpPr>
          <p:cNvPr id="40" name="text-450-459">
            <a:extLst xmlns:a="http://schemas.openxmlformats.org/drawingml/2006/main">
              <a:ext uri="{FF2B5EF4-FFF2-40B4-BE49-F238E27FC236}">
                <a16:creationId xmlns:a16="http://schemas.microsoft.com/office/drawing/2014/main" id="{FDD47ABE-9E50-4DD6-BB19-C1466A1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719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41" name="model-table-row-278-4">
            <a:extLst xmlns:a="http://schemas.openxmlformats.org/drawingml/2006/main">
              <a:ext uri="{FF2B5EF4-FFF2-40B4-BE49-F238E27FC236}">
                <a16:creationId xmlns:a16="http://schemas.microsoft.com/office/drawing/2014/main" id="{CD0DD320-FBFD-4B6D-A636-6A1D8938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510540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3" name="text-50-502">
            <a:extLst xmlns:a="http://schemas.openxmlformats.org/drawingml/2006/main">
              <a:ext uri="{FF2B5EF4-FFF2-40B4-BE49-F238E27FC236}">
                <a16:creationId xmlns:a16="http://schemas.microsoft.com/office/drawing/2014/main" id="{938C518A-95FC-4F3F-81D6-66FAABFE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44" name="text-222-502">
            <a:extLst xmlns:a="http://schemas.openxmlformats.org/drawingml/2006/main">
              <a:ext uri="{FF2B5EF4-FFF2-40B4-BE49-F238E27FC236}">
                <a16:creationId xmlns:a16="http://schemas.microsoft.com/office/drawing/2014/main" id="{48B4BD4E-C203-458B-A703-81D1BD5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8155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5" name="text-310-502">
            <a:extLst xmlns:a="http://schemas.openxmlformats.org/drawingml/2006/main">
              <a:ext uri="{FF2B5EF4-FFF2-40B4-BE49-F238E27FC236}">
                <a16:creationId xmlns:a16="http://schemas.microsoft.com/office/drawing/2014/main" id="{E5337B9B-B729-403C-8459-32431A4B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6" name="text-392-502">
            <a:extLst xmlns:a="http://schemas.openxmlformats.org/drawingml/2006/main">
              <a:ext uri="{FF2B5EF4-FFF2-40B4-BE49-F238E27FC236}">
                <a16:creationId xmlns:a16="http://schemas.microsoft.com/office/drawing/2014/main" id="{C63191C5-F995-478B-AB4C-C1EFCAF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8155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7" name="text-450-502">
            <a:extLst xmlns:a="http://schemas.openxmlformats.org/drawingml/2006/main">
              <a:ext uri="{FF2B5EF4-FFF2-40B4-BE49-F238E27FC236}">
                <a16:creationId xmlns:a16="http://schemas.microsoft.com/office/drawing/2014/main" id="{8076047C-BB15-45B5-91EC-3746F4FD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Unavailable</a:t>
            </a:r>
          </a:p>
        </p:txBody>
      </p:sp>
      <p:sp>
        <p:nvSpPr>
          <p:cNvPr id="48" name="text-760-190">
            <a:extLst xmlns:a="http://schemas.openxmlformats.org/drawingml/2006/main">
              <a:ext uri="{FF2B5EF4-FFF2-40B4-BE49-F238E27FC236}">
                <a16:creationId xmlns:a16="http://schemas.microsoft.com/office/drawing/2014/main" id="{783969F2-59D7-4086-8264-0B36C89B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178 g</a:t>
            </a:r>
          </a:p>
        </p:txBody>
      </p:sp>
      <p:sp>
        <p:nvSpPr>
          <p:cNvPr id="49" name="text-760-256">
            <a:extLst xmlns:a="http://schemas.openxmlformats.org/drawingml/2006/main">
              <a:ext uri="{FF2B5EF4-FFF2-40B4-BE49-F238E27FC236}">
                <a16:creationId xmlns:a16="http://schemas.microsoft.com/office/drawing/2014/main" id="{1555E1EE-FC1A-4E51-B89F-483C80F3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operational overall mean absolute error</a:t>
            </a:r>
          </a:p>
        </p:txBody>
      </p:sp>
      <p:sp>
        <p:nvSpPr>
          <p:cNvPr id="50" name="text-760-334">
            <a:extLst xmlns:a="http://schemas.openxmlformats.org/drawingml/2006/main">
              <a:ext uri="{FF2B5EF4-FFF2-40B4-BE49-F238E27FC236}">
                <a16:creationId xmlns:a16="http://schemas.microsoft.com/office/drawing/2014/main" id="{290E586B-A0D4-4556-B99D-11E6F48E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181 g</a:t>
            </a:r>
          </a:p>
        </p:txBody>
      </p:sp>
      <p:sp>
        <p:nvSpPr>
          <p:cNvPr id="51" name="text-760-400">
            <a:extLst xmlns:a="http://schemas.openxmlformats.org/drawingml/2006/main">
              <a:ext uri="{FF2B5EF4-FFF2-40B4-BE49-F238E27FC236}">
                <a16:creationId xmlns:a16="http://schemas.microsoft.com/office/drawing/2014/main" id="{AB7A39BE-EE47-46D4-BD48-9DBBC6D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Day 14 mean absolute error</a:t>
            </a:r>
          </a:p>
        </p:txBody>
      </p:sp>
      <p:sp>
        <p:nvSpPr>
          <p:cNvPr id="52" name="text-760-478">
            <a:extLst xmlns:a="http://schemas.openxmlformats.org/drawingml/2006/main">
              <a:ext uri="{FF2B5EF4-FFF2-40B4-BE49-F238E27FC236}">
                <a16:creationId xmlns:a16="http://schemas.microsoft.com/office/drawing/2014/main" id="{92CCFC6A-3D66-4044-AB90-0985A1D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53" name="text-760-544">
            <a:extLst xmlns:a="http://schemas.openxmlformats.org/drawingml/2006/main">
              <a:ext uri="{FF2B5EF4-FFF2-40B4-BE49-F238E27FC236}">
                <a16:creationId xmlns:a16="http://schemas.microsoft.com/office/drawing/2014/main" id="{8CE8DE17-A8D2-4B2F-889D-7A537153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predictions within 200 g</a:t>
            </a:r>
          </a:p>
        </p:txBody>
      </p:sp>
      <p:sp>
        <p:nvSpPr>
          <p:cNvPr id="54" name="text-760-590">
            <a:extLst xmlns:a="http://schemas.openxmlformats.org/drawingml/2006/main">
              <a:ext uri="{FF2B5EF4-FFF2-40B4-BE49-F238E27FC236}">
                <a16:creationId xmlns:a16="http://schemas.microsoft.com/office/drawing/2014/main" id="{1DC3C0B1-D523-4A43-BF9F-162847DF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Primary selection metric</a:t>
            </a:r>
          </a:p>
        </p:txBody>
      </p:sp>
      <p:sp>
        <p:nvSpPr>
          <p:cNvPr id="55" name="text-978-584">
            <a:extLst xmlns:a="http://schemas.openxmlformats.org/drawingml/2006/main">
              <a:ext uri="{FF2B5EF4-FFF2-40B4-BE49-F238E27FC236}">
                <a16:creationId xmlns:a16="http://schemas.microsoft.com/office/drawing/2014/main" id="{C1790A8E-B02A-4B02-885F-F0A4AFB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626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Cycle-balanced MAE. RMSE and R² are secondary checks; target-side accuracy tests decision usefulness.</a:t>
            </a:r>
          </a:p>
        </p:txBody>
      </p:sp>
    </p:spTree>
    <p:extLst>
      <p:ext uri="{BB962C8B-B14F-4D97-AF65-F5344CB8AC3E}">
        <p14:creationId xmlns:p14="http://schemas.microsoft.com/office/powerpoint/2010/main" val="1574897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7">
            <a:extLst xmlns:a="http://schemas.openxmlformats.org/drawingml/2006/main">
              <a:ext uri="{FF2B5EF4-FFF2-40B4-BE49-F238E27FC236}">
                <a16:creationId xmlns:a16="http://schemas.microsoft.com/office/drawing/2014/main" id="{EE12F05F-A714-4417-B25A-DC01CC6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761E992-9D47-4C9A-9A32-896F630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Recovery forecasts estimate gaps, not guarantees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7EF3BFE0-8D50-49CB-B081-6D7AA64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text-42-148">
            <a:extLst xmlns:a="http://schemas.openxmlformats.org/drawingml/2006/main">
              <a:ext uri="{FF2B5EF4-FFF2-40B4-BE49-F238E27FC236}">
                <a16:creationId xmlns:a16="http://schemas.microsoft.com/office/drawing/2014/main" id="{D898B178-309F-4523-AAF7-97EDFAA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Y: last recorded population ÷ beginning population</a:t>
            </a:r>
          </a:p>
        </p:txBody>
      </p:sp>
      <p:sp>
        <p:nvSpPr>
          <p:cNvPr id="6" name="text-42-184">
            <a:extLst xmlns:a="http://schemas.openxmlformats.org/drawingml/2006/main">
              <a:ext uri="{FF2B5EF4-FFF2-40B4-BE49-F238E27FC236}">
                <a16:creationId xmlns:a16="http://schemas.microsoft.com/office/drawing/2014/main" id="{F3F840E6-49B5-4198-98EF-9AF7E35C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X: age, current survival, recent mortality, weight gap/freshness, and temperature/humidity band deviation and freshness. Feed is withheld until its unit is confirmed.</a:t>
            </a:r>
          </a:p>
        </p:txBody>
      </p:sp>
      <p:sp>
        <p:nvSpPr>
          <p:cNvPr id="7" name="model-table-header-286">
            <a:extLst xmlns:a="http://schemas.openxmlformats.org/drawingml/2006/main">
              <a:ext uri="{FF2B5EF4-FFF2-40B4-BE49-F238E27FC236}">
                <a16:creationId xmlns:a16="http://schemas.microsoft.com/office/drawing/2014/main" id="{30B3C579-F0B1-413F-8FB9-5CFC5A48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0-296">
            <a:extLst xmlns:a="http://schemas.openxmlformats.org/drawingml/2006/main">
              <a:ext uri="{FF2B5EF4-FFF2-40B4-BE49-F238E27FC236}">
                <a16:creationId xmlns:a16="http://schemas.microsoft.com/office/drawing/2014/main" id="{99A10A70-8CE9-4ABE-BFBD-65371E2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9" name="text-222-296">
            <a:extLst xmlns:a="http://schemas.openxmlformats.org/drawingml/2006/main">
              <a:ext uri="{FF2B5EF4-FFF2-40B4-BE49-F238E27FC236}">
                <a16:creationId xmlns:a16="http://schemas.microsoft.com/office/drawing/2014/main" id="{B68D10EB-655B-472F-9402-9DACC14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19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3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Cycle MAE</a:t>
            </a:r>
          </a:p>
        </p:txBody>
      </p:sp>
      <p:sp>
        <p:nvSpPr>
          <p:cNvPr id="10" name="text-310-296">
            <a:extLst xmlns:a="http://schemas.openxmlformats.org/drawingml/2006/main">
              <a:ext uri="{FF2B5EF4-FFF2-40B4-BE49-F238E27FC236}">
                <a16:creationId xmlns:a16="http://schemas.microsoft.com/office/drawing/2014/main" id="{C3B853D1-98C3-4C10-9C1C-F39C79F7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11" name="text-392-296">
            <a:extLst xmlns:a="http://schemas.openxmlformats.org/drawingml/2006/main">
              <a:ext uri="{FF2B5EF4-FFF2-40B4-BE49-F238E27FC236}">
                <a16:creationId xmlns:a16="http://schemas.microsoft.com/office/drawing/2014/main" id="{8DC45B21-9371-497C-83AD-D91E9AA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2" name="text-450-296">
            <a:extLst xmlns:a="http://schemas.openxmlformats.org/drawingml/2006/main">
              <a:ext uri="{FF2B5EF4-FFF2-40B4-BE49-F238E27FC236}">
                <a16:creationId xmlns:a16="http://schemas.microsoft.com/office/drawing/2014/main" id="{B77FBF69-BEB5-4D1A-8799-5B42001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model-table-row-286-0">
            <a:extLst xmlns:a="http://schemas.openxmlformats.org/drawingml/2006/main">
              <a:ext uri="{FF2B5EF4-FFF2-40B4-BE49-F238E27FC236}">
                <a16:creationId xmlns:a16="http://schemas.microsoft.com/office/drawing/2014/main" id="{3B87F192-452D-49CC-9BDA-FAA2416B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354330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5" name="text-50-338">
            <a:extLst xmlns:a="http://schemas.openxmlformats.org/drawingml/2006/main">
              <a:ext uri="{FF2B5EF4-FFF2-40B4-BE49-F238E27FC236}">
                <a16:creationId xmlns:a16="http://schemas.microsoft.com/office/drawing/2014/main" id="{1A9B0B7D-5BBF-4878-AA54-E46313A9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Historical mean</a:t>
            </a:r>
          </a:p>
        </p:txBody>
      </p:sp>
      <p:sp>
        <p:nvSpPr>
          <p:cNvPr id="16" name="text-222-338">
            <a:extLst xmlns:a="http://schemas.openxmlformats.org/drawingml/2006/main">
              <a:ext uri="{FF2B5EF4-FFF2-40B4-BE49-F238E27FC236}">
                <a16:creationId xmlns:a16="http://schemas.microsoft.com/office/drawing/2014/main" id="{FCF2E822-2F47-4D13-B100-85A2A43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1945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1.73 pts</a:t>
            </a:r>
          </a:p>
        </p:txBody>
      </p:sp>
      <p:sp>
        <p:nvSpPr>
          <p:cNvPr id="17" name="text-310-338">
            <a:extLst xmlns:a="http://schemas.openxmlformats.org/drawingml/2006/main">
              <a:ext uri="{FF2B5EF4-FFF2-40B4-BE49-F238E27FC236}">
                <a16:creationId xmlns:a16="http://schemas.microsoft.com/office/drawing/2014/main" id="{D801C48D-22E0-40D5-8BAB-A60C8A0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2.17 pts</a:t>
            </a:r>
          </a:p>
        </p:txBody>
      </p:sp>
      <p:sp>
        <p:nvSpPr>
          <p:cNvPr id="18" name="text-392-338">
            <a:extLst xmlns:a="http://schemas.openxmlformats.org/drawingml/2006/main">
              <a:ext uri="{FF2B5EF4-FFF2-40B4-BE49-F238E27FC236}">
                <a16:creationId xmlns:a16="http://schemas.microsoft.com/office/drawing/2014/main" id="{04307AE9-3E61-4178-B9F4-F8DF7CC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11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−0.132</a:t>
            </a:r>
          </a:p>
        </p:txBody>
      </p:sp>
      <p:sp>
        <p:nvSpPr>
          <p:cNvPr id="19" name="text-450-338">
            <a:extLst xmlns:a="http://schemas.openxmlformats.org/drawingml/2006/main">
              <a:ext uri="{FF2B5EF4-FFF2-40B4-BE49-F238E27FC236}">
                <a16:creationId xmlns:a16="http://schemas.microsoft.com/office/drawing/2014/main" id="{98C958B8-4C5F-43B9-93E0-FA632D4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20" name="model-table-row-286-1">
            <a:extLst xmlns:a="http://schemas.openxmlformats.org/drawingml/2006/main">
              <a:ext uri="{FF2B5EF4-FFF2-40B4-BE49-F238E27FC236}">
                <a16:creationId xmlns:a16="http://schemas.microsoft.com/office/drawing/2014/main" id="{118ED843-A87C-4D9B-AB0F-B7C33036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3952875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2" name="text-50-381">
            <a:extLst xmlns:a="http://schemas.openxmlformats.org/drawingml/2006/main">
              <a:ext uri="{FF2B5EF4-FFF2-40B4-BE49-F238E27FC236}">
                <a16:creationId xmlns:a16="http://schemas.microsoft.com/office/drawing/2014/main" id="{81C6B3C7-AB64-49F4-B901-2942026C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Linear regression</a:t>
            </a:r>
          </a:p>
        </p:txBody>
      </p:sp>
      <p:sp>
        <p:nvSpPr>
          <p:cNvPr id="23" name="text-222-381">
            <a:extLst xmlns:a="http://schemas.openxmlformats.org/drawingml/2006/main">
              <a:ext uri="{FF2B5EF4-FFF2-40B4-BE49-F238E27FC236}">
                <a16:creationId xmlns:a16="http://schemas.microsoft.com/office/drawing/2014/main" id="{5591E5FE-B17C-4A3D-B5BE-61C9775B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29025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1.48 pts</a:t>
            </a:r>
          </a:p>
        </p:txBody>
      </p:sp>
      <p:sp>
        <p:nvSpPr>
          <p:cNvPr id="24" name="text-310-381">
            <a:extLst xmlns:a="http://schemas.openxmlformats.org/drawingml/2006/main">
              <a:ext uri="{FF2B5EF4-FFF2-40B4-BE49-F238E27FC236}">
                <a16:creationId xmlns:a16="http://schemas.microsoft.com/office/drawing/2014/main" id="{D4AE9C7D-7651-47E2-82E7-F5F8099F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2902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1.84 pts</a:t>
            </a:r>
          </a:p>
        </p:txBody>
      </p:sp>
      <p:sp>
        <p:nvSpPr>
          <p:cNvPr id="25" name="text-392-381">
            <a:extLst xmlns:a="http://schemas.openxmlformats.org/drawingml/2006/main">
              <a:ext uri="{FF2B5EF4-FFF2-40B4-BE49-F238E27FC236}">
                <a16:creationId xmlns:a16="http://schemas.microsoft.com/office/drawing/2014/main" id="{0D36DDF3-E7BD-4019-A5FC-E5C4D56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290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0.189</a:t>
            </a:r>
          </a:p>
        </p:txBody>
      </p:sp>
      <p:sp>
        <p:nvSpPr>
          <p:cNvPr id="26" name="text-450-381">
            <a:extLst xmlns:a="http://schemas.openxmlformats.org/drawingml/2006/main">
              <a:ext uri="{FF2B5EF4-FFF2-40B4-BE49-F238E27FC236}">
                <a16:creationId xmlns:a16="http://schemas.microsoft.com/office/drawing/2014/main" id="{7E1FA335-9C60-4706-855E-BA7FC630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Selected</a:t>
            </a:r>
          </a:p>
        </p:txBody>
      </p:sp>
      <p:sp>
        <p:nvSpPr>
          <p:cNvPr id="27" name="model-table-row-286-2">
            <a:extLst xmlns:a="http://schemas.openxmlformats.org/drawingml/2006/main">
              <a:ext uri="{FF2B5EF4-FFF2-40B4-BE49-F238E27FC236}">
                <a16:creationId xmlns:a16="http://schemas.microsoft.com/office/drawing/2014/main" id="{45A7C716-95DB-40EB-8B7E-C47BCFC2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00050" y="436245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9" name="text-50-424">
            <a:extLst xmlns:a="http://schemas.openxmlformats.org/drawingml/2006/main">
              <a:ext uri="{FF2B5EF4-FFF2-40B4-BE49-F238E27FC236}">
                <a16:creationId xmlns:a16="http://schemas.microsoft.com/office/drawing/2014/main" id="{BB4CDEE9-4FBD-4340-84FD-C286C92C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3860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Compact Ridge</a:t>
            </a:r>
          </a:p>
        </p:txBody>
      </p:sp>
      <p:sp>
        <p:nvSpPr>
          <p:cNvPr id="30" name="text-222-424">
            <a:extLst xmlns:a="http://schemas.openxmlformats.org/drawingml/2006/main">
              <a:ext uri="{FF2B5EF4-FFF2-40B4-BE49-F238E27FC236}">
                <a16:creationId xmlns:a16="http://schemas.microsoft.com/office/drawing/2014/main" id="{F674FD8A-8462-4F9F-A1CA-4B57A45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386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1.59 pts</a:t>
            </a:r>
          </a:p>
        </p:txBody>
      </p:sp>
      <p:sp>
        <p:nvSpPr>
          <p:cNvPr id="31" name="text-310-424">
            <a:extLst xmlns:a="http://schemas.openxmlformats.org/drawingml/2006/main">
              <a:ext uri="{FF2B5EF4-FFF2-40B4-BE49-F238E27FC236}">
                <a16:creationId xmlns:a16="http://schemas.microsoft.com/office/drawing/2014/main" id="{348728FA-E25F-4279-ABD5-CFB88AF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1.97 pts</a:t>
            </a:r>
          </a:p>
        </p:txBody>
      </p:sp>
      <p:sp>
        <p:nvSpPr>
          <p:cNvPr id="32" name="text-392-424">
            <a:extLst xmlns:a="http://schemas.openxmlformats.org/drawingml/2006/main">
              <a:ext uri="{FF2B5EF4-FFF2-40B4-BE49-F238E27FC236}">
                <a16:creationId xmlns:a16="http://schemas.microsoft.com/office/drawing/2014/main" id="{9C032FEE-A161-42B5-96CF-0D060C9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0.070</a:t>
            </a:r>
          </a:p>
        </p:txBody>
      </p:sp>
      <p:sp>
        <p:nvSpPr>
          <p:cNvPr id="33" name="text-450-424">
            <a:extLst xmlns:a="http://schemas.openxmlformats.org/drawingml/2006/main">
              <a:ext uri="{FF2B5EF4-FFF2-40B4-BE49-F238E27FC236}">
                <a16:creationId xmlns:a16="http://schemas.microsoft.com/office/drawing/2014/main" id="{339DB68A-9B8B-409D-A007-5CE5CC2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34" name="model-table-row-286-3">
            <a:extLst xmlns:a="http://schemas.openxmlformats.org/drawingml/2006/main">
              <a:ext uri="{FF2B5EF4-FFF2-40B4-BE49-F238E27FC236}">
                <a16:creationId xmlns:a16="http://schemas.microsoft.com/office/drawing/2014/main" id="{34DE54E8-11A6-4626-A266-2E2AE48F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4772025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36" name="text-50-467">
            <a:extLst xmlns:a="http://schemas.openxmlformats.org/drawingml/2006/main">
              <a:ext uri="{FF2B5EF4-FFF2-40B4-BE49-F238E27FC236}">
                <a16:creationId xmlns:a16="http://schemas.microsoft.com/office/drawing/2014/main" id="{30A7B254-A2C8-4057-AE64-D1A3205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Gradient Boosting</a:t>
            </a:r>
          </a:p>
        </p:txBody>
      </p:sp>
      <p:sp>
        <p:nvSpPr>
          <p:cNvPr id="37" name="text-222-467">
            <a:extLst xmlns:a="http://schemas.openxmlformats.org/drawingml/2006/main">
              <a:ext uri="{FF2B5EF4-FFF2-40B4-BE49-F238E27FC236}">
                <a16:creationId xmlns:a16="http://schemas.microsoft.com/office/drawing/2014/main" id="{01C32AED-402D-4D05-94C6-78FBCC2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48175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1.66 pts</a:t>
            </a:r>
          </a:p>
        </p:txBody>
      </p:sp>
      <p:sp>
        <p:nvSpPr>
          <p:cNvPr id="38" name="text-310-467">
            <a:extLst xmlns:a="http://schemas.openxmlformats.org/drawingml/2006/main">
              <a:ext uri="{FF2B5EF4-FFF2-40B4-BE49-F238E27FC236}">
                <a16:creationId xmlns:a16="http://schemas.microsoft.com/office/drawing/2014/main" id="{69AA0764-E147-4D58-B5A8-BA7570F9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4817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2.08 pts</a:t>
            </a:r>
          </a:p>
        </p:txBody>
      </p:sp>
      <p:sp>
        <p:nvSpPr>
          <p:cNvPr id="39" name="text-392-467">
            <a:extLst xmlns:a="http://schemas.openxmlformats.org/drawingml/2006/main">
              <a:ext uri="{FF2B5EF4-FFF2-40B4-BE49-F238E27FC236}">
                <a16:creationId xmlns:a16="http://schemas.microsoft.com/office/drawing/2014/main" id="{72356539-7C81-41E3-A50A-E057628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481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11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−0.041</a:t>
            </a:r>
          </a:p>
        </p:txBody>
      </p:sp>
      <p:sp>
        <p:nvSpPr>
          <p:cNvPr id="40" name="text-450-467">
            <a:extLst xmlns:a="http://schemas.openxmlformats.org/drawingml/2006/main">
              <a:ext uri="{FF2B5EF4-FFF2-40B4-BE49-F238E27FC236}">
                <a16:creationId xmlns:a16="http://schemas.microsoft.com/office/drawing/2014/main" id="{7D090CFD-3DD8-418E-B3E0-C2B6C83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481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Compared</a:t>
            </a:r>
          </a:p>
        </p:txBody>
      </p:sp>
      <p:sp>
        <p:nvSpPr>
          <p:cNvPr id="41" name="model-table-row-286-4">
            <a:extLst xmlns:a="http://schemas.openxmlformats.org/drawingml/2006/main">
              <a:ext uri="{FF2B5EF4-FFF2-40B4-BE49-F238E27FC236}">
                <a16:creationId xmlns:a16="http://schemas.microsoft.com/office/drawing/2014/main" id="{41537DDC-7421-4530-89A1-6B61C80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4933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518160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3" name="text-50-510">
            <a:extLst xmlns:a="http://schemas.openxmlformats.org/drawingml/2006/main">
              <a:ext uri="{FF2B5EF4-FFF2-40B4-BE49-F238E27FC236}">
                <a16:creationId xmlns:a16="http://schemas.microsoft.com/office/drawing/2014/main" id="{FEDE98BC-7298-4358-9FD4-32F3414C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44" name="text-222-510">
            <a:extLst xmlns:a="http://schemas.openxmlformats.org/drawingml/2006/main">
              <a:ext uri="{FF2B5EF4-FFF2-40B4-BE49-F238E27FC236}">
                <a16:creationId xmlns:a16="http://schemas.microsoft.com/office/drawing/2014/main" id="{376F4DEF-158E-4AD9-ADFE-308F371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5775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5" name="text-310-510">
            <a:extLst xmlns:a="http://schemas.openxmlformats.org/drawingml/2006/main">
              <a:ext uri="{FF2B5EF4-FFF2-40B4-BE49-F238E27FC236}">
                <a16:creationId xmlns:a16="http://schemas.microsoft.com/office/drawing/2014/main" id="{0B4CFF97-9B72-4C0D-8E31-817BC9A6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6" name="text-392-510">
            <a:extLst xmlns:a="http://schemas.openxmlformats.org/drawingml/2006/main">
              <a:ext uri="{FF2B5EF4-FFF2-40B4-BE49-F238E27FC236}">
                <a16:creationId xmlns:a16="http://schemas.microsoft.com/office/drawing/2014/main" id="{564E8E32-8522-4823-BD15-ACE38811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5775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47" name="text-450-510">
            <a:extLst xmlns:a="http://schemas.openxmlformats.org/drawingml/2006/main">
              <a:ext uri="{FF2B5EF4-FFF2-40B4-BE49-F238E27FC236}">
                <a16:creationId xmlns:a16="http://schemas.microsoft.com/office/drawing/2014/main" id="{A79A3D65-FD6D-4C21-97EE-23346116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Unavailable</a:t>
            </a:r>
          </a:p>
        </p:txBody>
      </p:sp>
      <p:sp>
        <p:nvSpPr>
          <p:cNvPr id="48" name="text-760-188">
            <a:extLst xmlns:a="http://schemas.openxmlformats.org/drawingml/2006/main">
              <a:ext uri="{FF2B5EF4-FFF2-40B4-BE49-F238E27FC236}">
                <a16:creationId xmlns:a16="http://schemas.microsoft.com/office/drawing/2014/main" id="{A1A22837-AA51-499C-AEB1-E191EF72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1.37 pts</a:t>
            </a:r>
          </a:p>
        </p:txBody>
      </p:sp>
      <p:sp>
        <p:nvSpPr>
          <p:cNvPr id="49" name="text-760-254">
            <a:extLst xmlns:a="http://schemas.openxmlformats.org/drawingml/2006/main">
              <a:ext uri="{FF2B5EF4-FFF2-40B4-BE49-F238E27FC236}">
                <a16:creationId xmlns:a16="http://schemas.microsoft.com/office/drawing/2014/main" id="{45DEC49E-86D4-4871-BE64-E3A3738B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overall mean absolute error</a:t>
            </a:r>
          </a:p>
        </p:txBody>
      </p:sp>
      <p:sp>
        <p:nvSpPr>
          <p:cNvPr id="50" name="text-760-330">
            <a:extLst xmlns:a="http://schemas.openxmlformats.org/drawingml/2006/main">
              <a:ext uri="{FF2B5EF4-FFF2-40B4-BE49-F238E27FC236}">
                <a16:creationId xmlns:a16="http://schemas.microsoft.com/office/drawing/2014/main" id="{4C83F39D-2144-4629-B660-2E023D7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1.65 pts</a:t>
            </a:r>
          </a:p>
        </p:txBody>
      </p:sp>
      <p:sp>
        <p:nvSpPr>
          <p:cNvPr id="51" name="text-760-396">
            <a:extLst xmlns:a="http://schemas.openxmlformats.org/drawingml/2006/main">
              <a:ext uri="{FF2B5EF4-FFF2-40B4-BE49-F238E27FC236}">
                <a16:creationId xmlns:a16="http://schemas.microsoft.com/office/drawing/2014/main" id="{61424181-39D9-4D26-94C8-97095BBF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Day 14 mean absolute error</a:t>
            </a:r>
          </a:p>
        </p:txBody>
      </p:sp>
      <p:sp>
        <p:nvSpPr>
          <p:cNvPr id="52" name="text-760-472">
            <a:extLst xmlns:a="http://schemas.openxmlformats.org/drawingml/2006/main">
              <a:ext uri="{FF2B5EF4-FFF2-40B4-BE49-F238E27FC236}">
                <a16:creationId xmlns:a16="http://schemas.microsoft.com/office/drawing/2014/main" id="{78D75FAD-B178-4253-892F-8974874F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14.5%</a:t>
            </a:r>
          </a:p>
        </p:txBody>
      </p:sp>
      <p:sp>
        <p:nvSpPr>
          <p:cNvPr id="53" name="text-760-538">
            <a:extLst xmlns:a="http://schemas.openxmlformats.org/drawingml/2006/main">
              <a:ext uri="{FF2B5EF4-FFF2-40B4-BE49-F238E27FC236}">
                <a16:creationId xmlns:a16="http://schemas.microsoft.com/office/drawing/2014/main" id="{D3966A64-83B6-47B6-994C-F98B3907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cycle-MAE improvement versus baseline</a:t>
            </a:r>
          </a:p>
        </p:txBody>
      </p:sp>
      <p:sp>
        <p:nvSpPr>
          <p:cNvPr id="54" name="recovery-warning">
            <a:extLst xmlns:a="http://schemas.openxmlformats.org/drawingml/2006/main">
              <a:ext uri="{FF2B5EF4-FFF2-40B4-BE49-F238E27FC236}">
                <a16:creationId xmlns:a16="http://schemas.microsoft.com/office/drawing/2014/main" id="{93221820-B39D-4C5B-B5E3-A92785E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62600"/>
            <a:ext cx="4362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772-596">
            <a:extLst xmlns:a="http://schemas.openxmlformats.org/drawingml/2006/main">
              <a:ext uri="{FF2B5EF4-FFF2-40B4-BE49-F238E27FC236}">
                <a16:creationId xmlns:a16="http://schemas.microsoft.com/office/drawing/2014/main" id="{2B9EF202-E0CA-4686-8C11-96BC52B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769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Continuous-estimate gate passed. 95% target classification gate failed: target-side accuracy remains below the majority baseline.</a:t>
            </a:r>
          </a:p>
        </p:txBody>
      </p:sp>
    </p:spTree>
    <p:extLst>
      <p:ext uri="{BB962C8B-B14F-4D97-AF65-F5344CB8AC3E}">
        <p14:creationId xmlns:p14="http://schemas.microsoft.com/office/powerpoint/2010/main" val="95215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8">
            <a:extLst xmlns:a="http://schemas.openxmlformats.org/drawingml/2006/main">
              <a:ext uri="{FF2B5EF4-FFF2-40B4-BE49-F238E27FC236}">
                <a16:creationId xmlns:a16="http://schemas.microsoft.com/office/drawing/2014/main" id="{62099374-A5BF-4221-AEFB-9C907A1D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BD1BB86-0B86-4EF7-912C-4E63F03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Recommendations connect each trigger to an action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2EBEE68-EBE6-4A54-8540-2DF2FB0D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C1661-538A-477B-8507-EF957F42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43179-247E-414F-97F0-11CA4C9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2-196">
            <a:extLst xmlns:a="http://schemas.openxmlformats.org/drawingml/2006/main">
              <a:ext uri="{FF2B5EF4-FFF2-40B4-BE49-F238E27FC236}">
                <a16:creationId xmlns:a16="http://schemas.microsoft.com/office/drawing/2014/main" id="{2FA50FB7-6DDF-4959-8EE4-E8FD001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text-62-248">
            <a:extLst xmlns:a="http://schemas.openxmlformats.org/drawingml/2006/main">
              <a:ext uri="{FF2B5EF4-FFF2-40B4-BE49-F238E27FC236}">
                <a16:creationId xmlns:a16="http://schemas.microsoft.com/office/drawing/2014/main" id="{6D9F0AA6-4233-41F4-83EC-6A71B29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Recorded trigger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90550" y="30480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0" name="text-62-350">
            <a:extLst xmlns:a="http://schemas.openxmlformats.org/drawingml/2006/main">
              <a:ext uri="{FF2B5EF4-FFF2-40B4-BE49-F238E27FC236}">
                <a16:creationId xmlns:a16="http://schemas.microsoft.com/office/drawing/2014/main" id="{81EDD1AC-036F-47E7-B3AC-FDB3A6BA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Example: weight gap is the strongest scored issue.</a:t>
            </a:r>
          </a:p>
        </p:txBody>
      </p:sp>
      <p:sp>
        <p:nvSpPr>
          <p:cNvPr id="11" name="text-454-196">
            <a:extLst xmlns:a="http://schemas.openxmlformats.org/drawingml/2006/main">
              <a:ext uri="{FF2B5EF4-FFF2-40B4-BE49-F238E27FC236}">
                <a16:creationId xmlns:a16="http://schemas.microsoft.com/office/drawing/2014/main" id="{0A3EEA01-35A0-4CE3-94DD-F0672865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66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text-454-248">
            <a:extLst xmlns:a="http://schemas.openxmlformats.org/drawingml/2006/main">
              <a:ext uri="{FF2B5EF4-FFF2-40B4-BE49-F238E27FC236}">
                <a16:creationId xmlns:a16="http://schemas.microsoft.com/office/drawing/2014/main" id="{FE3D3E18-03C3-49F1-82FB-54F3AF0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Deterministic mapping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324350" y="30480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4" name="text-454-350">
            <a:extLst xmlns:a="http://schemas.openxmlformats.org/drawingml/2006/main">
              <a:ext uri="{FF2B5EF4-FFF2-40B4-BE49-F238E27FC236}">
                <a16:creationId xmlns:a16="http://schemas.microsoft.com/office/drawing/2014/main" id="{77A77A9B-14BF-4293-A341-4776495A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Select Doc Raymond's matching rule and urgency from the risk label.</a:t>
            </a:r>
          </a:p>
        </p:txBody>
      </p:sp>
      <p:sp>
        <p:nvSpPr>
          <p:cNvPr id="15" name="text-846-196">
            <a:extLst xmlns:a="http://schemas.openxmlformats.org/drawingml/2006/main">
              <a:ext uri="{FF2B5EF4-FFF2-40B4-BE49-F238E27FC236}">
                <a16:creationId xmlns:a16="http://schemas.microsoft.com/office/drawing/2014/main" id="{120B5649-3A4E-4FD3-AA10-28ECE28B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text-846-248">
            <a:extLst xmlns:a="http://schemas.openxmlformats.org/drawingml/2006/main">
              <a:ext uri="{FF2B5EF4-FFF2-40B4-BE49-F238E27FC236}">
                <a16:creationId xmlns:a16="http://schemas.microsoft.com/office/drawing/2014/main" id="{4AFB6F60-F36C-4D24-9CA8-95A44B5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Management output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058150" y="30480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F3C"/>
            </a:solidFill>
            <a:prstDash val="solid"/>
          </a:ln>
        </p:spPr>
      </p:cxnSp>
      <p:sp>
        <p:nvSpPr>
          <p:cNvPr id="18" name="text-846-350">
            <a:extLst xmlns:a="http://schemas.openxmlformats.org/drawingml/2006/main">
              <a:ext uri="{FF2B5EF4-FFF2-40B4-BE49-F238E27FC236}">
                <a16:creationId xmlns:a16="http://schemas.microsoft.com/office/drawing/2014/main" id="{F4A18DF5-78C9-47CE-94EB-2BEBC5AE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Show the problem, inspection checklist, response time, escalation, and rule ID.</a:t>
            </a:r>
          </a:p>
        </p:txBody>
      </p:sp>
      <p:sp>
        <p:nvSpPr>
          <p:cNvPr id="19" name="action-example">
            <a:extLst xmlns:a="http://schemas.openxmlformats.org/drawingml/2006/main">
              <a:ext uri="{FF2B5EF4-FFF2-40B4-BE49-F238E27FC236}">
                <a16:creationId xmlns:a16="http://schemas.microsoft.com/office/drawing/2014/main" id="{E60732D0-D928-4724-81ED-FFC5D02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91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6-532">
            <a:extLst xmlns:a="http://schemas.openxmlformats.org/drawingml/2006/main">
              <a:ext uri="{FF2B5EF4-FFF2-40B4-BE49-F238E27FC236}">
                <a16:creationId xmlns:a16="http://schemas.microsoft.com/office/drawing/2014/main" id="{3449F5B9-5DBC-41F0-84A3-0AEC43C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LOW BODY WEIGHT</a:t>
            </a:r>
          </a:p>
        </p:txBody>
      </p:sp>
      <p:sp>
        <p:nvSpPr>
          <p:cNvPr id="21" name="text-346-526">
            <a:extLst xmlns:a="http://schemas.openxmlformats.org/drawingml/2006/main">
              <a:ext uri="{FF2B5EF4-FFF2-40B4-BE49-F238E27FC236}">
                <a16:creationId xmlns:a16="http://schemas.microsoft.com/office/drawing/2014/main" id="{34FA989D-7632-4D27-B5BD-A64B6C8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10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Confirm the weight; check bird health, feeder allocation, feed and water access, and house conditions.</a:t>
            </a:r>
          </a:p>
        </p:txBody>
      </p:sp>
      <p:sp>
        <p:nvSpPr>
          <p:cNvPr id="22" name="text-346-588">
            <a:extLst xmlns:a="http://schemas.openxmlformats.org/drawingml/2006/main">
              <a:ext uri="{FF2B5EF4-FFF2-40B4-BE49-F238E27FC236}">
                <a16:creationId xmlns:a16="http://schemas.microsoft.com/office/drawing/2014/main" id="{E9CE28BB-0131-4D36-9A86-FB26142A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00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Rule DOC-002 · inspection guidance, not diagnosis or automatic treatment</a:t>
            </a:r>
          </a:p>
        </p:txBody>
      </p:sp>
    </p:spTree>
    <p:extLst>
      <p:ext uri="{BB962C8B-B14F-4D97-AF65-F5344CB8AC3E}">
        <p14:creationId xmlns:p14="http://schemas.microsoft.com/office/powerpoint/2010/main" val="1007900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9">
            <a:extLst xmlns:a="http://schemas.openxmlformats.org/drawingml/2006/main">
              <a:ext uri="{FF2B5EF4-FFF2-40B4-BE49-F238E27FC236}">
                <a16:creationId xmlns:a16="http://schemas.microsoft.com/office/drawing/2014/main" id="{E782CE93-071E-4DE0-995B-7A14892C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1FEFB04-4935-4DA9-B1E6-35F57B67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Worked example: 2026-3 Tags 2 on Day 22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5E748CF-6042-44D0-92AE-7DD497EF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text-42-164">
            <a:extLst xmlns:a="http://schemas.openxmlformats.org/drawingml/2006/main">
              <a:ext uri="{FF2B5EF4-FFF2-40B4-BE49-F238E27FC236}">
                <a16:creationId xmlns:a16="http://schemas.microsoft.com/office/drawing/2014/main" id="{7EE3E3A9-CFED-4AEE-81D8-FF64078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RISK SCORE</a:t>
            </a:r>
          </a:p>
        </p:txBody>
      </p:sp>
      <p:sp>
        <p:nvSpPr>
          <p:cNvPr id="6" name="text-42-198">
            <a:extLst xmlns:a="http://schemas.openxmlformats.org/drawingml/2006/main">
              <a:ext uri="{FF2B5EF4-FFF2-40B4-BE49-F238E27FC236}">
                <a16:creationId xmlns:a16="http://schemas.microsoft.com/office/drawing/2014/main" id="{2F051459-0EBA-4DF9-AFFF-F40613B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  <p:sp>
        <p:nvSpPr>
          <p:cNvPr id="7" name="text-42-276">
            <a:extLst xmlns:a="http://schemas.openxmlformats.org/drawingml/2006/main">
              <a:ext uri="{FF2B5EF4-FFF2-40B4-BE49-F238E27FC236}">
                <a16:creationId xmlns:a16="http://schemas.microsoft.com/office/drawing/2014/main" id="{8A4CECF2-FB9A-40F7-8369-F2A60C20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HIGH RISK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32575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9" name="text-42-354">
            <a:extLst xmlns:a="http://schemas.openxmlformats.org/drawingml/2006/main">
              <a:ext uri="{FF2B5EF4-FFF2-40B4-BE49-F238E27FC236}">
                <a16:creationId xmlns:a16="http://schemas.microsoft.com/office/drawing/2014/main" id="{0947BF6E-B449-42D5-8B04-C6A4AEE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Weight gap</a:t>
            </a:r>
          </a:p>
        </p:txBody>
      </p:sp>
      <p:sp>
        <p:nvSpPr>
          <p:cNvPr id="10" name="text-232-354">
            <a:extLst xmlns:a="http://schemas.openxmlformats.org/drawingml/2006/main">
              <a:ext uri="{FF2B5EF4-FFF2-40B4-BE49-F238E27FC236}">
                <a16:creationId xmlns:a16="http://schemas.microsoft.com/office/drawing/2014/main" id="{12A2A2F0-CE5F-4F0C-9DF9-0D93BEF0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35.0% below target</a:t>
            </a:r>
          </a:p>
        </p:txBody>
      </p:sp>
      <p:sp>
        <p:nvSpPr>
          <p:cNvPr id="11" name="text-474-354">
            <a:extLst xmlns:a="http://schemas.openxmlformats.org/drawingml/2006/main">
              <a:ext uri="{FF2B5EF4-FFF2-40B4-BE49-F238E27FC236}">
                <a16:creationId xmlns:a16="http://schemas.microsoft.com/office/drawing/2014/main" id="{C334A30E-3A05-4DDC-90C8-18BDC79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38671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3" name="text-42-418">
            <a:extLst xmlns:a="http://schemas.openxmlformats.org/drawingml/2006/main">
              <a:ext uri="{FF2B5EF4-FFF2-40B4-BE49-F238E27FC236}">
                <a16:creationId xmlns:a16="http://schemas.microsoft.com/office/drawing/2014/main" id="{61ACEC62-ED5F-4752-A60B-04A1869D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Population loss</a:t>
            </a:r>
          </a:p>
        </p:txBody>
      </p:sp>
      <p:sp>
        <p:nvSpPr>
          <p:cNvPr id="14" name="text-232-418">
            <a:extLst xmlns:a="http://schemas.openxmlformats.org/drawingml/2006/main">
              <a:ext uri="{FF2B5EF4-FFF2-40B4-BE49-F238E27FC236}">
                <a16:creationId xmlns:a16="http://schemas.microsoft.com/office/drawing/2014/main" id="{2B8FCCF3-70DC-4455-A202-9B5AFF5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4.93%</a:t>
            </a:r>
          </a:p>
        </p:txBody>
      </p:sp>
      <p:sp>
        <p:nvSpPr>
          <p:cNvPr id="15" name="text-474-418">
            <a:extLst xmlns:a="http://schemas.openxmlformats.org/drawingml/2006/main">
              <a:ext uri="{FF2B5EF4-FFF2-40B4-BE49-F238E27FC236}">
                <a16:creationId xmlns:a16="http://schemas.microsoft.com/office/drawing/2014/main" id="{116F6B8E-166E-4DFC-8618-DFC50610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44767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17" name="text-42-482">
            <a:extLst xmlns:a="http://schemas.openxmlformats.org/drawingml/2006/main">
              <a:ext uri="{FF2B5EF4-FFF2-40B4-BE49-F238E27FC236}">
                <a16:creationId xmlns:a16="http://schemas.microsoft.com/office/drawing/2014/main" id="{64DEC9B1-41A2-4421-B033-D3B3830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Daily mortality</a:t>
            </a:r>
          </a:p>
        </p:txBody>
      </p:sp>
      <p:sp>
        <p:nvSpPr>
          <p:cNvPr id="18" name="text-232-482">
            <a:extLst xmlns:a="http://schemas.openxmlformats.org/drawingml/2006/main">
              <a:ext uri="{FF2B5EF4-FFF2-40B4-BE49-F238E27FC236}">
                <a16:creationId xmlns:a16="http://schemas.microsoft.com/office/drawing/2014/main" id="{59BD56EC-D22E-415A-9271-6700511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0.197%</a:t>
            </a:r>
          </a:p>
        </p:txBody>
      </p:sp>
      <p:sp>
        <p:nvSpPr>
          <p:cNvPr id="19" name="text-474-482">
            <a:extLst xmlns:a="http://schemas.openxmlformats.org/drawingml/2006/main">
              <a:ext uri="{FF2B5EF4-FFF2-40B4-BE49-F238E27FC236}">
                <a16:creationId xmlns:a16="http://schemas.microsoft.com/office/drawing/2014/main" id="{C7A39704-C036-424F-B75D-D20208D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10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50863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1" name="text-42-546">
            <a:extLst xmlns:a="http://schemas.openxmlformats.org/drawingml/2006/main">
              <a:ext uri="{FF2B5EF4-FFF2-40B4-BE49-F238E27FC236}">
                <a16:creationId xmlns:a16="http://schemas.microsoft.com/office/drawing/2014/main" id="{89938D92-305D-4741-920D-91C9A7E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Environment</a:t>
            </a:r>
          </a:p>
        </p:txBody>
      </p:sp>
      <p:sp>
        <p:nvSpPr>
          <p:cNvPr id="22" name="text-232-546">
            <a:extLst xmlns:a="http://schemas.openxmlformats.org/drawingml/2006/main">
              <a:ext uri="{FF2B5EF4-FFF2-40B4-BE49-F238E27FC236}">
                <a16:creationId xmlns:a16="http://schemas.microsoft.com/office/drawing/2014/main" id="{43A98637-EB10-4F6E-A32F-48DD5227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00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5-day-old reading</a:t>
            </a:r>
          </a:p>
        </p:txBody>
      </p:sp>
      <p:sp>
        <p:nvSpPr>
          <p:cNvPr id="23" name="text-474-546">
            <a:extLst xmlns:a="http://schemas.openxmlformats.org/drawingml/2006/main">
              <a:ext uri="{FF2B5EF4-FFF2-40B4-BE49-F238E27FC236}">
                <a16:creationId xmlns:a16="http://schemas.microsoft.com/office/drawing/2014/main" id="{A5CFD3BD-DC97-48DA-9842-636391F7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006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8B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8B1A"/>
                </a:solidFill>
                <a:latin typeface="Helvetica Neue"/>
                <a:ea typeface="Helvetica Neue"/>
                <a:cs typeface="Helvetica Neue"/>
              </a:rPr>
              <a:t>Not scored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5905500" y="15621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25" name="text-678-174">
            <a:extLst xmlns:a="http://schemas.openxmlformats.org/drawingml/2006/main">
              <a:ext uri="{FF2B5EF4-FFF2-40B4-BE49-F238E27FC236}">
                <a16:creationId xmlns:a16="http://schemas.microsoft.com/office/drawing/2014/main" id="{993F8FB4-F860-40BA-B703-FA60D853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91.87%</a:t>
            </a:r>
          </a:p>
        </p:txBody>
      </p:sp>
      <p:sp>
        <p:nvSpPr>
          <p:cNvPr id="26" name="text-678-240">
            <a:extLst xmlns:a="http://schemas.openxmlformats.org/drawingml/2006/main">
              <a:ext uri="{FF2B5EF4-FFF2-40B4-BE49-F238E27FC236}">
                <a16:creationId xmlns:a16="http://schemas.microsoft.com/office/drawing/2014/main" id="{843F444C-62C0-4A84-B886-9224975B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projected final recovery</a:t>
            </a:r>
          </a:p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3.13 points below goal</a:t>
            </a:r>
          </a:p>
        </p:txBody>
      </p:sp>
      <p:sp>
        <p:nvSpPr>
          <p:cNvPr id="27" name="text-678-334">
            <a:extLst xmlns:a="http://schemas.openxmlformats.org/drawingml/2006/main">
              <a:ext uri="{FF2B5EF4-FFF2-40B4-BE49-F238E27FC236}">
                <a16:creationId xmlns:a16="http://schemas.microsoft.com/office/drawing/2014/main" id="{A284EF53-DD98-4410-81B2-930649CE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1,465 g</a:t>
            </a:r>
          </a:p>
        </p:txBody>
      </p:sp>
      <p:sp>
        <p:nvSpPr>
          <p:cNvPr id="28" name="text-678-400">
            <a:extLst xmlns:a="http://schemas.openxmlformats.org/drawingml/2006/main">
              <a:ext uri="{FF2B5EF4-FFF2-40B4-BE49-F238E27FC236}">
                <a16:creationId xmlns:a16="http://schemas.microsoft.com/office/drawing/2014/main" id="{3969E925-F9E2-4A7D-AC01-1AEA3B63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projected Day 35 weight</a:t>
            </a:r>
          </a:p>
          <a:p xmlns:a="http://schemas.openxmlformats.org/drawingml/2006/main">
            <a:pPr algn="l">
              <a:def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335 g below goal</a:t>
            </a:r>
          </a:p>
        </p:txBody>
      </p:sp>
      <p:sp>
        <p:nvSpPr>
          <p:cNvPr id="29" name="text-678-508">
            <a:extLst xmlns:a="http://schemas.openxmlformats.org/drawingml/2006/main">
              <a:ext uri="{FF2B5EF4-FFF2-40B4-BE49-F238E27FC236}">
                <a16:creationId xmlns:a16="http://schemas.microsoft.com/office/drawing/2014/main" id="{173BA85F-D79B-4972-8911-61ABF08A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30" name="text-678-544">
            <a:extLst xmlns:a="http://schemas.openxmlformats.org/drawingml/2006/main">
              <a:ext uri="{FF2B5EF4-FFF2-40B4-BE49-F238E27FC236}">
                <a16:creationId xmlns:a16="http://schemas.microsoft.com/office/drawing/2014/main" id="{083CE6BC-6437-42E8-93A2-CFCBB44A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816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Confirm the weight, then check bird health, feed and water access, feeder allocation, and house conditions.</a:t>
            </a:r>
          </a:p>
        </p:txBody>
      </p:sp>
      <p:sp>
        <p:nvSpPr>
          <p:cNvPr id="31" name="text-678-642">
            <a:extLst xmlns:a="http://schemas.openxmlformats.org/drawingml/2006/main">
              <a:ext uri="{FF2B5EF4-FFF2-40B4-BE49-F238E27FC236}">
                <a16:creationId xmlns:a16="http://schemas.microsoft.com/office/drawing/2014/main" id="{C55A32E7-4753-4DFF-80AB-C3C64499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Leading trigger: Low Body Weight · Rule DOC-002</a:t>
            </a:r>
          </a:p>
        </p:txBody>
      </p:sp>
    </p:spTree>
    <p:extLst>
      <p:ext uri="{BB962C8B-B14F-4D97-AF65-F5344CB8AC3E}">
        <p14:creationId xmlns:p14="http://schemas.microsoft.com/office/powerpoint/2010/main" val="855662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C102CF1B-561A-48A6-816E-1305BEC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PROJECT CANARY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E7490AC-8CBA-44D8-B339-8AA1B385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 precise about the evidence and its limits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2954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9C694FCE-6653-4114-BF10-2681846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text-52-176">
            <a:extLst xmlns:a="http://schemas.openxmlformats.org/drawingml/2006/main">
              <a:ext uri="{FF2B5EF4-FFF2-40B4-BE49-F238E27FC236}">
                <a16:creationId xmlns:a16="http://schemas.microsoft.com/office/drawing/2014/main" id="{F9DEBCCD-BA14-40F5-8439-793663FA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WE CAN DEFEND</a:t>
            </a:r>
          </a:p>
        </p:txBody>
      </p:sp>
      <p:sp>
        <p:nvSpPr>
          <p:cNvPr id="6" name="text-52-228">
            <a:extLst xmlns:a="http://schemas.openxmlformats.org/drawingml/2006/main">
              <a:ext uri="{FF2B5EF4-FFF2-40B4-BE49-F238E27FC236}">
                <a16:creationId xmlns:a16="http://schemas.microsoft.com/office/drawing/2014/main" id="{985D3524-EFA1-409D-B5CD-4E9F8A3D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✓ One row per building-day, with Zone A/B handled without double counting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✓ Rules-based score with visible measurements, thresholds, and 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✓ Whole-cycle holdout validation for both forecasts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✓ Multiple model candidates plus transparent baselines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✓ Traceable recommendation rules and approval status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962650" y="16573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C"/>
            </a:solidFill>
            <a:prstDash val="solid"/>
          </a:ln>
        </p:spPr>
      </p:cxnSp>
      <p:sp>
        <p:nvSpPr>
          <p:cNvPr id="8" name="text-684-176">
            <a:extLst xmlns:a="http://schemas.openxmlformats.org/drawingml/2006/main">
              <a:ext uri="{FF2B5EF4-FFF2-40B4-BE49-F238E27FC236}">
                <a16:creationId xmlns:a16="http://schemas.microsoft.com/office/drawing/2014/main" id="{096405B1-B8E2-4E70-9584-53C2B170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4732"/>
                </a:solidFill>
                <a:latin typeface="Helvetica Neue"/>
                <a:ea typeface="Helvetica Neue"/>
                <a:cs typeface="Helvetica Neue"/>
              </a:rPr>
              <a:t>WE MUST NOT OVERCLAIM</a:t>
            </a:r>
          </a:p>
        </p:txBody>
      </p:sp>
      <p:sp>
        <p:nvSpPr>
          <p:cNvPr id="9" name="text-684-228">
            <a:extLst xmlns:a="http://schemas.openxmlformats.org/drawingml/2006/main">
              <a:ext uri="{FF2B5EF4-FFF2-40B4-BE49-F238E27FC236}">
                <a16:creationId xmlns:a16="http://schemas.microsoft.com/office/drawing/2014/main" id="{2BACF472-F890-4069-830D-893489C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857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Risk score is not a probability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Feature importance is association, not causation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Recovery uses a last-recorded population 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Recovery target-hit classification is not proven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Environmental thresholds still require farm approval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64"/>
                </a:solidFill>
                <a:latin typeface="Helvetica Neue"/>
                <a:ea typeface="Helvetica Neue"/>
                <a:cs typeface="Helvetica Neue"/>
              </a:rPr>
              <a:t>• Recommendations guide inspection; they do not guarantee outcomes</a:t>
            </a:r>
          </a:p>
        </p:txBody>
      </p:sp>
      <p:sp>
        <p:nvSpPr>
          <p:cNvPr id="10" name="defense-close">
            <a:extLst xmlns:a="http://schemas.openxmlformats.org/drawingml/2006/main">
              <a:ext uri="{FF2B5EF4-FFF2-40B4-BE49-F238E27FC236}">
                <a16:creationId xmlns:a16="http://schemas.microsoft.com/office/drawing/2014/main" id="{34678BB4-0D18-484A-A5BD-9EAC454C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87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4-629">
            <a:extLst xmlns:a="http://schemas.openxmlformats.org/drawingml/2006/main">
              <a:ext uri="{FF2B5EF4-FFF2-40B4-BE49-F238E27FC236}">
                <a16:creationId xmlns:a16="http://schemas.microsoft.com/office/drawing/2014/main" id="{03E46881-0825-4DD0-99FF-F27E796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45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Capstone-ready prototype after final farm validation—not yet a production control system.</a:t>
            </a:r>
          </a:p>
        </p:txBody>
      </p:sp>
    </p:spTree>
    <p:extLst>
      <p:ext uri="{BB962C8B-B14F-4D97-AF65-F5344CB8AC3E}">
        <p14:creationId xmlns:p14="http://schemas.microsoft.com/office/powerpoint/2010/main" val="1599094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4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2-54">
            <a:extLst xmlns:a="http://schemas.openxmlformats.org/drawingml/2006/main">
              <a:ext uri="{FF2B5EF4-FFF2-40B4-BE49-F238E27FC236}">
                <a16:creationId xmlns:a16="http://schemas.microsoft.com/office/drawing/2014/main" id="{4850BFA4-FDE0-4773-9B35-3C7B1FE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THE 20-SECOND EXPLANATION</a:t>
            </a:r>
          </a:p>
        </p:txBody>
      </p:sp>
      <p:sp>
        <p:nvSpPr>
          <p:cNvPr id="2" name="text-52-154">
            <a:extLst xmlns:a="http://schemas.openxmlformats.org/drawingml/2006/main">
              <a:ext uri="{FF2B5EF4-FFF2-40B4-BE49-F238E27FC236}">
                <a16:creationId xmlns:a16="http://schemas.microsoft.com/office/drawing/2014/main" id="{F21C05FC-B1B9-4659-A73C-BEAC878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 Canary is an early-warning and decision-support system for a broiler farm.</a:t>
            </a:r>
          </a:p>
        </p:txBody>
      </p:sp>
      <p:sp>
        <p:nvSpPr>
          <p:cNvPr id="3" name="text-52-334">
            <a:extLst xmlns:a="http://schemas.openxmlformats.org/drawingml/2006/main">
              <a:ext uri="{FF2B5EF4-FFF2-40B4-BE49-F238E27FC236}">
                <a16:creationId xmlns:a16="http://schemas.microsoft.com/office/drawing/2014/main" id="{6E19C51B-555D-4550-8407-1EBECD6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It identifies which buildings need attention, explains the recorded warning signs, forecasts Day 35 average weight and final recovery, and recommends what management should inspect next.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95300" y="5391150"/>
            <a:ext cx="10706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F9B86"/>
            </a:solidFill>
            <a:prstDash val="solid"/>
          </a:ln>
        </p:spPr>
      </p:cxnSp>
      <p:sp>
        <p:nvSpPr>
          <p:cNvPr id="5" name="text-52-596">
            <a:extLst xmlns:a="http://schemas.openxmlformats.org/drawingml/2006/main">
              <a:ext uri="{FF2B5EF4-FFF2-40B4-BE49-F238E27FC236}">
                <a16:creationId xmlns:a16="http://schemas.microsoft.com/office/drawing/2014/main" id="{073462F6-7640-43E0-8C0E-75B78A1B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9BCB2C"/>
                </a:solidFill>
                <a:latin typeface="Helvetica Neue"/>
                <a:ea typeface="Helvetica Neue"/>
                <a:cs typeface="Helvetica Neue"/>
              </a:rPr>
              <a:t>Risk → Forecast → Action</a:t>
            </a:r>
          </a:p>
        </p:txBody>
      </p:sp>
      <p:sp>
        <p:nvSpPr>
          <p:cNvPr id="6" name="text-760-606">
            <a:extLst xmlns:a="http://schemas.openxmlformats.org/drawingml/2006/main">
              <a:ext uri="{FF2B5EF4-FFF2-40B4-BE49-F238E27FC236}">
                <a16:creationId xmlns:a16="http://schemas.microsoft.com/office/drawing/2014/main" id="{D4B4EE11-7861-4477-B15C-9D02DCED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72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2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7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E7E0"/>
                </a:solidFill>
                <a:latin typeface="Helvetica Neue"/>
                <a:ea typeface="Helvetica Neue"/>
                <a:cs typeface="Helvetica Neue"/>
              </a:rPr>
              <a:t>Use this sentence to open the meeting and the defense.</a:t>
            </a:r>
          </a:p>
        </p:txBody>
      </p:sp>
    </p:spTree>
    <p:extLst>
      <p:ext uri="{BB962C8B-B14F-4D97-AF65-F5344CB8AC3E}">
        <p14:creationId xmlns:p14="http://schemas.microsoft.com/office/powerpoint/2010/main" val="1245877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2026-08-10T19:20:05.8370000Z</dcterms:created>
  <dcterms:modified xsi:type="dcterms:W3CDTF">2026-08-10T19:20:05.8370000Z</dcterms:modified>
</coreProperties>
</file>