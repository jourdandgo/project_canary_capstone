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77601528854a99" /><Relationship Type="http://schemas.openxmlformats.org/officeDocument/2006/relationships/extended-properties" Target="/docProps/app.xml" Id="R883ab0cb66db499f" /><Relationship Type="http://schemas.openxmlformats.org/officeDocument/2006/relationships/officeDocument" Target="/ppt/presentation.xml" Id="R65ffda9f57f24a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c7ec1e51a948b5"/>
  </p:sldMasterIdLst>
  <p:notesMasterIdLst>
    <p:notesMasterId xmlns:r="http://schemas.openxmlformats.org/officeDocument/2006/relationships" r:id="Re8735d462cef4beb"/>
  </p:notesMasterIdLst>
  <p:sldIdLst>
    <p:sldId xmlns:r="http://schemas.openxmlformats.org/officeDocument/2006/relationships" id="256" r:id="R440d9eac0cd640cc"/>
    <p:sldId xmlns:r="http://schemas.openxmlformats.org/officeDocument/2006/relationships" id="257" r:id="Rb1bc6a2822044d4e"/>
    <p:sldId xmlns:r="http://schemas.openxmlformats.org/officeDocument/2006/relationships" id="258" r:id="Re3663def0f5041b6"/>
    <p:sldId xmlns:r="http://schemas.openxmlformats.org/officeDocument/2006/relationships" id="259" r:id="R4e24eb4e32914483"/>
    <p:sldId xmlns:r="http://schemas.openxmlformats.org/officeDocument/2006/relationships" id="260" r:id="R1629921faa7d455a"/>
    <p:sldId xmlns:r="http://schemas.openxmlformats.org/officeDocument/2006/relationships" id="261" r:id="Rb328f64037334840"/>
    <p:sldId xmlns:r="http://schemas.openxmlformats.org/officeDocument/2006/relationships" id="262" r:id="Rd871baf121294a80"/>
    <p:sldId xmlns:r="http://schemas.openxmlformats.org/officeDocument/2006/relationships" id="263" r:id="R25f6eff006ff4d29"/>
    <p:sldId xmlns:r="http://schemas.openxmlformats.org/officeDocument/2006/relationships" id="264" r:id="R26c4afa4aa9d4e1b"/>
    <p:sldId xmlns:r="http://schemas.openxmlformats.org/officeDocument/2006/relationships" id="265" r:id="R83664a7062354999"/>
    <p:sldId xmlns:r="http://schemas.openxmlformats.org/officeDocument/2006/relationships" id="266" r:id="R9d75a16a9b004b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46ada79a4144c9" /><Relationship Type="http://schemas.openxmlformats.org/officeDocument/2006/relationships/slideMaster" Target="/ppt/slideMasters/slideMaster1.xml" Id="R7fc7ec1e51a948b5" /><Relationship Type="http://schemas.openxmlformats.org/officeDocument/2006/relationships/notesMaster" Target="/ppt/notesMasters/notesMaster1.xml" Id="Re8735d462cef4beb" /><Relationship Type="http://schemas.openxmlformats.org/officeDocument/2006/relationships/presProps" Target="/ppt/presProps.xml" Id="R3530e786866544ea" /><Relationship Type="http://schemas.openxmlformats.org/officeDocument/2006/relationships/tableStyles" Target="/ppt/tableStyles.xml" Id="Ra0fcbd4111fb4e78" /><Relationship Type="http://schemas.openxmlformats.org/officeDocument/2006/relationships/slide" Target="/ppt/slides/slide1.xml" Id="R440d9eac0cd640cc" /><Relationship Type="http://schemas.openxmlformats.org/officeDocument/2006/relationships/slide" Target="/ppt/slides/slide2.xml" Id="Rb1bc6a2822044d4e" /><Relationship Type="http://schemas.openxmlformats.org/officeDocument/2006/relationships/slide" Target="/ppt/slides/slide3.xml" Id="Re3663def0f5041b6" /><Relationship Type="http://schemas.openxmlformats.org/officeDocument/2006/relationships/slide" Target="/ppt/slides/slide4.xml" Id="R4e24eb4e32914483" /><Relationship Type="http://schemas.openxmlformats.org/officeDocument/2006/relationships/slide" Target="/ppt/slides/slide5.xml" Id="R1629921faa7d455a" /><Relationship Type="http://schemas.openxmlformats.org/officeDocument/2006/relationships/slide" Target="/ppt/slides/slide6.xml" Id="Rb328f64037334840" /><Relationship Type="http://schemas.openxmlformats.org/officeDocument/2006/relationships/slide" Target="/ppt/slides/slide7.xml" Id="Rd871baf121294a80" /><Relationship Type="http://schemas.openxmlformats.org/officeDocument/2006/relationships/slide" Target="/ppt/slides/slide8.xml" Id="R25f6eff006ff4d29" /><Relationship Type="http://schemas.openxmlformats.org/officeDocument/2006/relationships/slide" Target="/ppt/slides/slide9.xml" Id="R26c4afa4aa9d4e1b" /><Relationship Type="http://schemas.openxmlformats.org/officeDocument/2006/relationships/slide" Target="/ppt/slides/slide10.xml" Id="R83664a7062354999" /><Relationship Type="http://schemas.openxmlformats.org/officeDocument/2006/relationships/slide" Target="/ppt/slides/slide11.xml" Id="R9d75a16a9b004b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8447520e1a4b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99fa7b67ac4c05" /><Relationship Type="http://schemas.openxmlformats.org/officeDocument/2006/relationships/notesMaster" Target="/ppt/notesMasters/notesMaster1.xml" Id="Re9647d0bbaa84c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e5819a832d4a7b" /><Relationship Type="http://schemas.openxmlformats.org/officeDocument/2006/relationships/notesMaster" Target="/ppt/notesMasters/notesMaster1.xml" Id="R2ad9a0fad44a4f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3d1019910a43a8" /><Relationship Type="http://schemas.openxmlformats.org/officeDocument/2006/relationships/notesMaster" Target="/ppt/notesMasters/notesMaster1.xml" Id="R58214bbd8d324d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ee3ad8abf3413e" /><Relationship Type="http://schemas.openxmlformats.org/officeDocument/2006/relationships/notesMaster" Target="/ppt/notesMasters/notesMaster1.xml" Id="Rb2555a95bf1f42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6923ee73794d7b" /><Relationship Type="http://schemas.openxmlformats.org/officeDocument/2006/relationships/notesMaster" Target="/ppt/notesMasters/notesMaster1.xml" Id="Rbc995ebed5a546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418bc7bd8a468f" /><Relationship Type="http://schemas.openxmlformats.org/officeDocument/2006/relationships/notesMaster" Target="/ppt/notesMasters/notesMaster1.xml" Id="Rb424f11c417a4b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74daa1af944ac6" /><Relationship Type="http://schemas.openxmlformats.org/officeDocument/2006/relationships/notesMaster" Target="/ppt/notesMasters/notesMaster1.xml" Id="Ra4f686a3af7e42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3c02c451794581" /><Relationship Type="http://schemas.openxmlformats.org/officeDocument/2006/relationships/notesMaster" Target="/ppt/notesMasters/notesMaster1.xml" Id="R500c92654e6648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ff24a961c548f7" /><Relationship Type="http://schemas.openxmlformats.org/officeDocument/2006/relationships/notesMaster" Target="/ppt/notesMasters/notesMaster1.xml" Id="R31286e95f64e45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8b483db90a4ec8" /><Relationship Type="http://schemas.openxmlformats.org/officeDocument/2006/relationships/notesMaster" Target="/ppt/notesMasters/notesMaster1.xml" Id="R3a67b875f54840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8c263002f5405e" /><Relationship Type="http://schemas.openxmlformats.org/officeDocument/2006/relationships/notesMaster" Target="/ppt/notesMasters/notesMaster1.xml" Id="R67f92500c02348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business problem. Canary does not replace farm judgment; it organizes evidence into a repeatable daily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the linear story: identify, explain, forecast, act. The risk score is separate from the predictive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there are more training rows than final outcomes: each building-cycle is recreated at multiple decision checkpoints, but validation keeps related rows together by cycle.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separation is a core design decision. Rules provide operational explainability, models estimate outcomes, and the playbook turns recorded triggers into inspections.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that missing or stale evidence is marked not scored, never treated as safe. Environmental severity thresholds remain provisional pending farm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learned challengers were worse than historical remaining gain on complete unseen cycles and had negative R². The approved gate requires 10% improvement, positive R², stability, and at least 70% within 200 g, so the baseline remains operational.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Recovery predicts remaining loss after today. Huber is the best learned research challenger, but the transparent age-band baseline remains operational because Huber does not pass every deployment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action playbook follows Doc Raymond's trigger concepts. Wording, thresholds, and approval status remain visible so the team never presents a recommendation as hidden AI advice.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from evidence to score, then forecasts, then action. Point out that environmental evidence is not scored because the last reading is stale—not because conditions were 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panel-safe framing. The project is defensible because it exposes limitations rather than hiding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having one teammate repeat the 20-second explanation without reading. Then ask the team to practice explaining one engine each.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/Users/jourdan.go/Downloads/PROJECT CANARY/canary_app/docs/PROJECT_CANARY_DEFENSE_CHEAT_SHEET.md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14dad36b943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3b893c708848b4" /><Relationship Type="http://schemas.openxmlformats.org/officeDocument/2006/relationships/slideLayout" Target="/ppt/slideLayouts/slideLayout1.xml" Id="R1236f5f433764c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36f5f433764c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35da811dd493c" /><Relationship Type="http://schemas.openxmlformats.org/officeDocument/2006/relationships/notesSlide" Target="/ppt/notesSlides/notesSlide1.xml" Id="Rf7e2cb310e394b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02617fe1549a8" /><Relationship Type="http://schemas.openxmlformats.org/officeDocument/2006/relationships/notesSlide" Target="/ppt/notesSlides/notesSlide2.xml" Id="R6306593e7df542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1dea1ba8c49c6" /><Relationship Type="http://schemas.openxmlformats.org/officeDocument/2006/relationships/notesSlide" Target="/ppt/notesSlides/notesSlide3.xml" Id="R8a8edfde101141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9bbc7534e4164" /><Relationship Type="http://schemas.openxmlformats.org/officeDocument/2006/relationships/notesSlide" Target="/ppt/notesSlides/notesSlide4.xml" Id="R6604275307664d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8b30e8384413e" /><Relationship Type="http://schemas.openxmlformats.org/officeDocument/2006/relationships/notesSlide" Target="/ppt/notesSlides/notesSlide5.xml" Id="R7f013de7162447b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0f5c39eed4a60" /><Relationship Type="http://schemas.openxmlformats.org/officeDocument/2006/relationships/notesSlide" Target="/ppt/notesSlides/notesSlide6.xml" Id="Raf7a808bf1fa44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d8143685f4306" /><Relationship Type="http://schemas.openxmlformats.org/officeDocument/2006/relationships/notesSlide" Target="/ppt/notesSlides/notesSlide7.xml" Id="R322600b1f40847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1673489ab455b" /><Relationship Type="http://schemas.openxmlformats.org/officeDocument/2006/relationships/notesSlide" Target="/ppt/notesSlides/notesSlide8.xml" Id="R4ccdffea0ee345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721c1ce3b4a53" /><Relationship Type="http://schemas.openxmlformats.org/officeDocument/2006/relationships/notesSlide" Target="/ppt/notesSlides/notesSlide9.xml" Id="R14287017a19842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2929150884b1a" /><Relationship Type="http://schemas.openxmlformats.org/officeDocument/2006/relationships/notesSlide" Target="/ppt/notesSlides/notesSlide10.xml" Id="R9619f12ac08343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87cd06b7241fd" /><Relationship Type="http://schemas.openxmlformats.org/officeDocument/2006/relationships/notesSlide" Target="/ppt/notesSlides/notesSlide11.xml" Id="Rdfa0ed2726e446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bar">
            <a:extLst xmlns:a="http://schemas.openxmlformats.org/drawingml/2006/main">
              <a:ext uri="{FF2B5EF4-FFF2-40B4-BE49-F238E27FC236}">
                <a16:creationId xmlns:a16="http://schemas.microsoft.com/office/drawing/2014/main" id="{EA2387DF-6D63-42B0-82EC-3F3C23DB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C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2-44">
            <a:extLst xmlns:a="http://schemas.openxmlformats.org/drawingml/2006/main">
              <a:ext uri="{FF2B5EF4-FFF2-40B4-BE49-F238E27FC236}">
                <a16:creationId xmlns:a16="http://schemas.microsoft.com/office/drawing/2014/main" id="{7713246C-626B-46D7-AB89-359F7A1B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 · TEAM WALKTHROUGH</a:t>
            </a:r>
          </a:p>
        </p:txBody>
      </p:sp>
      <p:sp>
        <p:nvSpPr>
          <p:cNvPr id="3" name="text-52-174">
            <a:extLst xmlns:a="http://schemas.openxmlformats.org/drawingml/2006/main">
              <a:ext uri="{FF2B5EF4-FFF2-40B4-BE49-F238E27FC236}">
                <a16:creationId xmlns:a16="http://schemas.microsoft.com/office/drawing/2014/main" id="{1D5B5B23-79DC-4348-839F-E086B7A6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7905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Daily farm data,</a:t>
            </a:r>
          </a:p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turned into a decision</a:t>
            </a:r>
          </a:p>
        </p:txBody>
      </p:sp>
      <p:sp>
        <p:nvSpPr>
          <p:cNvPr id="4" name="text-56-430">
            <a:extLst xmlns:a="http://schemas.openxmlformats.org/drawingml/2006/main">
              <a:ext uri="{FF2B5EF4-FFF2-40B4-BE49-F238E27FC236}">
                <a16:creationId xmlns:a16="http://schemas.microsoft.com/office/drawing/2014/main" id="{BF98E6FC-917E-4B03-B68A-E805CFB4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Identify buildings at risk, forecast Day 35 weight and final recovery, and recommend what management should inspect next.</a:t>
            </a:r>
          </a:p>
        </p:txBody>
      </p:sp>
      <p:sp>
        <p:nvSpPr>
          <p:cNvPr id="5" name="canary-mark">
            <a:extLst xmlns:a="http://schemas.openxmlformats.org/drawingml/2006/main">
              <a:ext uri="{FF2B5EF4-FFF2-40B4-BE49-F238E27FC236}">
                <a16:creationId xmlns:a16="http://schemas.microsoft.com/office/drawing/2014/main" id="{6811F040-20A1-4258-8A60-BA12F901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0096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980-116">
            <a:extLst xmlns:a="http://schemas.openxmlformats.org/drawingml/2006/main">
              <a:ext uri="{FF2B5EF4-FFF2-40B4-BE49-F238E27FC236}">
                <a16:creationId xmlns:a16="http://schemas.microsoft.com/office/drawing/2014/main" id="{111FC8AD-9715-4E24-B883-35E0BD55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04900"/>
            <a:ext cx="1524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defRPr sz="84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7" name="text-958-248">
            <a:extLst xmlns:a="http://schemas.openxmlformats.org/drawingml/2006/main">
              <a:ext uri="{FF2B5EF4-FFF2-40B4-BE49-F238E27FC236}">
                <a16:creationId xmlns:a16="http://schemas.microsoft.com/office/drawing/2014/main" id="{3E228C5E-735B-4164-BE9E-2753AB95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62200"/>
            <a:ext cx="1962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business-logic</a:t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engines</a:t>
            </a:r>
          </a:p>
        </p:txBody>
      </p:sp>
      <p:sp>
        <p:nvSpPr>
          <p:cNvPr id="8" name="text-56-640">
            <a:extLst xmlns:a="http://schemas.openxmlformats.org/drawingml/2006/main">
              <a:ext uri="{FF2B5EF4-FFF2-40B4-BE49-F238E27FC236}">
                <a16:creationId xmlns:a16="http://schemas.microsoft.com/office/drawing/2014/main" id="{BA010F29-A007-4D8B-8CE8-D5CEFB54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CAPSTONE PROTOTYPE</a:t>
            </a:r>
          </a:p>
        </p:txBody>
      </p:sp>
    </p:spTree>
    <p:extLst>
      <p:ext uri="{BB962C8B-B14F-4D97-AF65-F5344CB8AC3E}">
        <p14:creationId xmlns:p14="http://schemas.microsoft.com/office/powerpoint/2010/main" val="5330492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kicker-2">
            <a:extLst xmlns:a="http://schemas.openxmlformats.org/drawingml/2006/main">
              <a:ext uri="{FF2B5EF4-FFF2-40B4-BE49-F238E27FC236}">
                <a16:creationId xmlns:a16="http://schemas.microsoft.com/office/drawing/2014/main" id="{D72D4EA4-FA2B-4223-8CFB-CDB9605B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6A953AAF-FE28-43A4-BE7E-1035C9A4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Canary answers one daily management question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DD6F989A-5936-48D3-875F-F667FA6C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5" name="text-84-186">
            <a:extLst xmlns:a="http://schemas.openxmlformats.org/drawingml/2006/main">
              <a:ext uri="{FF2B5EF4-FFF2-40B4-BE49-F238E27FC236}">
                <a16:creationId xmlns:a16="http://schemas.microsoft.com/office/drawing/2014/main" id="{11D8EA19-325A-4D1A-B034-4E93872E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1057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8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Which buildings need attention today—why, what outcomes are currently expected, and what should management inspect next?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895350" y="3486150"/>
            <a:ext cx="10382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74F3C"/>
            </a:solidFill>
            <a:prstDash val="solid"/>
          </a:ln>
        </p:spPr>
      </p:cxnSp>
      <p:sp>
        <p:nvSpPr>
          <p:cNvPr id="7" name="text-98-398">
            <a:extLst xmlns:a="http://schemas.openxmlformats.org/drawingml/2006/main">
              <a:ext uri="{FF2B5EF4-FFF2-40B4-BE49-F238E27FC236}">
                <a16:creationId xmlns:a16="http://schemas.microsoft.com/office/drawing/2014/main" id="{5D2DF764-F351-45B3-9D36-B1E9158D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-98-442">
            <a:extLst xmlns:a="http://schemas.openxmlformats.org/drawingml/2006/main">
              <a:ext uri="{FF2B5EF4-FFF2-40B4-BE49-F238E27FC236}">
                <a16:creationId xmlns:a16="http://schemas.microsoft.com/office/drawing/2014/main" id="{B5536911-90A0-441A-940F-262D0385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00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Find the risk</a:t>
            </a:r>
          </a:p>
        </p:txBody>
      </p:sp>
      <p:sp>
        <p:nvSpPr>
          <p:cNvPr id="9" name="text-98-490">
            <a:extLst xmlns:a="http://schemas.openxmlformats.org/drawingml/2006/main">
              <a:ext uri="{FF2B5EF4-FFF2-40B4-BE49-F238E27FC236}">
                <a16:creationId xmlns:a16="http://schemas.microsoft.com/office/drawing/2014/main" id="{875CFC19-0DB3-4EEE-8718-D7E12517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2095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Rank all six buildings using direct operational evidence.</a:t>
            </a:r>
          </a:p>
        </p:txBody>
      </p:sp>
      <p:sp>
        <p:nvSpPr>
          <p:cNvPr id="10" name="text-387-398">
            <a:extLst xmlns:a="http://schemas.openxmlformats.org/drawingml/2006/main">
              <a:ext uri="{FF2B5EF4-FFF2-40B4-BE49-F238E27FC236}">
                <a16:creationId xmlns:a16="http://schemas.microsoft.com/office/drawing/2014/main" id="{3B44B2CB-4A83-4838-8A8D-B97C4894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7909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text-387-442">
            <a:extLst xmlns:a="http://schemas.openxmlformats.org/drawingml/2006/main">
              <a:ext uri="{FF2B5EF4-FFF2-40B4-BE49-F238E27FC236}">
                <a16:creationId xmlns:a16="http://schemas.microsoft.com/office/drawing/2014/main" id="{3FEE7A1C-6FB4-4C25-9E88-8901D0A1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2100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Explain the why</a:t>
            </a:r>
          </a:p>
        </p:txBody>
      </p:sp>
      <p:sp>
        <p:nvSpPr>
          <p:cNvPr id="12" name="text-387-490">
            <a:extLst xmlns:a="http://schemas.openxmlformats.org/drawingml/2006/main">
              <a:ext uri="{FF2B5EF4-FFF2-40B4-BE49-F238E27FC236}">
                <a16:creationId xmlns:a16="http://schemas.microsoft.com/office/drawing/2014/main" id="{C7AE6F0D-DF65-4615-9562-B292C196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667250"/>
            <a:ext cx="2095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Show the measurement, threshold, and points behind the label.</a:t>
            </a:r>
          </a:p>
        </p:txBody>
      </p:sp>
      <p:sp>
        <p:nvSpPr>
          <p:cNvPr id="13" name="text-676-398">
            <a:extLst xmlns:a="http://schemas.openxmlformats.org/drawingml/2006/main">
              <a:ext uri="{FF2B5EF4-FFF2-40B4-BE49-F238E27FC236}">
                <a16:creationId xmlns:a16="http://schemas.microsoft.com/office/drawing/2014/main" id="{F861D248-57F5-4BE2-8B13-7FCB0456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909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-676-442">
            <a:extLst xmlns:a="http://schemas.openxmlformats.org/drawingml/2006/main">
              <a:ext uri="{FF2B5EF4-FFF2-40B4-BE49-F238E27FC236}">
                <a16:creationId xmlns:a16="http://schemas.microsoft.com/office/drawing/2014/main" id="{B66D651D-8793-4A0F-9C5D-E30EF2AA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100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Project outcomes</a:t>
            </a:r>
          </a:p>
        </p:txBody>
      </p:sp>
      <p:sp>
        <p:nvSpPr>
          <p:cNvPr id="15" name="text-676-490">
            <a:extLst xmlns:a="http://schemas.openxmlformats.org/drawingml/2006/main">
              <a:ext uri="{FF2B5EF4-FFF2-40B4-BE49-F238E27FC236}">
                <a16:creationId xmlns:a16="http://schemas.microsoft.com/office/drawing/2014/main" id="{7EFD02B3-204A-4C51-8BF2-5C9D1D4A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67250"/>
            <a:ext cx="2095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Estimate Day 35 weight and final harvest recovery.</a:t>
            </a:r>
          </a:p>
        </p:txBody>
      </p:sp>
      <p:sp>
        <p:nvSpPr>
          <p:cNvPr id="16" name="text-965-398">
            <a:extLst xmlns:a="http://schemas.openxmlformats.org/drawingml/2006/main">
              <a:ext uri="{FF2B5EF4-FFF2-40B4-BE49-F238E27FC236}">
                <a16:creationId xmlns:a16="http://schemas.microsoft.com/office/drawing/2014/main" id="{D4B354B5-C5C8-4603-9B8A-FA434542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7909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7" name="text-965-442">
            <a:extLst xmlns:a="http://schemas.openxmlformats.org/drawingml/2006/main">
              <a:ext uri="{FF2B5EF4-FFF2-40B4-BE49-F238E27FC236}">
                <a16:creationId xmlns:a16="http://schemas.microsoft.com/office/drawing/2014/main" id="{3B7901B7-F09F-408F-9931-1A69E48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2100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Act next</a:t>
            </a:r>
          </a:p>
        </p:txBody>
      </p:sp>
      <p:sp>
        <p:nvSpPr>
          <p:cNvPr id="18" name="text-965-490">
            <a:extLst xmlns:a="http://schemas.openxmlformats.org/drawingml/2006/main">
              <a:ext uri="{FF2B5EF4-FFF2-40B4-BE49-F238E27FC236}">
                <a16:creationId xmlns:a16="http://schemas.microsoft.com/office/drawing/2014/main" id="{D54F2D82-0A32-46FA-AF67-DEA51FB9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667250"/>
            <a:ext cx="2095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Map the strongest trigger to a traceable inspection playbook.</a:t>
            </a:r>
          </a:p>
        </p:txBody>
      </p:sp>
    </p:spTree>
    <p:extLst>
      <p:ext uri="{BB962C8B-B14F-4D97-AF65-F5344CB8AC3E}">
        <p14:creationId xmlns:p14="http://schemas.microsoft.com/office/powerpoint/2010/main" val="3450432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-3">
            <a:extLst xmlns:a="http://schemas.openxmlformats.org/drawingml/2006/main">
              <a:ext uri="{FF2B5EF4-FFF2-40B4-BE49-F238E27FC236}">
                <a16:creationId xmlns:a16="http://schemas.microsoft.com/office/drawing/2014/main" id="{8ADEF045-9644-471D-9FBC-10785A23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A429ACEC-5B25-4DD8-9DB0-42676B8B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methodology starts with leakage-safe data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FFC204EC-A7F6-41BB-9121-B0AF43F6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5" name="text-42-154">
            <a:extLst xmlns:a="http://schemas.openxmlformats.org/drawingml/2006/main">
              <a:ext uri="{FF2B5EF4-FFF2-40B4-BE49-F238E27FC236}">
                <a16:creationId xmlns:a16="http://schemas.microsoft.com/office/drawing/2014/main" id="{01A51147-A5CD-49A6-ABC1-39C5D6AD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44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Every forecast is recreated as if management were standing on that review date—future records stay hidden.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BA879-1EEF-4967-ABB7-FFE440AD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86125"/>
            <a:ext cx="419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BC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2592DE-69BF-4502-90E5-3E3354DB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86125"/>
            <a:ext cx="419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BC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17FEBD-3535-45E0-8057-6D9B4016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86125"/>
            <a:ext cx="419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BC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F8E33E-BBFE-43D8-9414-A722FDA5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86125"/>
            <a:ext cx="419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BC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-48-256">
            <a:extLst xmlns:a="http://schemas.openxmlformats.org/drawingml/2006/main">
              <a:ext uri="{FF2B5EF4-FFF2-40B4-BE49-F238E27FC236}">
                <a16:creationId xmlns:a16="http://schemas.microsoft.com/office/drawing/2014/main" id="{8B8B7860-EF39-4684-8E24-3078BBA7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457200" y="2819400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2" name="text-48-318">
            <a:extLst xmlns:a="http://schemas.openxmlformats.org/drawingml/2006/main">
              <a:ext uri="{FF2B5EF4-FFF2-40B4-BE49-F238E27FC236}">
                <a16:creationId xmlns:a16="http://schemas.microsoft.com/office/drawing/2014/main" id="{636F314B-C351-45E3-B035-FC81CF53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2895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Source</a:t>
            </a:r>
          </a:p>
        </p:txBody>
      </p:sp>
      <p:sp>
        <p:nvSpPr>
          <p:cNvPr id="13" name="text-48-390">
            <a:extLst xmlns:a="http://schemas.openxmlformats.org/drawingml/2006/main">
              <a:ext uri="{FF2B5EF4-FFF2-40B4-BE49-F238E27FC236}">
                <a16:creationId xmlns:a16="http://schemas.microsoft.com/office/drawing/2014/main" id="{C64D43B7-4FEE-4345-B023-62B90B64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1,785 rows</a:t>
            </a:r>
          </a:p>
        </p:txBody>
      </p:sp>
      <p:sp>
        <p:nvSpPr>
          <p:cNvPr id="14" name="text-286-256">
            <a:extLst xmlns:a="http://schemas.openxmlformats.org/drawingml/2006/main">
              <a:ext uri="{FF2B5EF4-FFF2-40B4-BE49-F238E27FC236}">
                <a16:creationId xmlns:a16="http://schemas.microsoft.com/office/drawing/2014/main" id="{95940C9C-2F4C-4518-9FCF-D6CA7310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38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2724150" y="2819400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6" name="text-286-318">
            <a:extLst xmlns:a="http://schemas.openxmlformats.org/drawingml/2006/main">
              <a:ext uri="{FF2B5EF4-FFF2-40B4-BE49-F238E27FC236}">
                <a16:creationId xmlns:a16="http://schemas.microsoft.com/office/drawing/2014/main" id="{71AF4E6C-A5D9-4D59-B31F-8E10FDF9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2895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Clean</a:t>
            </a:r>
          </a:p>
        </p:txBody>
      </p:sp>
      <p:sp>
        <p:nvSpPr>
          <p:cNvPr id="17" name="text-286-390">
            <a:extLst xmlns:a="http://schemas.openxmlformats.org/drawingml/2006/main">
              <a:ext uri="{FF2B5EF4-FFF2-40B4-BE49-F238E27FC236}">
                <a16:creationId xmlns:a16="http://schemas.microsoft.com/office/drawing/2014/main" id="{2B21F99C-760E-4E7E-B2E9-1090812F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71475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1,666 building-days</a:t>
            </a:r>
          </a:p>
        </p:txBody>
      </p:sp>
      <p:sp>
        <p:nvSpPr>
          <p:cNvPr id="18" name="text-524-256">
            <a:extLst xmlns:a="http://schemas.openxmlformats.org/drawingml/2006/main">
              <a:ext uri="{FF2B5EF4-FFF2-40B4-BE49-F238E27FC236}">
                <a16:creationId xmlns:a16="http://schemas.microsoft.com/office/drawing/2014/main" id="{FC162171-66E6-48DE-9E4B-47F5B0D6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438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cxnSp>
        <p:nvCxnSpPr>
          <p:cNvPr id="51" name=""/>
          <p:cNvCxnSpPr/>
          <p:nvPr/>
        </p:nvCxnSpPr>
        <p:spPr>
          <a:xfrm xmlns:a="http://schemas.openxmlformats.org/drawingml/2006/main">
            <a:off x="4991100" y="2819400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0" name="text-524-318">
            <a:extLst xmlns:a="http://schemas.openxmlformats.org/drawingml/2006/main">
              <a:ext uri="{FF2B5EF4-FFF2-40B4-BE49-F238E27FC236}">
                <a16:creationId xmlns:a16="http://schemas.microsoft.com/office/drawing/2014/main" id="{15B1B8FC-449A-4674-889D-2EBBB63A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2895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Outcomes</a:t>
            </a:r>
          </a:p>
        </p:txBody>
      </p:sp>
      <p:sp>
        <p:nvSpPr>
          <p:cNvPr id="21" name="text-524-390">
            <a:extLst xmlns:a="http://schemas.openxmlformats.org/drawingml/2006/main">
              <a:ext uri="{FF2B5EF4-FFF2-40B4-BE49-F238E27FC236}">
                <a16:creationId xmlns:a16="http://schemas.microsoft.com/office/drawing/2014/main" id="{2FBF2FF5-7C61-4E52-87BD-7AD6DC32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1475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25 recovery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31 weight</a:t>
            </a:r>
          </a:p>
        </p:txBody>
      </p:sp>
      <p:sp>
        <p:nvSpPr>
          <p:cNvPr id="22" name="text-762-256">
            <a:extLst xmlns:a="http://schemas.openxmlformats.org/drawingml/2006/main">
              <a:ext uri="{FF2B5EF4-FFF2-40B4-BE49-F238E27FC236}">
                <a16:creationId xmlns:a16="http://schemas.microsoft.com/office/drawing/2014/main" id="{7F220484-6C4C-4413-A022-1F815B82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38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cxnSp>
        <p:nvCxnSpPr>
          <p:cNvPr id="55" name=""/>
          <p:cNvCxnSpPr/>
          <p:nvPr/>
        </p:nvCxnSpPr>
        <p:spPr>
          <a:xfrm xmlns:a="http://schemas.openxmlformats.org/drawingml/2006/main">
            <a:off x="7258050" y="2819400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4" name="text-762-318">
            <a:extLst xmlns:a="http://schemas.openxmlformats.org/drawingml/2006/main">
              <a:ext uri="{FF2B5EF4-FFF2-40B4-BE49-F238E27FC236}">
                <a16:creationId xmlns:a16="http://schemas.microsoft.com/office/drawing/2014/main" id="{62FC1CCC-ABC2-4C41-9E1A-6E57C2EC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2895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Snapshots</a:t>
            </a:r>
          </a:p>
        </p:txBody>
      </p:sp>
      <p:sp>
        <p:nvSpPr>
          <p:cNvPr id="25" name="text-762-390">
            <a:extLst xmlns:a="http://schemas.openxmlformats.org/drawingml/2006/main">
              <a:ext uri="{FF2B5EF4-FFF2-40B4-BE49-F238E27FC236}">
                <a16:creationId xmlns:a16="http://schemas.microsoft.com/office/drawing/2014/main" id="{3ECE0F2F-1C36-49B3-AF52-BD100E29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1475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122 recovery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124 weight</a:t>
            </a:r>
          </a:p>
        </p:txBody>
      </p:sp>
      <p:sp>
        <p:nvSpPr>
          <p:cNvPr id="26" name="text-1000-256">
            <a:extLst xmlns:a="http://schemas.openxmlformats.org/drawingml/2006/main">
              <a:ext uri="{FF2B5EF4-FFF2-40B4-BE49-F238E27FC236}">
                <a16:creationId xmlns:a16="http://schemas.microsoft.com/office/drawing/2014/main" id="{B154EEA3-ABC8-4104-8E62-AE9C0CD9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38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9525000" y="2819400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8" name="text-1000-318">
            <a:extLst xmlns:a="http://schemas.openxmlformats.org/drawingml/2006/main">
              <a:ext uri="{FF2B5EF4-FFF2-40B4-BE49-F238E27FC236}">
                <a16:creationId xmlns:a16="http://schemas.microsoft.com/office/drawing/2014/main" id="{66373F43-ABC8-4564-A877-2C47B8E5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2895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</p:txBody>
      </p:sp>
      <p:sp>
        <p:nvSpPr>
          <p:cNvPr id="29" name="text-1000-390">
            <a:extLst xmlns:a="http://schemas.openxmlformats.org/drawingml/2006/main">
              <a:ext uri="{FF2B5EF4-FFF2-40B4-BE49-F238E27FC236}">
                <a16:creationId xmlns:a16="http://schemas.microsoft.com/office/drawing/2014/main" id="{9ED6C9B7-E57A-456C-A845-79E95075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1475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Hold out</a:t>
            </a:r>
          </a:p>
          <a:p xmlns:a="http://schemas.openxmlformats.org/drawingml/2006/main">
            <a:pPr algn="l">
              <a:defRPr sz="18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whole cycles</a:t>
            </a:r>
          </a:p>
        </p:txBody>
      </p:sp>
      <p:sp>
        <p:nvSpPr>
          <p:cNvPr id="30" name="leakage-callout">
            <a:extLst xmlns:a="http://schemas.openxmlformats.org/drawingml/2006/main">
              <a:ext uri="{FF2B5EF4-FFF2-40B4-BE49-F238E27FC236}">
                <a16:creationId xmlns:a16="http://schemas.microsoft.com/office/drawing/2014/main" id="{6B768058-7E14-4A50-9355-8F8FF194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ext-64-570">
            <a:extLst xmlns:a="http://schemas.openxmlformats.org/drawingml/2006/main">
              <a:ext uri="{FF2B5EF4-FFF2-40B4-BE49-F238E27FC236}">
                <a16:creationId xmlns:a16="http://schemas.microsoft.com/office/drawing/2014/main" id="{4BAB6A45-8A70-4AB9-9BC3-1520A219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Key defense point</a:t>
            </a:r>
          </a:p>
        </p:txBody>
      </p:sp>
      <p:sp>
        <p:nvSpPr>
          <p:cNvPr id="32" name="text-276-568">
            <a:extLst xmlns:a="http://schemas.openxmlformats.org/drawingml/2006/main">
              <a:ext uri="{FF2B5EF4-FFF2-40B4-BE49-F238E27FC236}">
                <a16:creationId xmlns:a16="http://schemas.microsoft.com/office/drawing/2014/main" id="{09CF6C49-1B5D-431D-92B8-EF5F5314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41020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12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Rows from the held-out harvest cycle never appear in training, and earlier snapshots never contain later checkpoint weights.</a:t>
            </a:r>
          </a:p>
        </p:txBody>
      </p:sp>
    </p:spTree>
    <p:extLst>
      <p:ext uri="{BB962C8B-B14F-4D97-AF65-F5344CB8AC3E}">
        <p14:creationId xmlns:p14="http://schemas.microsoft.com/office/powerpoint/2010/main" val="14941679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4">
            <a:extLst xmlns:a="http://schemas.openxmlformats.org/drawingml/2006/main">
              <a:ext uri="{FF2B5EF4-FFF2-40B4-BE49-F238E27FC236}">
                <a16:creationId xmlns:a16="http://schemas.microsoft.com/office/drawing/2014/main" id="{3BA99739-9F3D-4258-A78C-29E9AE1D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207F54E8-5935-4BF2-93C7-B51B1F5A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Three separate engines turn evidence into action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37A84958-FECB-4985-9416-E0164BF7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5" name="text-52-178">
            <a:extLst xmlns:a="http://schemas.openxmlformats.org/drawingml/2006/main">
              <a:ext uri="{FF2B5EF4-FFF2-40B4-BE49-F238E27FC236}">
                <a16:creationId xmlns:a16="http://schemas.microsoft.com/office/drawing/2014/main" id="{16731FB9-9C4E-4376-A5A7-0863E3FD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95450"/>
            <a:ext cx="95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text-52-270">
            <a:extLst xmlns:a="http://schemas.openxmlformats.org/drawingml/2006/main">
              <a:ext uri="{FF2B5EF4-FFF2-40B4-BE49-F238E27FC236}">
                <a16:creationId xmlns:a16="http://schemas.microsoft.com/office/drawing/2014/main" id="{4102E469-B854-4214-A6E8-5087384D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Rules-based risk</a:t>
            </a:r>
          </a:p>
        </p:txBody>
      </p:sp>
      <p:sp>
        <p:nvSpPr>
          <p:cNvPr id="7" name="text-52-334">
            <a:extLst xmlns:a="http://schemas.openxmlformats.org/drawingml/2006/main">
              <a:ext uri="{FF2B5EF4-FFF2-40B4-BE49-F238E27FC236}">
                <a16:creationId xmlns:a16="http://schemas.microsoft.com/office/drawing/2014/main" id="{8E2B7022-D862-44E4-8785-86826883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813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Who needs attention—and why?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495300" y="4095750"/>
            <a:ext cx="3143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F3C"/>
            </a:solidFill>
            <a:prstDash val="solid"/>
          </a:ln>
        </p:spPr>
      </p:cxnSp>
      <p:sp>
        <p:nvSpPr>
          <p:cNvPr id="9" name="text-52-458">
            <a:extLst xmlns:a="http://schemas.openxmlformats.org/drawingml/2006/main">
              <a:ext uri="{FF2B5EF4-FFF2-40B4-BE49-F238E27FC236}">
                <a16:creationId xmlns:a16="http://schemas.microsoft.com/office/drawing/2014/main" id="{96661211-F9EC-4F19-ACD8-6D565B4A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62450"/>
            <a:ext cx="3143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0–12 score</a:t>
            </a:r>
          </a:p>
          <a:p xmlns:a="http://schemas.openxmlformats.org/drawingml/2006/main">
            <a:pPr algn="l">
              <a:def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Low / Medium / High / Critical</a:t>
            </a:r>
          </a:p>
        </p:txBody>
      </p:sp>
      <p:sp>
        <p:nvSpPr>
          <p:cNvPr id="10" name="text-445-178">
            <a:extLst xmlns:a="http://schemas.openxmlformats.org/drawingml/2006/main">
              <a:ext uri="{FF2B5EF4-FFF2-40B4-BE49-F238E27FC236}">
                <a16:creationId xmlns:a16="http://schemas.microsoft.com/office/drawing/2014/main" id="{C3B67B38-AA06-4B09-B011-5EBFDD43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695450"/>
            <a:ext cx="95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text-445-270">
            <a:extLst xmlns:a="http://schemas.openxmlformats.org/drawingml/2006/main">
              <a:ext uri="{FF2B5EF4-FFF2-40B4-BE49-F238E27FC236}">
                <a16:creationId xmlns:a16="http://schemas.microsoft.com/office/drawing/2014/main" id="{E38CBAEA-B6A5-4C00-A217-0492CA7F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5717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Predictive forecasts</a:t>
            </a:r>
          </a:p>
        </p:txBody>
      </p:sp>
      <p:sp>
        <p:nvSpPr>
          <p:cNvPr id="12" name="text-445-334">
            <a:extLst xmlns:a="http://schemas.openxmlformats.org/drawingml/2006/main">
              <a:ext uri="{FF2B5EF4-FFF2-40B4-BE49-F238E27FC236}">
                <a16:creationId xmlns:a16="http://schemas.microsoft.com/office/drawing/2014/main" id="{295AEAB1-E008-418C-81E4-964759DF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813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What outcomes are currently expected?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4238625" y="4095750"/>
            <a:ext cx="3143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F3C"/>
            </a:solidFill>
            <a:prstDash val="solid"/>
          </a:ln>
        </p:spPr>
      </p:cxnSp>
      <p:sp>
        <p:nvSpPr>
          <p:cNvPr id="14" name="text-445-458">
            <a:extLst xmlns:a="http://schemas.openxmlformats.org/drawingml/2006/main">
              <a:ext uri="{FF2B5EF4-FFF2-40B4-BE49-F238E27FC236}">
                <a16:creationId xmlns:a16="http://schemas.microsoft.com/office/drawing/2014/main" id="{DE47FC0D-9E4A-4333-8BD2-75CEA5A9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362450"/>
            <a:ext cx="3143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Day 35 weight</a:t>
            </a:r>
          </a:p>
          <a:p xmlns:a="http://schemas.openxmlformats.org/drawingml/2006/main">
            <a:pPr algn="l">
              <a:def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Final harvest recovery</a:t>
            </a:r>
          </a:p>
        </p:txBody>
      </p:sp>
      <p:sp>
        <p:nvSpPr>
          <p:cNvPr id="15" name="text-838-178">
            <a:extLst xmlns:a="http://schemas.openxmlformats.org/drawingml/2006/main">
              <a:ext uri="{FF2B5EF4-FFF2-40B4-BE49-F238E27FC236}">
                <a16:creationId xmlns:a16="http://schemas.microsoft.com/office/drawing/2014/main" id="{292BC474-DD48-4F93-AFA5-4CEFDE05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95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6" name="text-838-270">
            <a:extLst xmlns:a="http://schemas.openxmlformats.org/drawingml/2006/main">
              <a:ext uri="{FF2B5EF4-FFF2-40B4-BE49-F238E27FC236}">
                <a16:creationId xmlns:a16="http://schemas.microsoft.com/office/drawing/2014/main" id="{2FB99055-2A91-481A-A608-FA48919D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717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Recommendation playbook</a:t>
            </a:r>
          </a:p>
        </p:txBody>
      </p:sp>
      <p:sp>
        <p:nvSpPr>
          <p:cNvPr id="17" name="text-838-334">
            <a:extLst xmlns:a="http://schemas.openxmlformats.org/drawingml/2006/main">
              <a:ext uri="{FF2B5EF4-FFF2-40B4-BE49-F238E27FC236}">
                <a16:creationId xmlns:a16="http://schemas.microsoft.com/office/drawing/2014/main" id="{DA1B0D5F-B433-495C-9B89-5A618216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813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What should management inspect next?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7981950" y="4095750"/>
            <a:ext cx="3143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F3C"/>
            </a:solidFill>
            <a:prstDash val="solid"/>
          </a:ln>
        </p:spPr>
      </p:cxnSp>
      <p:sp>
        <p:nvSpPr>
          <p:cNvPr id="19" name="text-838-458">
            <a:extLst xmlns:a="http://schemas.openxmlformats.org/drawingml/2006/main">
              <a:ext uri="{FF2B5EF4-FFF2-40B4-BE49-F238E27FC236}">
                <a16:creationId xmlns:a16="http://schemas.microsoft.com/office/drawing/2014/main" id="{D08A6DA6-EF4C-4992-9A62-5771097F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62450"/>
            <a:ext cx="3143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Problem pattern</a:t>
            </a:r>
          </a:p>
          <a:p xmlns:a="http://schemas.openxmlformats.org/drawingml/2006/main">
            <a:pPr algn="l">
              <a:def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Action · urgency · rule ID</a:t>
            </a:r>
          </a:p>
        </p:txBody>
      </p:sp>
      <p:sp>
        <p:nvSpPr>
          <p:cNvPr id="20" name="text-52-626">
            <a:extLst xmlns:a="http://schemas.openxmlformats.org/drawingml/2006/main">
              <a:ext uri="{FF2B5EF4-FFF2-40B4-BE49-F238E27FC236}">
                <a16:creationId xmlns:a16="http://schemas.microsoft.com/office/drawing/2014/main" id="{25927480-4B79-41A7-BAB8-01E4F10F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626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risk score is not a probability—and predictions do not add risk points.</a:t>
            </a:r>
          </a:p>
        </p:txBody>
      </p:sp>
    </p:spTree>
    <p:extLst>
      <p:ext uri="{BB962C8B-B14F-4D97-AF65-F5344CB8AC3E}">
        <p14:creationId xmlns:p14="http://schemas.microsoft.com/office/powerpoint/2010/main" val="6800224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5">
            <a:extLst xmlns:a="http://schemas.openxmlformats.org/drawingml/2006/main">
              <a:ext uri="{FF2B5EF4-FFF2-40B4-BE49-F238E27FC236}">
                <a16:creationId xmlns:a16="http://schemas.microsoft.com/office/drawing/2014/main" id="{D4BFE8D1-B218-40B1-9CA6-F24BC931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D43F3F71-BBE9-4537-9375-A1FE9163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Risk scoring uses four direct, auditable checks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FAB844FB-65C3-4DD4-B9B3-3E18233B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5" name="text-48-178">
            <a:extLst xmlns:a="http://schemas.openxmlformats.org/drawingml/2006/main">
              <a:ext uri="{FF2B5EF4-FFF2-40B4-BE49-F238E27FC236}">
                <a16:creationId xmlns:a16="http://schemas.microsoft.com/office/drawing/2014/main" id="{70272385-6FCC-4FBF-94D6-3BB978B7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14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0–3</a:t>
            </a:r>
          </a:p>
        </p:txBody>
      </p:sp>
      <p:sp>
        <p:nvSpPr>
          <p:cNvPr id="6" name="text-180-180">
            <a:extLst xmlns:a="http://schemas.openxmlformats.org/drawingml/2006/main">
              <a:ext uri="{FF2B5EF4-FFF2-40B4-BE49-F238E27FC236}">
                <a16:creationId xmlns:a16="http://schemas.microsoft.com/office/drawing/2014/main" id="{35EA0333-DDCA-4BFB-826D-0E7CC263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7145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WEIGHT GAP</a:t>
            </a:r>
          </a:p>
        </p:txBody>
      </p:sp>
      <p:sp>
        <p:nvSpPr>
          <p:cNvPr id="7" name="text-180-224">
            <a:extLst xmlns:a="http://schemas.openxmlformats.org/drawingml/2006/main">
              <a:ext uri="{FF2B5EF4-FFF2-40B4-BE49-F238E27FC236}">
                <a16:creationId xmlns:a16="http://schemas.microsoft.com/office/drawing/2014/main" id="{23C1BD59-3B38-44A8-82F8-5822AE92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336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Latest measured weight versus the smoothed age target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457200" y="30480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9" name="text-652-178">
            <a:extLst xmlns:a="http://schemas.openxmlformats.org/drawingml/2006/main">
              <a:ext uri="{FF2B5EF4-FFF2-40B4-BE49-F238E27FC236}">
                <a16:creationId xmlns:a16="http://schemas.microsoft.com/office/drawing/2014/main" id="{32CAABB6-0285-4B79-BA5B-6FB3B0CD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95450"/>
            <a:ext cx="114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0–3</a:t>
            </a:r>
          </a:p>
        </p:txBody>
      </p:sp>
      <p:sp>
        <p:nvSpPr>
          <p:cNvPr id="10" name="text-784-180">
            <a:extLst xmlns:a="http://schemas.openxmlformats.org/drawingml/2006/main">
              <a:ext uri="{FF2B5EF4-FFF2-40B4-BE49-F238E27FC236}">
                <a16:creationId xmlns:a16="http://schemas.microsoft.com/office/drawing/2014/main" id="{85E9AD82-C80A-4C27-9CE4-8E9585F1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145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POPULATION LOSS</a:t>
            </a:r>
          </a:p>
        </p:txBody>
      </p:sp>
      <p:sp>
        <p:nvSpPr>
          <p:cNvPr id="11" name="text-784-224">
            <a:extLst xmlns:a="http://schemas.openxmlformats.org/drawingml/2006/main">
              <a:ext uri="{FF2B5EF4-FFF2-40B4-BE49-F238E27FC236}">
                <a16:creationId xmlns:a16="http://schemas.microsoft.com/office/drawing/2014/main" id="{A5FD5530-6562-40D3-B1F5-E2C66C9E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336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Cumulative loss versus beginning population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6210300" y="30480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3" name="text-48-398">
            <a:extLst xmlns:a="http://schemas.openxmlformats.org/drawingml/2006/main">
              <a:ext uri="{FF2B5EF4-FFF2-40B4-BE49-F238E27FC236}">
                <a16:creationId xmlns:a16="http://schemas.microsoft.com/office/drawing/2014/main" id="{60E07D2A-87E2-4AD1-8265-1627FD94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0950"/>
            <a:ext cx="114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0–3</a:t>
            </a:r>
          </a:p>
        </p:txBody>
      </p:sp>
      <p:sp>
        <p:nvSpPr>
          <p:cNvPr id="14" name="text-180-400">
            <a:extLst xmlns:a="http://schemas.openxmlformats.org/drawingml/2006/main">
              <a:ext uri="{FF2B5EF4-FFF2-40B4-BE49-F238E27FC236}">
                <a16:creationId xmlns:a16="http://schemas.microsoft.com/office/drawing/2014/main" id="{C65F2A97-7542-4365-85C9-F87DADD4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00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DAILY MORTALITY</a:t>
            </a:r>
          </a:p>
        </p:txBody>
      </p:sp>
      <p:sp>
        <p:nvSpPr>
          <p:cNvPr id="15" name="text-180-444">
            <a:extLst xmlns:a="http://schemas.openxmlformats.org/drawingml/2006/main">
              <a:ext uri="{FF2B5EF4-FFF2-40B4-BE49-F238E27FC236}">
                <a16:creationId xmlns:a16="http://schemas.microsoft.com/office/drawing/2014/main" id="{7F59C50C-2529-4ED8-A2E6-114090AB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Latest mortality as a percentage of beginning birds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457200" y="51435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7" name="text-652-398">
            <a:extLst xmlns:a="http://schemas.openxmlformats.org/drawingml/2006/main">
              <a:ext uri="{FF2B5EF4-FFF2-40B4-BE49-F238E27FC236}">
                <a16:creationId xmlns:a16="http://schemas.microsoft.com/office/drawing/2014/main" id="{89CB64FB-7DF7-40C2-BED9-93458E5A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90950"/>
            <a:ext cx="114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0–3</a:t>
            </a:r>
          </a:p>
        </p:txBody>
      </p:sp>
      <p:sp>
        <p:nvSpPr>
          <p:cNvPr id="18" name="text-784-400">
            <a:extLst xmlns:a="http://schemas.openxmlformats.org/drawingml/2006/main">
              <a:ext uri="{FF2B5EF4-FFF2-40B4-BE49-F238E27FC236}">
                <a16:creationId xmlns:a16="http://schemas.microsoft.com/office/drawing/2014/main" id="{DCD6CC3A-0885-48EB-9D25-E2C5306F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8100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</p:txBody>
      </p:sp>
      <p:sp>
        <p:nvSpPr>
          <p:cNvPr id="19" name="text-784-444">
            <a:extLst xmlns:a="http://schemas.openxmlformats.org/drawingml/2006/main">
              <a:ext uri="{FF2B5EF4-FFF2-40B4-BE49-F238E27FC236}">
                <a16:creationId xmlns:a16="http://schemas.microsoft.com/office/drawing/2014/main" id="{DACB016E-67D2-46E2-8E1A-74E02493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2291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Temperature and humidity outside age-specific tropical ranges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6210300" y="51435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1" name="risk-label-band">
            <a:extLst xmlns:a="http://schemas.openxmlformats.org/drawingml/2006/main">
              <a:ext uri="{FF2B5EF4-FFF2-40B4-BE49-F238E27FC236}">
                <a16:creationId xmlns:a16="http://schemas.microsoft.com/office/drawing/2014/main" id="{4F77F35A-525D-46B1-9561-AC36491E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76900"/>
            <a:ext cx="10896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-72-612">
            <a:extLst xmlns:a="http://schemas.openxmlformats.org/drawingml/2006/main">
              <a:ext uri="{FF2B5EF4-FFF2-40B4-BE49-F238E27FC236}">
                <a16:creationId xmlns:a16="http://schemas.microsoft.com/office/drawing/2014/main" id="{B2D9A163-C3E8-4CE1-B31E-407CCE9B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TOTAL</a:t>
            </a:r>
          </a:p>
        </p:txBody>
      </p:sp>
      <p:sp>
        <p:nvSpPr>
          <p:cNvPr id="23" name="text-230-608">
            <a:extLst xmlns:a="http://schemas.openxmlformats.org/drawingml/2006/main">
              <a:ext uri="{FF2B5EF4-FFF2-40B4-BE49-F238E27FC236}">
                <a16:creationId xmlns:a16="http://schemas.microsoft.com/office/drawing/2014/main" id="{D98172E9-0B0A-490B-8B5B-69BFEFB1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91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0–1 Low</a:t>
            </a:r>
          </a:p>
        </p:txBody>
      </p:sp>
      <p:sp>
        <p:nvSpPr>
          <p:cNvPr id="24" name="text-446-608">
            <a:extLst xmlns:a="http://schemas.openxmlformats.org/drawingml/2006/main">
              <a:ext uri="{FF2B5EF4-FFF2-40B4-BE49-F238E27FC236}">
                <a16:creationId xmlns:a16="http://schemas.microsoft.com/office/drawing/2014/main" id="{F935AC17-C7B7-4D83-A72B-1DB5B086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7912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2–3 Medium</a:t>
            </a:r>
          </a:p>
        </p:txBody>
      </p:sp>
      <p:sp>
        <p:nvSpPr>
          <p:cNvPr id="25" name="text-690-608">
            <a:extLst xmlns:a="http://schemas.openxmlformats.org/drawingml/2006/main">
              <a:ext uri="{FF2B5EF4-FFF2-40B4-BE49-F238E27FC236}">
                <a16:creationId xmlns:a16="http://schemas.microsoft.com/office/drawing/2014/main" id="{0D80589B-E7E1-4BC0-A9AB-12ECCB3A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912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4–5 High</a:t>
            </a:r>
          </a:p>
        </p:txBody>
      </p:sp>
      <p:sp>
        <p:nvSpPr>
          <p:cNvPr id="26" name="text-900-608">
            <a:extLst xmlns:a="http://schemas.openxmlformats.org/drawingml/2006/main">
              <a:ext uri="{FF2B5EF4-FFF2-40B4-BE49-F238E27FC236}">
                <a16:creationId xmlns:a16="http://schemas.microsoft.com/office/drawing/2014/main" id="{3CA52EE6-2AF3-4151-83A8-49F9433C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9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6–12 Critical</a:t>
            </a:r>
          </a:p>
        </p:txBody>
      </p:sp>
    </p:spTree>
    <p:extLst>
      <p:ext uri="{BB962C8B-B14F-4D97-AF65-F5344CB8AC3E}">
        <p14:creationId xmlns:p14="http://schemas.microsoft.com/office/powerpoint/2010/main" val="14452915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kicker-6">
            <a:extLst xmlns:a="http://schemas.openxmlformats.org/drawingml/2006/main">
              <a:ext uri="{FF2B5EF4-FFF2-40B4-BE49-F238E27FC236}">
                <a16:creationId xmlns:a16="http://schemas.microsoft.com/office/drawing/2014/main" id="{9CF1D95A-3F90-4BB3-95C3-F767ABA6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7F39BB5-8651-4134-81F8-21C5402F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Weight model gates keep the transparent fallback</a:t>
            </a:r>
          </a:p>
        </p:txBody>
      </p:sp>
      <p:cxnSp>
        <p:nvCxnSpPr>
          <p:cNvPr id="58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E7A983CB-0DF5-412A-9238-B0506603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5" name="text-42-148">
            <a:extLst xmlns:a="http://schemas.openxmlformats.org/drawingml/2006/main">
              <a:ext uri="{FF2B5EF4-FFF2-40B4-BE49-F238E27FC236}">
                <a16:creationId xmlns:a16="http://schemas.microsoft.com/office/drawing/2014/main" id="{132383C9-C69A-4943-BAFD-AAAAF99D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Y: remaining gain from the checkpoint to Day 35</a:t>
            </a:r>
          </a:p>
        </p:txBody>
      </p:sp>
      <p:sp>
        <p:nvSpPr>
          <p:cNvPr id="6" name="text-42-184">
            <a:extLst xmlns:a="http://schemas.openxmlformats.org/drawingml/2006/main">
              <a:ext uri="{FF2B5EF4-FFF2-40B4-BE49-F238E27FC236}">
                <a16:creationId xmlns:a16="http://schemas.microsoft.com/office/drawing/2014/main" id="{9672DEC8-CF5A-4E32-A464-BEF2B357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542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X tested: checkpoint weights known by the review date, age, target progress, growth, current survival, and environment-band exposure.</a:t>
            </a:r>
          </a:p>
        </p:txBody>
      </p:sp>
      <p:sp>
        <p:nvSpPr>
          <p:cNvPr id="7" name="model-table-header-278">
            <a:extLst xmlns:a="http://schemas.openxmlformats.org/drawingml/2006/main">
              <a:ext uri="{FF2B5EF4-FFF2-40B4-BE49-F238E27FC236}">
                <a16:creationId xmlns:a16="http://schemas.microsoft.com/office/drawing/2014/main" id="{0A2DE2A4-5041-4C16-8FDC-86AC12BD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47950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0-288">
            <a:extLst xmlns:a="http://schemas.openxmlformats.org/drawingml/2006/main">
              <a:ext uri="{FF2B5EF4-FFF2-40B4-BE49-F238E27FC236}">
                <a16:creationId xmlns:a16="http://schemas.microsoft.com/office/drawing/2014/main" id="{2466D8E4-4C85-4E05-8EA1-1E120C00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4320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Candidate</a:t>
            </a:r>
          </a:p>
        </p:txBody>
      </p:sp>
      <p:sp>
        <p:nvSpPr>
          <p:cNvPr id="9" name="text-210-288">
            <a:extLst xmlns:a="http://schemas.openxmlformats.org/drawingml/2006/main">
              <a:ext uri="{FF2B5EF4-FFF2-40B4-BE49-F238E27FC236}">
                <a16:creationId xmlns:a16="http://schemas.microsoft.com/office/drawing/2014/main" id="{531239B7-33CE-46A6-980A-469BB610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432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3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Cycle MAE</a:t>
            </a:r>
          </a:p>
        </p:txBody>
      </p:sp>
      <p:sp>
        <p:nvSpPr>
          <p:cNvPr id="10" name="text-298-288">
            <a:extLst xmlns:a="http://schemas.openxmlformats.org/drawingml/2006/main">
              <a:ext uri="{FF2B5EF4-FFF2-40B4-BE49-F238E27FC236}">
                <a16:creationId xmlns:a16="http://schemas.microsoft.com/office/drawing/2014/main" id="{853C4A39-FFB6-4E66-B04B-1D00771D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4320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sp>
        <p:nvSpPr>
          <p:cNvPr id="11" name="text-380-288">
            <a:extLst xmlns:a="http://schemas.openxmlformats.org/drawingml/2006/main">
              <a:ext uri="{FF2B5EF4-FFF2-40B4-BE49-F238E27FC236}">
                <a16:creationId xmlns:a16="http://schemas.microsoft.com/office/drawing/2014/main" id="{7F335500-D074-4F56-92A4-F5A1E54D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432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R²</a:t>
            </a:r>
          </a:p>
        </p:txBody>
      </p:sp>
      <p:sp>
        <p:nvSpPr>
          <p:cNvPr id="12" name="text-452-288">
            <a:extLst xmlns:a="http://schemas.openxmlformats.org/drawingml/2006/main">
              <a:ext uri="{FF2B5EF4-FFF2-40B4-BE49-F238E27FC236}">
                <a16:creationId xmlns:a16="http://schemas.microsoft.com/office/drawing/2014/main" id="{FF867964-5209-487F-ADE2-6C832908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43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Decision</a:t>
            </a:r>
          </a:p>
        </p:txBody>
      </p:sp>
      <p:sp>
        <p:nvSpPr>
          <p:cNvPr id="13" name="model-table-row-278-0">
            <a:extLst xmlns:a="http://schemas.openxmlformats.org/drawingml/2006/main">
              <a:ext uri="{FF2B5EF4-FFF2-40B4-BE49-F238E27FC236}">
                <a16:creationId xmlns:a16="http://schemas.microsoft.com/office/drawing/2014/main" id="{82E1DCAC-FF25-4E5E-AB23-166BAF89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57525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9" name=""/>
          <p:cNvCxnSpPr/>
          <p:nvPr/>
        </p:nvCxnSpPr>
        <p:spPr>
          <a:xfrm xmlns:a="http://schemas.openxmlformats.org/drawingml/2006/main">
            <a:off x="400050" y="3467100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5" name="text-50-330">
            <a:extLst xmlns:a="http://schemas.openxmlformats.org/drawingml/2006/main">
              <a:ext uri="{FF2B5EF4-FFF2-40B4-BE49-F238E27FC236}">
                <a16:creationId xmlns:a16="http://schemas.microsoft.com/office/drawing/2014/main" id="{281114EB-1A20-445D-A70A-C5AE41F4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43250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Remaining gain</a:t>
            </a:r>
          </a:p>
        </p:txBody>
      </p:sp>
      <p:sp>
        <p:nvSpPr>
          <p:cNvPr id="16" name="text-210-330">
            <a:extLst xmlns:a="http://schemas.openxmlformats.org/drawingml/2006/main">
              <a:ext uri="{FF2B5EF4-FFF2-40B4-BE49-F238E27FC236}">
                <a16:creationId xmlns:a16="http://schemas.microsoft.com/office/drawing/2014/main" id="{89E1D0D0-0457-4B93-94D4-6681D078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43250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182 g</a:t>
            </a:r>
          </a:p>
        </p:txBody>
      </p:sp>
      <p:sp>
        <p:nvSpPr>
          <p:cNvPr id="17" name="text-298-330">
            <a:extLst xmlns:a="http://schemas.openxmlformats.org/drawingml/2006/main">
              <a:ext uri="{FF2B5EF4-FFF2-40B4-BE49-F238E27FC236}">
                <a16:creationId xmlns:a16="http://schemas.microsoft.com/office/drawing/2014/main" id="{2D0EA35F-5A39-4734-8EC1-EF10A4E9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242 g</a:t>
            </a:r>
          </a:p>
        </p:txBody>
      </p:sp>
      <p:sp>
        <p:nvSpPr>
          <p:cNvPr id="18" name="text-380-330">
            <a:extLst xmlns:a="http://schemas.openxmlformats.org/drawingml/2006/main">
              <a:ext uri="{FF2B5EF4-FFF2-40B4-BE49-F238E27FC236}">
                <a16:creationId xmlns:a16="http://schemas.microsoft.com/office/drawing/2014/main" id="{89D42C6A-6565-4FD7-8305-A0B46358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43250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0.126</a:t>
            </a:r>
          </a:p>
        </p:txBody>
      </p:sp>
      <p:sp>
        <p:nvSpPr>
          <p:cNvPr id="19" name="text-452-330">
            <a:extLst xmlns:a="http://schemas.openxmlformats.org/drawingml/2006/main">
              <a:ext uri="{FF2B5EF4-FFF2-40B4-BE49-F238E27FC236}">
                <a16:creationId xmlns:a16="http://schemas.microsoft.com/office/drawing/2014/main" id="{73D49CC4-998D-467B-9941-0F29FA8D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43250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Selected</a:t>
            </a:r>
          </a:p>
        </p:txBody>
      </p:sp>
      <p:sp>
        <p:nvSpPr>
          <p:cNvPr id="20" name="model-table-row-278-1">
            <a:extLst xmlns:a="http://schemas.openxmlformats.org/drawingml/2006/main">
              <a:ext uri="{FF2B5EF4-FFF2-40B4-BE49-F238E27FC236}">
                <a16:creationId xmlns:a16="http://schemas.microsoft.com/office/drawing/2014/main" id="{021ABF55-AE52-41F0-961C-FD48A0A3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2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76" name=""/>
          <p:cNvCxnSpPr/>
          <p:nvPr/>
        </p:nvCxnSpPr>
        <p:spPr>
          <a:xfrm xmlns:a="http://schemas.openxmlformats.org/drawingml/2006/main">
            <a:off x="400050" y="3876675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2" name="text-50-373">
            <a:extLst xmlns:a="http://schemas.openxmlformats.org/drawingml/2006/main">
              <a:ext uri="{FF2B5EF4-FFF2-40B4-BE49-F238E27FC236}">
                <a16:creationId xmlns:a16="http://schemas.microsoft.com/office/drawing/2014/main" id="{9AA8FFBA-98AB-4C41-9B25-6E767016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52825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Checkpoint linear</a:t>
            </a:r>
          </a:p>
        </p:txBody>
      </p:sp>
      <p:sp>
        <p:nvSpPr>
          <p:cNvPr id="23" name="text-210-373">
            <a:extLst xmlns:a="http://schemas.openxmlformats.org/drawingml/2006/main">
              <a:ext uri="{FF2B5EF4-FFF2-40B4-BE49-F238E27FC236}">
                <a16:creationId xmlns:a16="http://schemas.microsoft.com/office/drawing/2014/main" id="{187F10C8-6107-4E63-9FA8-A4A33E40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552825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208 g</a:t>
            </a:r>
          </a:p>
        </p:txBody>
      </p:sp>
      <p:sp>
        <p:nvSpPr>
          <p:cNvPr id="24" name="text-298-373">
            <a:extLst xmlns:a="http://schemas.openxmlformats.org/drawingml/2006/main">
              <a:ext uri="{FF2B5EF4-FFF2-40B4-BE49-F238E27FC236}">
                <a16:creationId xmlns:a16="http://schemas.microsoft.com/office/drawing/2014/main" id="{C742929E-1BBE-4F80-BBD7-885C7B13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52825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273 g</a:t>
            </a:r>
          </a:p>
        </p:txBody>
      </p:sp>
      <p:sp>
        <p:nvSpPr>
          <p:cNvPr id="25" name="text-380-373">
            <a:extLst xmlns:a="http://schemas.openxmlformats.org/drawingml/2006/main">
              <a:ext uri="{FF2B5EF4-FFF2-40B4-BE49-F238E27FC236}">
                <a16:creationId xmlns:a16="http://schemas.microsoft.com/office/drawing/2014/main" id="{EC6DB04A-8E04-4555-8F8C-A2B8FBB2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52825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−0.118</a:t>
            </a:r>
          </a:p>
        </p:txBody>
      </p:sp>
      <p:sp>
        <p:nvSpPr>
          <p:cNvPr id="26" name="text-452-373">
            <a:extLst xmlns:a="http://schemas.openxmlformats.org/drawingml/2006/main">
              <a:ext uri="{FF2B5EF4-FFF2-40B4-BE49-F238E27FC236}">
                <a16:creationId xmlns:a16="http://schemas.microsoft.com/office/drawing/2014/main" id="{28923B13-A5A8-42BD-9ADA-64490306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5282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Compared</a:t>
            </a:r>
          </a:p>
        </p:txBody>
      </p:sp>
      <p:sp>
        <p:nvSpPr>
          <p:cNvPr id="27" name="model-table-row-278-2">
            <a:extLst xmlns:a="http://schemas.openxmlformats.org/drawingml/2006/main">
              <a:ext uri="{FF2B5EF4-FFF2-40B4-BE49-F238E27FC236}">
                <a16:creationId xmlns:a16="http://schemas.microsoft.com/office/drawing/2014/main" id="{C848B679-0051-4D48-BE21-E49C9B31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83" name=""/>
          <p:cNvCxnSpPr/>
          <p:nvPr/>
        </p:nvCxnSpPr>
        <p:spPr>
          <a:xfrm xmlns:a="http://schemas.openxmlformats.org/drawingml/2006/main">
            <a:off x="400050" y="4286250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9" name="text-50-416">
            <a:extLst xmlns:a="http://schemas.openxmlformats.org/drawingml/2006/main">
              <a:ext uri="{FF2B5EF4-FFF2-40B4-BE49-F238E27FC236}">
                <a16:creationId xmlns:a16="http://schemas.microsoft.com/office/drawing/2014/main" id="{CBCF4C4D-C83E-4963-B823-38E91579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62400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Ridge</a:t>
            </a:r>
          </a:p>
        </p:txBody>
      </p:sp>
      <p:sp>
        <p:nvSpPr>
          <p:cNvPr id="30" name="text-210-416">
            <a:extLst xmlns:a="http://schemas.openxmlformats.org/drawingml/2006/main">
              <a:ext uri="{FF2B5EF4-FFF2-40B4-BE49-F238E27FC236}">
                <a16:creationId xmlns:a16="http://schemas.microsoft.com/office/drawing/2014/main" id="{746BB3FE-2837-4021-997F-25E5C24D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962400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200 g</a:t>
            </a:r>
          </a:p>
        </p:txBody>
      </p:sp>
      <p:sp>
        <p:nvSpPr>
          <p:cNvPr id="31" name="text-298-416">
            <a:extLst xmlns:a="http://schemas.openxmlformats.org/drawingml/2006/main">
              <a:ext uri="{FF2B5EF4-FFF2-40B4-BE49-F238E27FC236}">
                <a16:creationId xmlns:a16="http://schemas.microsoft.com/office/drawing/2014/main" id="{AA6C2901-9C61-41A2-BC98-612D896C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962400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264 g</a:t>
            </a:r>
          </a:p>
        </p:txBody>
      </p:sp>
      <p:sp>
        <p:nvSpPr>
          <p:cNvPr id="32" name="text-380-416">
            <a:extLst xmlns:a="http://schemas.openxmlformats.org/drawingml/2006/main">
              <a:ext uri="{FF2B5EF4-FFF2-40B4-BE49-F238E27FC236}">
                <a16:creationId xmlns:a16="http://schemas.microsoft.com/office/drawing/2014/main" id="{90824C64-4465-4835-9C49-22589D42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962400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−0.045</a:t>
            </a:r>
          </a:p>
        </p:txBody>
      </p:sp>
      <p:sp>
        <p:nvSpPr>
          <p:cNvPr id="33" name="text-452-416">
            <a:extLst xmlns:a="http://schemas.openxmlformats.org/drawingml/2006/main">
              <a:ext uri="{FF2B5EF4-FFF2-40B4-BE49-F238E27FC236}">
                <a16:creationId xmlns:a16="http://schemas.microsoft.com/office/drawing/2014/main" id="{058B3BB1-B091-4DEA-A896-0944BB5F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Compared</a:t>
            </a:r>
          </a:p>
        </p:txBody>
      </p:sp>
      <p:sp>
        <p:nvSpPr>
          <p:cNvPr id="34" name="model-table-row-278-3">
            <a:extLst xmlns:a="http://schemas.openxmlformats.org/drawingml/2006/main">
              <a:ext uri="{FF2B5EF4-FFF2-40B4-BE49-F238E27FC236}">
                <a16:creationId xmlns:a16="http://schemas.microsoft.com/office/drawing/2014/main" id="{58C7AF02-5971-4F1C-9D2E-ACEAC0B2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2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90" name=""/>
          <p:cNvCxnSpPr/>
          <p:nvPr/>
        </p:nvCxnSpPr>
        <p:spPr>
          <a:xfrm xmlns:a="http://schemas.openxmlformats.org/drawingml/2006/main">
            <a:off x="400050" y="4695825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36" name="text-50-459">
            <a:extLst xmlns:a="http://schemas.openxmlformats.org/drawingml/2006/main">
              <a:ext uri="{FF2B5EF4-FFF2-40B4-BE49-F238E27FC236}">
                <a16:creationId xmlns:a16="http://schemas.microsoft.com/office/drawing/2014/main" id="{3050CDE9-C6AA-464A-9582-F30F988E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71975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Robust Huber</a:t>
            </a:r>
          </a:p>
        </p:txBody>
      </p:sp>
      <p:sp>
        <p:nvSpPr>
          <p:cNvPr id="37" name="text-210-459">
            <a:extLst xmlns:a="http://schemas.openxmlformats.org/drawingml/2006/main">
              <a:ext uri="{FF2B5EF4-FFF2-40B4-BE49-F238E27FC236}">
                <a16:creationId xmlns:a16="http://schemas.microsoft.com/office/drawing/2014/main" id="{1B9C9B63-2051-4D66-B8C0-34C41A33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371975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223 g</a:t>
            </a:r>
          </a:p>
        </p:txBody>
      </p:sp>
      <p:sp>
        <p:nvSpPr>
          <p:cNvPr id="38" name="text-298-459">
            <a:extLst xmlns:a="http://schemas.openxmlformats.org/drawingml/2006/main">
              <a:ext uri="{FF2B5EF4-FFF2-40B4-BE49-F238E27FC236}">
                <a16:creationId xmlns:a16="http://schemas.microsoft.com/office/drawing/2014/main" id="{04EBEEC0-7528-4D04-9372-2252F207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71975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276 g</a:t>
            </a:r>
          </a:p>
        </p:txBody>
      </p:sp>
      <p:sp>
        <p:nvSpPr>
          <p:cNvPr id="39" name="text-380-459">
            <a:extLst xmlns:a="http://schemas.openxmlformats.org/drawingml/2006/main">
              <a:ext uri="{FF2B5EF4-FFF2-40B4-BE49-F238E27FC236}">
                <a16:creationId xmlns:a16="http://schemas.microsoft.com/office/drawing/2014/main" id="{7EA5FCBA-53C2-43AA-86B7-C9ED5D68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71975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−0.144</a:t>
            </a:r>
          </a:p>
        </p:txBody>
      </p:sp>
      <p:sp>
        <p:nvSpPr>
          <p:cNvPr id="40" name="text-452-459">
            <a:extLst xmlns:a="http://schemas.openxmlformats.org/drawingml/2006/main">
              <a:ext uri="{FF2B5EF4-FFF2-40B4-BE49-F238E27FC236}">
                <a16:creationId xmlns:a16="http://schemas.microsoft.com/office/drawing/2014/main" id="{49280F14-8CDB-407B-B4FE-0C410932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7197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Compared</a:t>
            </a:r>
          </a:p>
        </p:txBody>
      </p:sp>
      <p:sp>
        <p:nvSpPr>
          <p:cNvPr id="41" name="model-table-row-278-4">
            <a:extLst xmlns:a="http://schemas.openxmlformats.org/drawingml/2006/main">
              <a:ext uri="{FF2B5EF4-FFF2-40B4-BE49-F238E27FC236}">
                <a16:creationId xmlns:a16="http://schemas.microsoft.com/office/drawing/2014/main" id="{A0493B00-F0CA-4E17-B66B-EB045DAC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97" name=""/>
          <p:cNvCxnSpPr/>
          <p:nvPr/>
        </p:nvCxnSpPr>
        <p:spPr>
          <a:xfrm xmlns:a="http://schemas.openxmlformats.org/drawingml/2006/main">
            <a:off x="400050" y="5105400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3" name="text-50-502">
            <a:extLst xmlns:a="http://schemas.openxmlformats.org/drawingml/2006/main">
              <a:ext uri="{FF2B5EF4-FFF2-40B4-BE49-F238E27FC236}">
                <a16:creationId xmlns:a16="http://schemas.microsoft.com/office/drawing/2014/main" id="{005ACF08-CC22-4622-8BFD-6CC97628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781550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Gradient Boosting</a:t>
            </a:r>
          </a:p>
        </p:txBody>
      </p:sp>
      <p:sp>
        <p:nvSpPr>
          <p:cNvPr id="44" name="text-210-502">
            <a:extLst xmlns:a="http://schemas.openxmlformats.org/drawingml/2006/main">
              <a:ext uri="{FF2B5EF4-FFF2-40B4-BE49-F238E27FC236}">
                <a16:creationId xmlns:a16="http://schemas.microsoft.com/office/drawing/2014/main" id="{532A814D-E999-4EB4-B9B5-C54A6A36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81550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207 g</a:t>
            </a:r>
          </a:p>
        </p:txBody>
      </p:sp>
      <p:sp>
        <p:nvSpPr>
          <p:cNvPr id="45" name="text-298-502">
            <a:extLst xmlns:a="http://schemas.openxmlformats.org/drawingml/2006/main">
              <a:ext uri="{FF2B5EF4-FFF2-40B4-BE49-F238E27FC236}">
                <a16:creationId xmlns:a16="http://schemas.microsoft.com/office/drawing/2014/main" id="{4370039C-373D-403D-8A92-B301D1E5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781550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262 g</a:t>
            </a:r>
          </a:p>
        </p:txBody>
      </p:sp>
      <p:sp>
        <p:nvSpPr>
          <p:cNvPr id="46" name="text-380-502">
            <a:extLst xmlns:a="http://schemas.openxmlformats.org/drawingml/2006/main">
              <a:ext uri="{FF2B5EF4-FFF2-40B4-BE49-F238E27FC236}">
                <a16:creationId xmlns:a16="http://schemas.microsoft.com/office/drawing/2014/main" id="{FEFFE23D-5AAE-4C41-89A1-9A5C4FC9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81550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−0.026</a:t>
            </a:r>
          </a:p>
        </p:txBody>
      </p:sp>
      <p:sp>
        <p:nvSpPr>
          <p:cNvPr id="47" name="text-452-502">
            <a:extLst xmlns:a="http://schemas.openxmlformats.org/drawingml/2006/main">
              <a:ext uri="{FF2B5EF4-FFF2-40B4-BE49-F238E27FC236}">
                <a16:creationId xmlns:a16="http://schemas.microsoft.com/office/drawing/2014/main" id="{D11FB852-F242-452F-84C1-B1B665B2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Best learned</a:t>
            </a:r>
          </a:p>
        </p:txBody>
      </p:sp>
      <p:sp>
        <p:nvSpPr>
          <p:cNvPr id="48" name="text-760-190">
            <a:extLst xmlns:a="http://schemas.openxmlformats.org/drawingml/2006/main">
              <a:ext uri="{FF2B5EF4-FFF2-40B4-BE49-F238E27FC236}">
                <a16:creationId xmlns:a16="http://schemas.microsoft.com/office/drawing/2014/main" id="{B5D9B444-4E17-4654-BD79-AA7D0969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178 g</a:t>
            </a:r>
          </a:p>
        </p:txBody>
      </p:sp>
      <p:sp>
        <p:nvSpPr>
          <p:cNvPr id="49" name="text-760-256">
            <a:extLst xmlns:a="http://schemas.openxmlformats.org/drawingml/2006/main">
              <a:ext uri="{FF2B5EF4-FFF2-40B4-BE49-F238E27FC236}">
                <a16:creationId xmlns:a16="http://schemas.microsoft.com/office/drawing/2014/main" id="{D57A3473-35C2-4482-8BBF-130EF15F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3840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operational overall mean absolute error</a:t>
            </a:r>
          </a:p>
        </p:txBody>
      </p:sp>
      <p:sp>
        <p:nvSpPr>
          <p:cNvPr id="50" name="text-760-334">
            <a:extLst xmlns:a="http://schemas.openxmlformats.org/drawingml/2006/main">
              <a:ext uri="{FF2B5EF4-FFF2-40B4-BE49-F238E27FC236}">
                <a16:creationId xmlns:a16="http://schemas.microsoft.com/office/drawing/2014/main" id="{8B9DF599-249F-40BC-A0FF-074455F7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181 g</a:t>
            </a:r>
          </a:p>
        </p:txBody>
      </p:sp>
      <p:sp>
        <p:nvSpPr>
          <p:cNvPr id="51" name="text-760-400">
            <a:extLst xmlns:a="http://schemas.openxmlformats.org/drawingml/2006/main">
              <a:ext uri="{FF2B5EF4-FFF2-40B4-BE49-F238E27FC236}">
                <a16:creationId xmlns:a16="http://schemas.microsoft.com/office/drawing/2014/main" id="{8C33CD9F-5F2B-41FB-8EC4-C4E88383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1000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Day 14 mean absolute error</a:t>
            </a:r>
          </a:p>
        </p:txBody>
      </p:sp>
      <p:sp>
        <p:nvSpPr>
          <p:cNvPr id="52" name="text-760-478">
            <a:extLst xmlns:a="http://schemas.openxmlformats.org/drawingml/2006/main">
              <a:ext uri="{FF2B5EF4-FFF2-40B4-BE49-F238E27FC236}">
                <a16:creationId xmlns:a16="http://schemas.microsoft.com/office/drawing/2014/main" id="{90593BED-AA63-4E0E-A538-B1626D2C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5295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65%</a:t>
            </a:r>
          </a:p>
        </p:txBody>
      </p:sp>
      <p:sp>
        <p:nvSpPr>
          <p:cNvPr id="53" name="text-760-544">
            <a:extLst xmlns:a="http://schemas.openxmlformats.org/drawingml/2006/main">
              <a:ext uri="{FF2B5EF4-FFF2-40B4-BE49-F238E27FC236}">
                <a16:creationId xmlns:a16="http://schemas.microsoft.com/office/drawing/2014/main" id="{EFBBCB39-E724-4925-91BE-0AD226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8160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predictions within 200 g</a:t>
            </a:r>
          </a:p>
        </p:txBody>
      </p:sp>
      <p:sp>
        <p:nvSpPr>
          <p:cNvPr id="54" name="text-760-590">
            <a:extLst xmlns:a="http://schemas.openxmlformats.org/drawingml/2006/main">
              <a:ext uri="{FF2B5EF4-FFF2-40B4-BE49-F238E27FC236}">
                <a16:creationId xmlns:a16="http://schemas.microsoft.com/office/drawing/2014/main" id="{C6C0B931-4CBC-49F0-A8A6-C5CF2E12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197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Primary selection metric</a:t>
            </a:r>
          </a:p>
        </p:txBody>
      </p:sp>
      <p:sp>
        <p:nvSpPr>
          <p:cNvPr id="55" name="text-978-584">
            <a:extLst xmlns:a="http://schemas.openxmlformats.org/drawingml/2006/main">
              <a:ext uri="{FF2B5EF4-FFF2-40B4-BE49-F238E27FC236}">
                <a16:creationId xmlns:a16="http://schemas.microsoft.com/office/drawing/2014/main" id="{6EFEBA85-28BF-4968-BC58-A192C529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562600"/>
            <a:ext cx="2152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46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Cycle-balanced MAE. RMSE and R² are secondary checks; target-side accuracy tests decision usefulness.</a:t>
            </a:r>
          </a:p>
        </p:txBody>
      </p:sp>
    </p:spTree>
    <p:extLst>
      <p:ext uri="{BB962C8B-B14F-4D97-AF65-F5344CB8AC3E}">
        <p14:creationId xmlns:p14="http://schemas.microsoft.com/office/powerpoint/2010/main" val="10726513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kicker-7">
            <a:extLst xmlns:a="http://schemas.openxmlformats.org/drawingml/2006/main">
              <a:ext uri="{FF2B5EF4-FFF2-40B4-BE49-F238E27FC236}">
                <a16:creationId xmlns:a16="http://schemas.microsoft.com/office/drawing/2014/main" id="{F6A63D9A-2A21-4DEA-A40D-D57DC698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668B6929-4193-4CBF-ADF4-7A56015E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Recovery forecasts estimate gaps, not guarantees</a:t>
            </a:r>
          </a:p>
        </p:txBody>
      </p:sp>
      <p:cxnSp>
        <p:nvCxnSpPr>
          <p:cNvPr id="58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AE02A60F-C378-4817-A22B-411C3666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5" name="text-42-148">
            <a:extLst xmlns:a="http://schemas.openxmlformats.org/drawingml/2006/main">
              <a:ext uri="{FF2B5EF4-FFF2-40B4-BE49-F238E27FC236}">
                <a16:creationId xmlns:a16="http://schemas.microsoft.com/office/drawing/2014/main" id="{C7E396E6-71B7-4AEB-8D42-3915B0D8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561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Y: additional population loss after the review date</a:t>
            </a:r>
          </a:p>
        </p:txBody>
      </p:sp>
      <p:sp>
        <p:nvSpPr>
          <p:cNvPr id="6" name="text-42-184">
            <a:extLst xmlns:a="http://schemas.openxmlformats.org/drawingml/2006/main">
              <a:ext uri="{FF2B5EF4-FFF2-40B4-BE49-F238E27FC236}">
                <a16:creationId xmlns:a16="http://schemas.microsoft.com/office/drawing/2014/main" id="{8116B37A-5EA7-4B5B-9708-2A4E501D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561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X: age, current survival, recent mortality, weight gap/freshness, and temperature/humidity band deviation and freshness. Feed is withheld until its unit is confirmed.</a:t>
            </a:r>
          </a:p>
        </p:txBody>
      </p:sp>
      <p:sp>
        <p:nvSpPr>
          <p:cNvPr id="7" name="model-table-header-286">
            <a:extLst xmlns:a="http://schemas.openxmlformats.org/drawingml/2006/main">
              <a:ext uri="{FF2B5EF4-FFF2-40B4-BE49-F238E27FC236}">
                <a16:creationId xmlns:a16="http://schemas.microsoft.com/office/drawing/2014/main" id="{0F5AA8F1-4868-46F3-B24C-292F4AB9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0-296">
            <a:extLst xmlns:a="http://schemas.openxmlformats.org/drawingml/2006/main">
              <a:ext uri="{FF2B5EF4-FFF2-40B4-BE49-F238E27FC236}">
                <a16:creationId xmlns:a16="http://schemas.microsoft.com/office/drawing/2014/main" id="{316DE662-A7C3-4A58-9B9F-E6747FE0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1940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Candidate</a:t>
            </a:r>
          </a:p>
        </p:txBody>
      </p:sp>
      <p:sp>
        <p:nvSpPr>
          <p:cNvPr id="9" name="text-210-296">
            <a:extLst xmlns:a="http://schemas.openxmlformats.org/drawingml/2006/main">
              <a:ext uri="{FF2B5EF4-FFF2-40B4-BE49-F238E27FC236}">
                <a16:creationId xmlns:a16="http://schemas.microsoft.com/office/drawing/2014/main" id="{96585B78-8C2F-4756-ADC1-014FB9E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194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3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Cycle MAE</a:t>
            </a:r>
          </a:p>
        </p:txBody>
      </p:sp>
      <p:sp>
        <p:nvSpPr>
          <p:cNvPr id="10" name="text-298-296">
            <a:extLst xmlns:a="http://schemas.openxmlformats.org/drawingml/2006/main">
              <a:ext uri="{FF2B5EF4-FFF2-40B4-BE49-F238E27FC236}">
                <a16:creationId xmlns:a16="http://schemas.microsoft.com/office/drawing/2014/main" id="{C71E40E1-796C-40E3-AB7D-FFDBC9DC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1940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sp>
        <p:nvSpPr>
          <p:cNvPr id="11" name="text-380-296">
            <a:extLst xmlns:a="http://schemas.openxmlformats.org/drawingml/2006/main">
              <a:ext uri="{FF2B5EF4-FFF2-40B4-BE49-F238E27FC236}">
                <a16:creationId xmlns:a16="http://schemas.microsoft.com/office/drawing/2014/main" id="{D49F1718-2CD2-4555-9EEF-FF701F7D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194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R²</a:t>
            </a:r>
          </a:p>
        </p:txBody>
      </p:sp>
      <p:sp>
        <p:nvSpPr>
          <p:cNvPr id="12" name="text-452-296">
            <a:extLst xmlns:a="http://schemas.openxmlformats.org/drawingml/2006/main">
              <a:ext uri="{FF2B5EF4-FFF2-40B4-BE49-F238E27FC236}">
                <a16:creationId xmlns:a16="http://schemas.microsoft.com/office/drawing/2014/main" id="{21F8DD7D-9D4D-439C-B042-21F2CB04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194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Decision</a:t>
            </a:r>
          </a:p>
        </p:txBody>
      </p:sp>
      <p:sp>
        <p:nvSpPr>
          <p:cNvPr id="13" name="model-table-row-286-0">
            <a:extLst xmlns:a="http://schemas.openxmlformats.org/drawingml/2006/main">
              <a:ext uri="{FF2B5EF4-FFF2-40B4-BE49-F238E27FC236}">
                <a16:creationId xmlns:a16="http://schemas.microsoft.com/office/drawing/2014/main" id="{12B4E6D0-D8CC-4EE4-8869-9E2E9971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33725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9" name=""/>
          <p:cNvCxnSpPr/>
          <p:nvPr/>
        </p:nvCxnSpPr>
        <p:spPr>
          <a:xfrm xmlns:a="http://schemas.openxmlformats.org/drawingml/2006/main">
            <a:off x="400050" y="3543300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5" name="text-50-338">
            <a:extLst xmlns:a="http://schemas.openxmlformats.org/drawingml/2006/main">
              <a:ext uri="{FF2B5EF4-FFF2-40B4-BE49-F238E27FC236}">
                <a16:creationId xmlns:a16="http://schemas.microsoft.com/office/drawing/2014/main" id="{145B6D2F-5902-479F-8C44-80861FE8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19450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Age-band baseline</a:t>
            </a:r>
          </a:p>
        </p:txBody>
      </p:sp>
      <p:sp>
        <p:nvSpPr>
          <p:cNvPr id="16" name="text-210-338">
            <a:extLst xmlns:a="http://schemas.openxmlformats.org/drawingml/2006/main">
              <a:ext uri="{FF2B5EF4-FFF2-40B4-BE49-F238E27FC236}">
                <a16:creationId xmlns:a16="http://schemas.microsoft.com/office/drawing/2014/main" id="{31F63079-8D0C-404E-8846-7F5EAD73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19450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1.50 pts</a:t>
            </a:r>
          </a:p>
        </p:txBody>
      </p:sp>
      <p:sp>
        <p:nvSpPr>
          <p:cNvPr id="17" name="text-298-338">
            <a:extLst xmlns:a="http://schemas.openxmlformats.org/drawingml/2006/main">
              <a:ext uri="{FF2B5EF4-FFF2-40B4-BE49-F238E27FC236}">
                <a16:creationId xmlns:a16="http://schemas.microsoft.com/office/drawing/2014/main" id="{EB45FCAD-C087-461D-BCD0-2C08C6DA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19450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1.80 pts</a:t>
            </a:r>
          </a:p>
        </p:txBody>
      </p:sp>
      <p:sp>
        <p:nvSpPr>
          <p:cNvPr id="18" name="text-380-338">
            <a:extLst xmlns:a="http://schemas.openxmlformats.org/drawingml/2006/main">
              <a:ext uri="{FF2B5EF4-FFF2-40B4-BE49-F238E27FC236}">
                <a16:creationId xmlns:a16="http://schemas.microsoft.com/office/drawing/2014/main" id="{1B707BEC-36C2-4E89-9DD6-9EDC40E4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19450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0.222</a:t>
            </a:r>
          </a:p>
        </p:txBody>
      </p:sp>
      <p:sp>
        <p:nvSpPr>
          <p:cNvPr id="19" name="text-452-338">
            <a:extLst xmlns:a="http://schemas.openxmlformats.org/drawingml/2006/main">
              <a:ext uri="{FF2B5EF4-FFF2-40B4-BE49-F238E27FC236}">
                <a16:creationId xmlns:a16="http://schemas.microsoft.com/office/drawing/2014/main" id="{5B40D47F-E985-4F5B-97D9-20101548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19450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Selected</a:t>
            </a:r>
          </a:p>
        </p:txBody>
      </p:sp>
      <p:sp>
        <p:nvSpPr>
          <p:cNvPr id="20" name="model-table-row-286-1">
            <a:extLst xmlns:a="http://schemas.openxmlformats.org/drawingml/2006/main">
              <a:ext uri="{FF2B5EF4-FFF2-40B4-BE49-F238E27FC236}">
                <a16:creationId xmlns:a16="http://schemas.microsoft.com/office/drawing/2014/main" id="{30D935CB-8941-4C71-A420-FDA46117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43300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2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76" name=""/>
          <p:cNvCxnSpPr/>
          <p:nvPr/>
        </p:nvCxnSpPr>
        <p:spPr>
          <a:xfrm xmlns:a="http://schemas.openxmlformats.org/drawingml/2006/main">
            <a:off x="400050" y="3952875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2" name="text-50-381">
            <a:extLst xmlns:a="http://schemas.openxmlformats.org/drawingml/2006/main">
              <a:ext uri="{FF2B5EF4-FFF2-40B4-BE49-F238E27FC236}">
                <a16:creationId xmlns:a16="http://schemas.microsoft.com/office/drawing/2014/main" id="{10108A61-67FD-4F39-AA76-36CD89EC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29025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Linear regression</a:t>
            </a:r>
          </a:p>
        </p:txBody>
      </p:sp>
      <p:sp>
        <p:nvSpPr>
          <p:cNvPr id="23" name="text-210-381">
            <a:extLst xmlns:a="http://schemas.openxmlformats.org/drawingml/2006/main">
              <a:ext uri="{FF2B5EF4-FFF2-40B4-BE49-F238E27FC236}">
                <a16:creationId xmlns:a16="http://schemas.microsoft.com/office/drawing/2014/main" id="{38488D50-33BC-4711-A290-F124545D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29025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1.40 pts</a:t>
            </a:r>
          </a:p>
        </p:txBody>
      </p:sp>
      <p:sp>
        <p:nvSpPr>
          <p:cNvPr id="24" name="text-298-381">
            <a:extLst xmlns:a="http://schemas.openxmlformats.org/drawingml/2006/main">
              <a:ext uri="{FF2B5EF4-FFF2-40B4-BE49-F238E27FC236}">
                <a16:creationId xmlns:a16="http://schemas.microsoft.com/office/drawing/2014/main" id="{12679CBA-D7E7-4327-BC32-F61392BD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29025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1.80 pts</a:t>
            </a:r>
          </a:p>
        </p:txBody>
      </p:sp>
      <p:sp>
        <p:nvSpPr>
          <p:cNvPr id="25" name="text-380-381">
            <a:extLst xmlns:a="http://schemas.openxmlformats.org/drawingml/2006/main">
              <a:ext uri="{FF2B5EF4-FFF2-40B4-BE49-F238E27FC236}">
                <a16:creationId xmlns:a16="http://schemas.microsoft.com/office/drawing/2014/main" id="{66B16BE7-626D-4025-843D-24DE7BD0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29025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0.224</a:t>
            </a:r>
          </a:p>
        </p:txBody>
      </p:sp>
      <p:sp>
        <p:nvSpPr>
          <p:cNvPr id="26" name="text-452-381">
            <a:extLst xmlns:a="http://schemas.openxmlformats.org/drawingml/2006/main">
              <a:ext uri="{FF2B5EF4-FFF2-40B4-BE49-F238E27FC236}">
                <a16:creationId xmlns:a16="http://schemas.microsoft.com/office/drawing/2014/main" id="{3FB1BDF3-672B-4AA6-B225-39B38396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2902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Compared</a:t>
            </a:r>
          </a:p>
        </p:txBody>
      </p:sp>
      <p:sp>
        <p:nvSpPr>
          <p:cNvPr id="27" name="model-table-row-286-2">
            <a:extLst xmlns:a="http://schemas.openxmlformats.org/drawingml/2006/main">
              <a:ext uri="{FF2B5EF4-FFF2-40B4-BE49-F238E27FC236}">
                <a16:creationId xmlns:a16="http://schemas.microsoft.com/office/drawing/2014/main" id="{02BA0D01-0D14-4825-8F9F-2D8EBB46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52875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83" name=""/>
          <p:cNvCxnSpPr/>
          <p:nvPr/>
        </p:nvCxnSpPr>
        <p:spPr>
          <a:xfrm xmlns:a="http://schemas.openxmlformats.org/drawingml/2006/main">
            <a:off x="400050" y="4362450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9" name="text-50-424">
            <a:extLst xmlns:a="http://schemas.openxmlformats.org/drawingml/2006/main">
              <a:ext uri="{FF2B5EF4-FFF2-40B4-BE49-F238E27FC236}">
                <a16:creationId xmlns:a16="http://schemas.microsoft.com/office/drawing/2014/main" id="{B63D44F8-6DB4-4F60-8A1E-31C56F4A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38600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Ridge</a:t>
            </a:r>
          </a:p>
        </p:txBody>
      </p:sp>
      <p:sp>
        <p:nvSpPr>
          <p:cNvPr id="30" name="text-210-424">
            <a:extLst xmlns:a="http://schemas.openxmlformats.org/drawingml/2006/main">
              <a:ext uri="{FF2B5EF4-FFF2-40B4-BE49-F238E27FC236}">
                <a16:creationId xmlns:a16="http://schemas.microsoft.com/office/drawing/2014/main" id="{E85ED9DC-BB52-449B-8FA3-8395D294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038600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1.43 pts</a:t>
            </a:r>
          </a:p>
        </p:txBody>
      </p:sp>
      <p:sp>
        <p:nvSpPr>
          <p:cNvPr id="31" name="text-298-424">
            <a:extLst xmlns:a="http://schemas.openxmlformats.org/drawingml/2006/main">
              <a:ext uri="{FF2B5EF4-FFF2-40B4-BE49-F238E27FC236}">
                <a16:creationId xmlns:a16="http://schemas.microsoft.com/office/drawing/2014/main" id="{176A12DA-3911-42F1-B3C4-9F4C9A3B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038600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1.82 pts</a:t>
            </a:r>
          </a:p>
        </p:txBody>
      </p:sp>
      <p:sp>
        <p:nvSpPr>
          <p:cNvPr id="32" name="text-380-424">
            <a:extLst xmlns:a="http://schemas.openxmlformats.org/drawingml/2006/main">
              <a:ext uri="{FF2B5EF4-FFF2-40B4-BE49-F238E27FC236}">
                <a16:creationId xmlns:a16="http://schemas.microsoft.com/office/drawing/2014/main" id="{0EB462FA-D526-4687-8114-6982091B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38600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0.207</a:t>
            </a:r>
          </a:p>
        </p:txBody>
      </p:sp>
      <p:sp>
        <p:nvSpPr>
          <p:cNvPr id="33" name="text-452-424">
            <a:extLst xmlns:a="http://schemas.openxmlformats.org/drawingml/2006/main">
              <a:ext uri="{FF2B5EF4-FFF2-40B4-BE49-F238E27FC236}">
                <a16:creationId xmlns:a16="http://schemas.microsoft.com/office/drawing/2014/main" id="{0E923B0B-E0FD-4CAD-ACAA-AC139461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38600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Compared</a:t>
            </a:r>
          </a:p>
        </p:txBody>
      </p:sp>
      <p:sp>
        <p:nvSpPr>
          <p:cNvPr id="34" name="model-table-row-286-3">
            <a:extLst xmlns:a="http://schemas.openxmlformats.org/drawingml/2006/main">
              <a:ext uri="{FF2B5EF4-FFF2-40B4-BE49-F238E27FC236}">
                <a16:creationId xmlns:a16="http://schemas.microsoft.com/office/drawing/2014/main" id="{55F18CC4-FDDC-42DD-AF6C-E0ED2119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2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90" name=""/>
          <p:cNvCxnSpPr/>
          <p:nvPr/>
        </p:nvCxnSpPr>
        <p:spPr>
          <a:xfrm xmlns:a="http://schemas.openxmlformats.org/drawingml/2006/main">
            <a:off x="400050" y="4772025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36" name="text-50-467">
            <a:extLst xmlns:a="http://schemas.openxmlformats.org/drawingml/2006/main">
              <a:ext uri="{FF2B5EF4-FFF2-40B4-BE49-F238E27FC236}">
                <a16:creationId xmlns:a16="http://schemas.microsoft.com/office/drawing/2014/main" id="{280AE9E7-1E75-47D8-98A6-FAD9E856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48175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Robust Huber</a:t>
            </a:r>
          </a:p>
        </p:txBody>
      </p:sp>
      <p:sp>
        <p:nvSpPr>
          <p:cNvPr id="37" name="text-210-467">
            <a:extLst xmlns:a="http://schemas.openxmlformats.org/drawingml/2006/main">
              <a:ext uri="{FF2B5EF4-FFF2-40B4-BE49-F238E27FC236}">
                <a16:creationId xmlns:a16="http://schemas.microsoft.com/office/drawing/2014/main" id="{4F475606-132D-4836-A24F-2EB18CA8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48175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1.33 pts</a:t>
            </a:r>
          </a:p>
        </p:txBody>
      </p:sp>
      <p:sp>
        <p:nvSpPr>
          <p:cNvPr id="38" name="text-298-467">
            <a:extLst xmlns:a="http://schemas.openxmlformats.org/drawingml/2006/main">
              <a:ext uri="{FF2B5EF4-FFF2-40B4-BE49-F238E27FC236}">
                <a16:creationId xmlns:a16="http://schemas.microsoft.com/office/drawing/2014/main" id="{8F988AB7-CB7D-4B8D-B219-162E84B4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448175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1.76 pts</a:t>
            </a:r>
          </a:p>
        </p:txBody>
      </p:sp>
      <p:sp>
        <p:nvSpPr>
          <p:cNvPr id="39" name="text-380-467">
            <a:extLst xmlns:a="http://schemas.openxmlformats.org/drawingml/2006/main">
              <a:ext uri="{FF2B5EF4-FFF2-40B4-BE49-F238E27FC236}">
                <a16:creationId xmlns:a16="http://schemas.microsoft.com/office/drawing/2014/main" id="{F963DC27-70A5-4A3D-B392-A3A682AB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448175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0.260</a:t>
            </a:r>
          </a:p>
        </p:txBody>
      </p:sp>
      <p:sp>
        <p:nvSpPr>
          <p:cNvPr id="40" name="text-452-467">
            <a:extLst xmlns:a="http://schemas.openxmlformats.org/drawingml/2006/main">
              <a:ext uri="{FF2B5EF4-FFF2-40B4-BE49-F238E27FC236}">
                <a16:creationId xmlns:a16="http://schemas.microsoft.com/office/drawing/2014/main" id="{6AA1E415-2407-4606-A592-544B547D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4817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Best learned</a:t>
            </a:r>
          </a:p>
        </p:txBody>
      </p:sp>
      <p:sp>
        <p:nvSpPr>
          <p:cNvPr id="41" name="model-table-row-286-4">
            <a:extLst xmlns:a="http://schemas.openxmlformats.org/drawingml/2006/main">
              <a:ext uri="{FF2B5EF4-FFF2-40B4-BE49-F238E27FC236}">
                <a16:creationId xmlns:a16="http://schemas.microsoft.com/office/drawing/2014/main" id="{A8E937C6-313B-42EA-BB58-046D91D6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72025"/>
            <a:ext cx="49339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97" name=""/>
          <p:cNvCxnSpPr/>
          <p:nvPr/>
        </p:nvCxnSpPr>
        <p:spPr>
          <a:xfrm xmlns:a="http://schemas.openxmlformats.org/drawingml/2006/main">
            <a:off x="400050" y="5181600"/>
            <a:ext cx="4933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3" name="text-50-510">
            <a:extLst xmlns:a="http://schemas.openxmlformats.org/drawingml/2006/main">
              <a:ext uri="{FF2B5EF4-FFF2-40B4-BE49-F238E27FC236}">
                <a16:creationId xmlns:a16="http://schemas.microsoft.com/office/drawing/2014/main" id="{BD50AD84-FCCF-4829-9D28-1B0B49E6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57750"/>
            <a:ext cx="1371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Gradient Boosting</a:t>
            </a:r>
          </a:p>
        </p:txBody>
      </p:sp>
      <p:sp>
        <p:nvSpPr>
          <p:cNvPr id="44" name="text-210-510">
            <a:extLst xmlns:a="http://schemas.openxmlformats.org/drawingml/2006/main">
              <a:ext uri="{FF2B5EF4-FFF2-40B4-BE49-F238E27FC236}">
                <a16:creationId xmlns:a16="http://schemas.microsoft.com/office/drawing/2014/main" id="{709C2A68-93F6-4474-838B-0E5D63B5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57750"/>
            <a:ext cx="685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1.37 pts</a:t>
            </a:r>
          </a:p>
        </p:txBody>
      </p:sp>
      <p:sp>
        <p:nvSpPr>
          <p:cNvPr id="45" name="text-298-510">
            <a:extLst xmlns:a="http://schemas.openxmlformats.org/drawingml/2006/main">
              <a:ext uri="{FF2B5EF4-FFF2-40B4-BE49-F238E27FC236}">
                <a16:creationId xmlns:a16="http://schemas.microsoft.com/office/drawing/2014/main" id="{3F8B5298-9616-45A8-BD30-658C9CF9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857750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1.78 pts</a:t>
            </a:r>
          </a:p>
        </p:txBody>
      </p:sp>
      <p:sp>
        <p:nvSpPr>
          <p:cNvPr id="46" name="text-380-510">
            <a:extLst xmlns:a="http://schemas.openxmlformats.org/drawingml/2006/main">
              <a:ext uri="{FF2B5EF4-FFF2-40B4-BE49-F238E27FC236}">
                <a16:creationId xmlns:a16="http://schemas.microsoft.com/office/drawing/2014/main" id="{9AC73B5F-CADD-4E09-BF78-59B90350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857750"/>
            <a:ext cx="533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0.243</a:t>
            </a:r>
          </a:p>
        </p:txBody>
      </p:sp>
      <p:sp>
        <p:nvSpPr>
          <p:cNvPr id="47" name="text-452-510">
            <a:extLst xmlns:a="http://schemas.openxmlformats.org/drawingml/2006/main">
              <a:ext uri="{FF2B5EF4-FFF2-40B4-BE49-F238E27FC236}">
                <a16:creationId xmlns:a16="http://schemas.microsoft.com/office/drawing/2014/main" id="{F09DBF70-62B6-4F6F-922C-DE048B9C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Compared</a:t>
            </a:r>
          </a:p>
        </p:txBody>
      </p:sp>
      <p:sp>
        <p:nvSpPr>
          <p:cNvPr id="48" name="text-760-188">
            <a:extLst xmlns:a="http://schemas.openxmlformats.org/drawingml/2006/main">
              <a:ext uri="{FF2B5EF4-FFF2-40B4-BE49-F238E27FC236}">
                <a16:creationId xmlns:a16="http://schemas.microsoft.com/office/drawing/2014/main" id="{B219D814-69ED-4747-AF1A-F313E7D0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9070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1.40 pts</a:t>
            </a:r>
          </a:p>
        </p:txBody>
      </p:sp>
      <p:sp>
        <p:nvSpPr>
          <p:cNvPr id="49" name="text-760-254">
            <a:extLst xmlns:a="http://schemas.openxmlformats.org/drawingml/2006/main">
              <a:ext uri="{FF2B5EF4-FFF2-40B4-BE49-F238E27FC236}">
                <a16:creationId xmlns:a16="http://schemas.microsoft.com/office/drawing/2014/main" id="{D8CCFDA0-6130-4F72-9143-EF8B7953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1935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operational overall mean absolute error</a:t>
            </a:r>
          </a:p>
        </p:txBody>
      </p:sp>
      <p:sp>
        <p:nvSpPr>
          <p:cNvPr id="50" name="text-760-330">
            <a:extLst xmlns:a="http://schemas.openxmlformats.org/drawingml/2006/main">
              <a:ext uri="{FF2B5EF4-FFF2-40B4-BE49-F238E27FC236}">
                <a16:creationId xmlns:a16="http://schemas.microsoft.com/office/drawing/2014/main" id="{8C0B5B37-B346-4DE3-8934-6E3205DB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1.40 pts</a:t>
            </a:r>
          </a:p>
        </p:txBody>
      </p:sp>
      <p:sp>
        <p:nvSpPr>
          <p:cNvPr id="51" name="text-760-396">
            <a:extLst xmlns:a="http://schemas.openxmlformats.org/drawingml/2006/main">
              <a:ext uri="{FF2B5EF4-FFF2-40B4-BE49-F238E27FC236}">
                <a16:creationId xmlns:a16="http://schemas.microsoft.com/office/drawing/2014/main" id="{7E373DD5-B4B8-4726-92DC-40A8DD17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719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Day 14 mean absolute error</a:t>
            </a:r>
          </a:p>
        </p:txBody>
      </p:sp>
      <p:sp>
        <p:nvSpPr>
          <p:cNvPr id="52" name="text-760-472">
            <a:extLst xmlns:a="http://schemas.openxmlformats.org/drawingml/2006/main">
              <a:ext uri="{FF2B5EF4-FFF2-40B4-BE49-F238E27FC236}">
                <a16:creationId xmlns:a16="http://schemas.microsoft.com/office/drawing/2014/main" id="{BA4810CB-5436-47FC-896A-F2FF59BF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11.2%</a:t>
            </a:r>
          </a:p>
        </p:txBody>
      </p:sp>
      <p:sp>
        <p:nvSpPr>
          <p:cNvPr id="53" name="text-760-538">
            <a:extLst xmlns:a="http://schemas.openxmlformats.org/drawingml/2006/main">
              <a:ext uri="{FF2B5EF4-FFF2-40B4-BE49-F238E27FC236}">
                <a16:creationId xmlns:a16="http://schemas.microsoft.com/office/drawing/2014/main" id="{E35D9CB2-15B3-4FC1-85EA-1B0C62F3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2445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Huber cycle-MAE improvement versus baseline</a:t>
            </a:r>
          </a:p>
        </p:txBody>
      </p:sp>
      <p:sp>
        <p:nvSpPr>
          <p:cNvPr id="54" name="recovery-warning">
            <a:extLst xmlns:a="http://schemas.openxmlformats.org/drawingml/2006/main">
              <a:ext uri="{FF2B5EF4-FFF2-40B4-BE49-F238E27FC236}">
                <a16:creationId xmlns:a16="http://schemas.microsoft.com/office/drawing/2014/main" id="{0AD3658E-F39C-4A05-A6B4-44350280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562600"/>
            <a:ext cx="4362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text-772-596">
            <a:extLst xmlns:a="http://schemas.openxmlformats.org/drawingml/2006/main">
              <a:ext uri="{FF2B5EF4-FFF2-40B4-BE49-F238E27FC236}">
                <a16:creationId xmlns:a16="http://schemas.microsoft.com/office/drawing/2014/main" id="{2F6B6E4D-FFB1-4384-BB56-74975EB7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6769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7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44732"/>
                </a:solidFill>
                <a:latin typeface="Helvetica Neue"/>
                <a:ea typeface="Helvetica Neue"/>
                <a:cs typeface="Helvetica Neue"/>
              </a:rPr>
              <a:t>Huber improves MAE, but fails the full deployment gate: rolling-origin stability and 95% target classification remain weak.</a:t>
            </a:r>
          </a:p>
        </p:txBody>
      </p:sp>
    </p:spTree>
    <p:extLst>
      <p:ext uri="{BB962C8B-B14F-4D97-AF65-F5344CB8AC3E}">
        <p14:creationId xmlns:p14="http://schemas.microsoft.com/office/powerpoint/2010/main" val="61335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8">
            <a:extLst xmlns:a="http://schemas.openxmlformats.org/drawingml/2006/main">
              <a:ext uri="{FF2B5EF4-FFF2-40B4-BE49-F238E27FC236}">
                <a16:creationId xmlns:a16="http://schemas.microsoft.com/office/drawing/2014/main" id="{D1356037-A60E-42E8-851A-A7A78E8A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2C40FC5F-D7BC-478F-A502-C9B06FC8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Recommendations connect each trigger to an action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8">
            <a:extLst xmlns:a="http://schemas.openxmlformats.org/drawingml/2006/main">
              <a:ext uri="{FF2B5EF4-FFF2-40B4-BE49-F238E27FC236}">
                <a16:creationId xmlns:a16="http://schemas.microsoft.com/office/drawing/2014/main" id="{58802A89-F662-4C15-95D3-69978273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344BB-E4F1-4820-918F-9428E138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67050"/>
            <a:ext cx="419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BC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7E5D6-659E-4B40-A514-F8D46A2E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67050"/>
            <a:ext cx="4191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BC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2-196">
            <a:extLst xmlns:a="http://schemas.openxmlformats.org/drawingml/2006/main">
              <a:ext uri="{FF2B5EF4-FFF2-40B4-BE49-F238E27FC236}">
                <a16:creationId xmlns:a16="http://schemas.microsoft.com/office/drawing/2014/main" id="{C37499EE-C7C3-4AAC-854E-E26A0FC4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-62-248">
            <a:extLst xmlns:a="http://schemas.openxmlformats.org/drawingml/2006/main">
              <a:ext uri="{FF2B5EF4-FFF2-40B4-BE49-F238E27FC236}">
                <a16:creationId xmlns:a16="http://schemas.microsoft.com/office/drawing/2014/main" id="{FD98735F-BD0E-4E8A-9428-E40C55BC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6220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Recorded trigger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590550" y="3048000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F3C"/>
            </a:solidFill>
            <a:prstDash val="solid"/>
          </a:ln>
        </p:spPr>
      </p:cxnSp>
      <p:sp>
        <p:nvSpPr>
          <p:cNvPr id="10" name="text-62-350">
            <a:extLst xmlns:a="http://schemas.openxmlformats.org/drawingml/2006/main">
              <a:ext uri="{FF2B5EF4-FFF2-40B4-BE49-F238E27FC236}">
                <a16:creationId xmlns:a16="http://schemas.microsoft.com/office/drawing/2014/main" id="{78ABCCA3-33CB-4443-BDAA-29FEB02C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2876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Example: weight gap is the strongest scored issue.</a:t>
            </a:r>
          </a:p>
        </p:txBody>
      </p:sp>
      <p:sp>
        <p:nvSpPr>
          <p:cNvPr id="11" name="text-454-196">
            <a:extLst xmlns:a="http://schemas.openxmlformats.org/drawingml/2006/main">
              <a:ext uri="{FF2B5EF4-FFF2-40B4-BE49-F238E27FC236}">
                <a16:creationId xmlns:a16="http://schemas.microsoft.com/office/drawing/2014/main" id="{7B3D659A-F9DD-4871-8C97-51E8924C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669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text-454-248">
            <a:extLst xmlns:a="http://schemas.openxmlformats.org/drawingml/2006/main">
              <a:ext uri="{FF2B5EF4-FFF2-40B4-BE49-F238E27FC236}">
                <a16:creationId xmlns:a16="http://schemas.microsoft.com/office/drawing/2014/main" id="{FE2314AB-E3E0-4F17-B97E-0368FBC4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6220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Deterministic mapping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4324350" y="3048000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F3C"/>
            </a:solidFill>
            <a:prstDash val="solid"/>
          </a:ln>
        </p:spPr>
      </p:cxnSp>
      <p:sp>
        <p:nvSpPr>
          <p:cNvPr id="14" name="text-454-350">
            <a:extLst xmlns:a="http://schemas.openxmlformats.org/drawingml/2006/main">
              <a:ext uri="{FF2B5EF4-FFF2-40B4-BE49-F238E27FC236}">
                <a16:creationId xmlns:a16="http://schemas.microsoft.com/office/drawing/2014/main" id="{104CA9FE-CEDB-4DAA-B52C-4629508D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33750"/>
            <a:ext cx="2876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Select Doc Raymond's matching rule and urgency from the risk label.</a:t>
            </a:r>
          </a:p>
        </p:txBody>
      </p:sp>
      <p:sp>
        <p:nvSpPr>
          <p:cNvPr id="15" name="text-846-196">
            <a:extLst xmlns:a="http://schemas.openxmlformats.org/drawingml/2006/main">
              <a:ext uri="{FF2B5EF4-FFF2-40B4-BE49-F238E27FC236}">
                <a16:creationId xmlns:a16="http://schemas.microsoft.com/office/drawing/2014/main" id="{22668076-776A-43B9-B973-60BCEE8E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669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text-846-248">
            <a:extLst xmlns:a="http://schemas.openxmlformats.org/drawingml/2006/main">
              <a:ext uri="{FF2B5EF4-FFF2-40B4-BE49-F238E27FC236}">
                <a16:creationId xmlns:a16="http://schemas.microsoft.com/office/drawing/2014/main" id="{BD23B170-F314-4DB1-858A-DC5B1235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6220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Management output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8058150" y="3048000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F3C"/>
            </a:solidFill>
            <a:prstDash val="solid"/>
          </a:ln>
        </p:spPr>
      </p:cxnSp>
      <p:sp>
        <p:nvSpPr>
          <p:cNvPr id="18" name="text-846-350">
            <a:extLst xmlns:a="http://schemas.openxmlformats.org/drawingml/2006/main">
              <a:ext uri="{FF2B5EF4-FFF2-40B4-BE49-F238E27FC236}">
                <a16:creationId xmlns:a16="http://schemas.microsoft.com/office/drawing/2014/main" id="{3C42B369-6CE0-4890-B2FE-0FCA570F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33750"/>
            <a:ext cx="2876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Show the problem, inspection checklist, response time, escalation, and rule ID.</a:t>
            </a:r>
          </a:p>
        </p:txBody>
      </p:sp>
      <p:sp>
        <p:nvSpPr>
          <p:cNvPr id="19" name="action-example">
            <a:extLst xmlns:a="http://schemas.openxmlformats.org/drawingml/2006/main">
              <a:ext uri="{FF2B5EF4-FFF2-40B4-BE49-F238E27FC236}">
                <a16:creationId xmlns:a16="http://schemas.microsoft.com/office/drawing/2014/main" id="{D226EA59-FDBA-4BCD-AEF6-900E71C0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57750"/>
            <a:ext cx="109156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6-532">
            <a:extLst xmlns:a="http://schemas.openxmlformats.org/drawingml/2006/main">
              <a:ext uri="{FF2B5EF4-FFF2-40B4-BE49-F238E27FC236}">
                <a16:creationId xmlns:a16="http://schemas.microsoft.com/office/drawing/2014/main" id="{F87D8429-2265-44AB-82B4-5388E991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LOW BODY WEIGHT</a:t>
            </a:r>
          </a:p>
        </p:txBody>
      </p:sp>
      <p:sp>
        <p:nvSpPr>
          <p:cNvPr id="21" name="text-346-526">
            <a:extLst xmlns:a="http://schemas.openxmlformats.org/drawingml/2006/main">
              <a:ext uri="{FF2B5EF4-FFF2-40B4-BE49-F238E27FC236}">
                <a16:creationId xmlns:a16="http://schemas.microsoft.com/office/drawing/2014/main" id="{401DA4AF-06BE-4415-BED2-B8AA2864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01015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Confirm the weight; check bird health, feeder allocation, feed and water access, and house conditions.</a:t>
            </a:r>
          </a:p>
        </p:txBody>
      </p:sp>
      <p:sp>
        <p:nvSpPr>
          <p:cNvPr id="22" name="text-346-588">
            <a:extLst xmlns:a="http://schemas.openxmlformats.org/drawingml/2006/main">
              <a:ext uri="{FF2B5EF4-FFF2-40B4-BE49-F238E27FC236}">
                <a16:creationId xmlns:a16="http://schemas.microsoft.com/office/drawing/2014/main" id="{F9D0E6C4-56BB-4766-A1F4-C565CF6B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007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Rule DOC-002 · inspection guidance, not diagnosis or automatic treatment</a:t>
            </a:r>
          </a:p>
        </p:txBody>
      </p:sp>
    </p:spTree>
    <p:extLst>
      <p:ext uri="{BB962C8B-B14F-4D97-AF65-F5344CB8AC3E}">
        <p14:creationId xmlns:p14="http://schemas.microsoft.com/office/powerpoint/2010/main" val="18687489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-9">
            <a:extLst xmlns:a="http://schemas.openxmlformats.org/drawingml/2006/main">
              <a:ext uri="{FF2B5EF4-FFF2-40B4-BE49-F238E27FC236}">
                <a16:creationId xmlns:a16="http://schemas.microsoft.com/office/drawing/2014/main" id="{C1A6455E-C863-41AD-894B-62188970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1E123410-87C0-4A9E-AC0D-0B5308E2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Worked example: 2026-3 Tags 2 on Day 22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2CE4F82C-C3D2-48DD-ACC2-ECBE9130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5" name="text-42-164">
            <a:extLst xmlns:a="http://schemas.openxmlformats.org/drawingml/2006/main">
              <a:ext uri="{FF2B5EF4-FFF2-40B4-BE49-F238E27FC236}">
                <a16:creationId xmlns:a16="http://schemas.microsoft.com/office/drawing/2014/main" id="{A2DDED3D-F9C3-4514-92CE-E407CE99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RISK SCORE</a:t>
            </a:r>
          </a:p>
        </p:txBody>
      </p:sp>
      <p:sp>
        <p:nvSpPr>
          <p:cNvPr id="6" name="text-42-198">
            <a:extLst xmlns:a="http://schemas.openxmlformats.org/drawingml/2006/main">
              <a:ext uri="{FF2B5EF4-FFF2-40B4-BE49-F238E27FC236}">
                <a16:creationId xmlns:a16="http://schemas.microsoft.com/office/drawing/2014/main" id="{2E0415A5-600D-4014-9261-0933878F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5 / 12</a:t>
            </a:r>
          </a:p>
        </p:txBody>
      </p:sp>
      <p:sp>
        <p:nvSpPr>
          <p:cNvPr id="7" name="text-42-276">
            <a:extLst xmlns:a="http://schemas.openxmlformats.org/drawingml/2006/main">
              <a:ext uri="{FF2B5EF4-FFF2-40B4-BE49-F238E27FC236}">
                <a16:creationId xmlns:a16="http://schemas.microsoft.com/office/drawing/2014/main" id="{8FD6B5AC-6669-4F85-A9A2-38F2B272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447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C44732"/>
                </a:solidFill>
                <a:latin typeface="Helvetica Neue"/>
                <a:ea typeface="Helvetica Neue"/>
                <a:cs typeface="Helvetica Neue"/>
              </a:rPr>
              <a:t>HIGH RISK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400050" y="3257550"/>
            <a:ext cx="5048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9" name="text-42-354">
            <a:extLst xmlns:a="http://schemas.openxmlformats.org/drawingml/2006/main">
              <a:ext uri="{FF2B5EF4-FFF2-40B4-BE49-F238E27FC236}">
                <a16:creationId xmlns:a16="http://schemas.microsoft.com/office/drawing/2014/main" id="{07985E1D-D458-4BAA-A4DE-5C5D1DE3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71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Weight gap</a:t>
            </a:r>
          </a:p>
        </p:txBody>
      </p:sp>
      <p:sp>
        <p:nvSpPr>
          <p:cNvPr id="10" name="text-232-354">
            <a:extLst xmlns:a="http://schemas.openxmlformats.org/drawingml/2006/main">
              <a:ext uri="{FF2B5EF4-FFF2-40B4-BE49-F238E27FC236}">
                <a16:creationId xmlns:a16="http://schemas.microsoft.com/office/drawing/2014/main" id="{3C24BC07-0403-4555-8D45-3205AA3B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71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35.0% below target</a:t>
            </a:r>
          </a:p>
        </p:txBody>
      </p:sp>
      <p:sp>
        <p:nvSpPr>
          <p:cNvPr id="11" name="text-474-354">
            <a:extLst xmlns:a="http://schemas.openxmlformats.org/drawingml/2006/main">
              <a:ext uri="{FF2B5EF4-FFF2-40B4-BE49-F238E27FC236}">
                <a16:creationId xmlns:a16="http://schemas.microsoft.com/office/drawing/2014/main" id="{A6B3D70D-C77B-4ADB-A5FD-563487DC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718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400050" y="3867150"/>
            <a:ext cx="5048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3" name="text-42-418">
            <a:extLst xmlns:a="http://schemas.openxmlformats.org/drawingml/2006/main">
              <a:ext uri="{FF2B5EF4-FFF2-40B4-BE49-F238E27FC236}">
                <a16:creationId xmlns:a16="http://schemas.microsoft.com/office/drawing/2014/main" id="{E719E028-D156-4E9E-8201-24D05C96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Population loss</a:t>
            </a:r>
          </a:p>
        </p:txBody>
      </p:sp>
      <p:sp>
        <p:nvSpPr>
          <p:cNvPr id="14" name="text-232-418">
            <a:extLst xmlns:a="http://schemas.openxmlformats.org/drawingml/2006/main">
              <a:ext uri="{FF2B5EF4-FFF2-40B4-BE49-F238E27FC236}">
                <a16:creationId xmlns:a16="http://schemas.microsoft.com/office/drawing/2014/main" id="{CE049E00-0F02-4C3E-BFDC-20C42CD8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4.93%</a:t>
            </a:r>
          </a:p>
        </p:txBody>
      </p:sp>
      <p:sp>
        <p:nvSpPr>
          <p:cNvPr id="15" name="text-474-418">
            <a:extLst xmlns:a="http://schemas.openxmlformats.org/drawingml/2006/main">
              <a:ext uri="{FF2B5EF4-FFF2-40B4-BE49-F238E27FC236}">
                <a16:creationId xmlns:a16="http://schemas.microsoft.com/office/drawing/2014/main" id="{C79CC3F8-406A-47C2-8956-E0B7CC30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814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400050" y="4476750"/>
            <a:ext cx="5048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17" name="text-42-482">
            <a:extLst xmlns:a="http://schemas.openxmlformats.org/drawingml/2006/main">
              <a:ext uri="{FF2B5EF4-FFF2-40B4-BE49-F238E27FC236}">
                <a16:creationId xmlns:a16="http://schemas.microsoft.com/office/drawing/2014/main" id="{D2D399A8-D086-48BB-B3B1-E509A9C5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Daily mortality</a:t>
            </a:r>
          </a:p>
        </p:txBody>
      </p:sp>
      <p:sp>
        <p:nvSpPr>
          <p:cNvPr id="18" name="text-232-482">
            <a:extLst xmlns:a="http://schemas.openxmlformats.org/drawingml/2006/main">
              <a:ext uri="{FF2B5EF4-FFF2-40B4-BE49-F238E27FC236}">
                <a16:creationId xmlns:a16="http://schemas.microsoft.com/office/drawing/2014/main" id="{6E910AD6-577A-42B8-ABF0-EFC1B36A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91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0.197%</a:t>
            </a:r>
          </a:p>
        </p:txBody>
      </p:sp>
      <p:sp>
        <p:nvSpPr>
          <p:cNvPr id="19" name="text-474-482">
            <a:extLst xmlns:a="http://schemas.openxmlformats.org/drawingml/2006/main">
              <a:ext uri="{FF2B5EF4-FFF2-40B4-BE49-F238E27FC236}">
                <a16:creationId xmlns:a16="http://schemas.microsoft.com/office/drawing/2014/main" id="{A3706C21-9AC8-4F09-8739-DC32170F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910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cxnSp>
        <p:nvCxnSpPr>
          <p:cNvPr id="51" name=""/>
          <p:cNvCxnSpPr/>
          <p:nvPr/>
        </p:nvCxnSpPr>
        <p:spPr>
          <a:xfrm xmlns:a="http://schemas.openxmlformats.org/drawingml/2006/main">
            <a:off x="400050" y="5086350"/>
            <a:ext cx="5048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1" name="text-42-546">
            <a:extLst xmlns:a="http://schemas.openxmlformats.org/drawingml/2006/main">
              <a:ext uri="{FF2B5EF4-FFF2-40B4-BE49-F238E27FC236}">
                <a16:creationId xmlns:a16="http://schemas.microsoft.com/office/drawing/2014/main" id="{B55944CF-0549-4429-95B3-8C853DD1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00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</p:txBody>
      </p:sp>
      <p:sp>
        <p:nvSpPr>
          <p:cNvPr id="22" name="text-232-546">
            <a:extLst xmlns:a="http://schemas.openxmlformats.org/drawingml/2006/main">
              <a:ext uri="{FF2B5EF4-FFF2-40B4-BE49-F238E27FC236}">
                <a16:creationId xmlns:a16="http://schemas.microsoft.com/office/drawing/2014/main" id="{A7890626-5462-4E6B-83C5-9B2F200B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200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5-day-old reading</a:t>
            </a:r>
          </a:p>
        </p:txBody>
      </p:sp>
      <p:sp>
        <p:nvSpPr>
          <p:cNvPr id="23" name="text-474-546">
            <a:extLst xmlns:a="http://schemas.openxmlformats.org/drawingml/2006/main">
              <a:ext uri="{FF2B5EF4-FFF2-40B4-BE49-F238E27FC236}">
                <a16:creationId xmlns:a16="http://schemas.microsoft.com/office/drawing/2014/main" id="{E6B7A32C-81DF-4D38-8970-F618E4E0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2006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8B1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C88B1A"/>
                </a:solidFill>
                <a:latin typeface="Helvetica Neue"/>
                <a:ea typeface="Helvetica Neue"/>
                <a:cs typeface="Helvetica Neue"/>
              </a:rPr>
              <a:t>Not scored</a:t>
            </a:r>
          </a:p>
        </p:txBody>
      </p:sp>
      <p:cxnSp>
        <p:nvCxnSpPr>
          <p:cNvPr id="55" name=""/>
          <p:cNvCxnSpPr/>
          <p:nvPr/>
        </p:nvCxnSpPr>
        <p:spPr>
          <a:xfrm xmlns:a="http://schemas.openxmlformats.org/drawingml/2006/main">
            <a:off x="5905500" y="1562100"/>
            <a:ext cx="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25" name="text-678-174">
            <a:extLst xmlns:a="http://schemas.openxmlformats.org/drawingml/2006/main">
              <a:ext uri="{FF2B5EF4-FFF2-40B4-BE49-F238E27FC236}">
                <a16:creationId xmlns:a16="http://schemas.microsoft.com/office/drawing/2014/main" id="{A0A39801-EF25-46F4-A2A8-6C4AAE1B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573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91.87%</a:t>
            </a:r>
          </a:p>
        </p:txBody>
      </p:sp>
      <p:sp>
        <p:nvSpPr>
          <p:cNvPr id="26" name="text-678-240">
            <a:extLst xmlns:a="http://schemas.openxmlformats.org/drawingml/2006/main">
              <a:ext uri="{FF2B5EF4-FFF2-40B4-BE49-F238E27FC236}">
                <a16:creationId xmlns:a16="http://schemas.microsoft.com/office/drawing/2014/main" id="{98FA9A54-2F5C-4859-A451-0C7130C7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8600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projected final recovery</a:t>
            </a:r>
          </a:p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3.13 points below goal</a:t>
            </a:r>
          </a:p>
        </p:txBody>
      </p:sp>
      <p:sp>
        <p:nvSpPr>
          <p:cNvPr id="27" name="text-678-334">
            <a:extLst xmlns:a="http://schemas.openxmlformats.org/drawingml/2006/main">
              <a:ext uri="{FF2B5EF4-FFF2-40B4-BE49-F238E27FC236}">
                <a16:creationId xmlns:a16="http://schemas.microsoft.com/office/drawing/2014/main" id="{7325153F-DA3D-49D0-8B1D-EC6688E2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813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1,465 g</a:t>
            </a:r>
          </a:p>
        </p:txBody>
      </p:sp>
      <p:sp>
        <p:nvSpPr>
          <p:cNvPr id="28" name="text-678-400">
            <a:extLst xmlns:a="http://schemas.openxmlformats.org/drawingml/2006/main">
              <a:ext uri="{FF2B5EF4-FFF2-40B4-BE49-F238E27FC236}">
                <a16:creationId xmlns:a16="http://schemas.microsoft.com/office/drawing/2014/main" id="{F26BA067-E0B3-41FB-8617-5CCB25A6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1000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projected Day 35 weight</a:t>
            </a:r>
          </a:p>
          <a:p xmlns:a="http://schemas.openxmlformats.org/drawingml/2006/main">
            <a:pPr algn="l">
              <a:def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335 g below goal</a:t>
            </a:r>
          </a:p>
        </p:txBody>
      </p:sp>
      <p:sp>
        <p:nvSpPr>
          <p:cNvPr id="29" name="text-678-508">
            <a:extLst xmlns:a="http://schemas.openxmlformats.org/drawingml/2006/main">
              <a:ext uri="{FF2B5EF4-FFF2-40B4-BE49-F238E27FC236}">
                <a16:creationId xmlns:a16="http://schemas.microsoft.com/office/drawing/2014/main" id="{89D4983E-C67A-4D71-9306-29CF673B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NEXT ACTION</a:t>
            </a:r>
          </a:p>
        </p:txBody>
      </p:sp>
      <p:sp>
        <p:nvSpPr>
          <p:cNvPr id="30" name="text-678-544">
            <a:extLst xmlns:a="http://schemas.openxmlformats.org/drawingml/2006/main">
              <a:ext uri="{FF2B5EF4-FFF2-40B4-BE49-F238E27FC236}">
                <a16:creationId xmlns:a16="http://schemas.microsoft.com/office/drawing/2014/main" id="{D9033B5F-CFCA-4DD3-A62D-C47C0BE6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18160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Confirm the weight, then check bird health, feed and water access, feeder allocation, and house conditions.</a:t>
            </a:r>
          </a:p>
        </p:txBody>
      </p:sp>
      <p:sp>
        <p:nvSpPr>
          <p:cNvPr id="31" name="text-678-642">
            <a:extLst xmlns:a="http://schemas.openxmlformats.org/drawingml/2006/main">
              <a:ext uri="{FF2B5EF4-FFF2-40B4-BE49-F238E27FC236}">
                <a16:creationId xmlns:a16="http://schemas.microsoft.com/office/drawing/2014/main" id="{C8AC3548-2428-48A5-83EE-97AE3CF3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61150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Leading trigger: Low Body Weight · Rule DOC-002</a:t>
            </a:r>
          </a:p>
        </p:txBody>
      </p:sp>
    </p:spTree>
    <p:extLst>
      <p:ext uri="{BB962C8B-B14F-4D97-AF65-F5344CB8AC3E}">
        <p14:creationId xmlns:p14="http://schemas.microsoft.com/office/powerpoint/2010/main" val="177284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kicker-10">
            <a:extLst xmlns:a="http://schemas.openxmlformats.org/drawingml/2006/main">
              <a:ext uri="{FF2B5EF4-FFF2-40B4-BE49-F238E27FC236}">
                <a16:creationId xmlns:a16="http://schemas.microsoft.com/office/drawing/2014/main" id="{B7FA8BA2-B052-474A-91AC-7BAA492E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PROJECT CANARY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FC29E76-BF52-44E2-98CE-6E88EAAC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Be precise about the evidence and its limits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295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4" name="page-10">
            <a:extLst xmlns:a="http://schemas.openxmlformats.org/drawingml/2006/main">
              <a:ext uri="{FF2B5EF4-FFF2-40B4-BE49-F238E27FC236}">
                <a16:creationId xmlns:a16="http://schemas.microsoft.com/office/drawing/2014/main" id="{BF1284DF-7501-461F-906E-9E35DAE5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5" name="text-52-176">
            <a:extLst xmlns:a="http://schemas.openxmlformats.org/drawingml/2006/main">
              <a:ext uri="{FF2B5EF4-FFF2-40B4-BE49-F238E27FC236}">
                <a16:creationId xmlns:a16="http://schemas.microsoft.com/office/drawing/2014/main" id="{C3B47CF3-C26E-479B-BA63-19BE510C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4F3C"/>
                </a:solidFill>
                <a:latin typeface="Helvetica Neue"/>
                <a:ea typeface="Helvetica Neue"/>
                <a:cs typeface="Helvetica Neue"/>
              </a:rPr>
              <a:t>WE CAN DEFEND</a:t>
            </a:r>
          </a:p>
        </p:txBody>
      </p:sp>
      <p:sp>
        <p:nvSpPr>
          <p:cNvPr id="6" name="text-52-228">
            <a:extLst xmlns:a="http://schemas.openxmlformats.org/drawingml/2006/main">
              <a:ext uri="{FF2B5EF4-FFF2-40B4-BE49-F238E27FC236}">
                <a16:creationId xmlns:a16="http://schemas.microsoft.com/office/drawing/2014/main" id="{326E3DB6-9196-45B2-95E5-B6E765B4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71700"/>
            <a:ext cx="5143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3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✓ One row per building-day, with Zone A/B handled without double counting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✓ Rules-based score with visible measurements, thresholds, and points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✓ Whole-cycle holdout validation for both forecasts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✓ Multiple model candidates plus transparent baselines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✓ Traceable recommendation rules and approval status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5962650" y="1657350"/>
            <a:ext cx="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ECC"/>
            </a:solidFill>
            <a:prstDash val="solid"/>
          </a:ln>
        </p:spPr>
      </p:cxnSp>
      <p:sp>
        <p:nvSpPr>
          <p:cNvPr id="8" name="text-684-176">
            <a:extLst xmlns:a="http://schemas.openxmlformats.org/drawingml/2006/main">
              <a:ext uri="{FF2B5EF4-FFF2-40B4-BE49-F238E27FC236}">
                <a16:creationId xmlns:a16="http://schemas.microsoft.com/office/drawing/2014/main" id="{4964CF2D-AD95-4853-8867-2CB8E81E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47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C44732"/>
                </a:solidFill>
                <a:latin typeface="Helvetica Neue"/>
                <a:ea typeface="Helvetica Neue"/>
                <a:cs typeface="Helvetica Neue"/>
              </a:rPr>
              <a:t>WE MUST NOT OVERCLAIM</a:t>
            </a:r>
          </a:p>
        </p:txBody>
      </p:sp>
      <p:sp>
        <p:nvSpPr>
          <p:cNvPr id="9" name="text-684-228">
            <a:extLst xmlns:a="http://schemas.openxmlformats.org/drawingml/2006/main">
              <a:ext uri="{FF2B5EF4-FFF2-40B4-BE49-F238E27FC236}">
                <a16:creationId xmlns:a16="http://schemas.microsoft.com/office/drawing/2014/main" id="{BEB36494-5445-4E84-81A4-83D3202C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48577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• Risk score is not a probability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• Feature importance is association, not causation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• Recovery uses a last-recorded population proxy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• Recovery target-hit classification is not proven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• Environmental thresholds still require farm approval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6864"/>
                </a:solidFill>
                <a:latin typeface="Helvetica Neue"/>
                <a:ea typeface="Helvetica Neue"/>
                <a:cs typeface="Helvetica Neue"/>
              </a:rPr>
              <a:t>• Recommendations guide inspection; they do not guarantee outcomes</a:t>
            </a:r>
          </a:p>
        </p:txBody>
      </p:sp>
      <p:sp>
        <p:nvSpPr>
          <p:cNvPr id="10" name="defense-close">
            <a:extLst xmlns:a="http://schemas.openxmlformats.org/drawingml/2006/main">
              <a:ext uri="{FF2B5EF4-FFF2-40B4-BE49-F238E27FC236}">
                <a16:creationId xmlns:a16="http://schemas.microsoft.com/office/drawing/2014/main" id="{4338C21A-9EB2-4B29-BF7E-A857F56E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05500"/>
            <a:ext cx="10877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74-629">
            <a:extLst xmlns:a="http://schemas.openxmlformats.org/drawingml/2006/main">
              <a:ext uri="{FF2B5EF4-FFF2-40B4-BE49-F238E27FC236}">
                <a16:creationId xmlns:a16="http://schemas.microsoft.com/office/drawing/2014/main" id="{2927EBA6-0F75-49ED-AC90-91FC823E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91225"/>
            <a:ext cx="10458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Capstone-ready prototype after final farm validation—not yet a production control system.</a:t>
            </a:r>
          </a:p>
        </p:txBody>
      </p:sp>
    </p:spTree>
    <p:extLst>
      <p:ext uri="{BB962C8B-B14F-4D97-AF65-F5344CB8AC3E}">
        <p14:creationId xmlns:p14="http://schemas.microsoft.com/office/powerpoint/2010/main" val="13405712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4F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52-54">
            <a:extLst xmlns:a="http://schemas.openxmlformats.org/drawingml/2006/main">
              <a:ext uri="{FF2B5EF4-FFF2-40B4-BE49-F238E27FC236}">
                <a16:creationId xmlns:a16="http://schemas.microsoft.com/office/drawing/2014/main" id="{5BDF6492-B511-480D-B965-3C685CA4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THE 20-SECOND EXPLANATION</a:t>
            </a:r>
          </a:p>
        </p:txBody>
      </p:sp>
      <p:sp>
        <p:nvSpPr>
          <p:cNvPr id="2" name="text-52-154">
            <a:extLst xmlns:a="http://schemas.openxmlformats.org/drawingml/2006/main">
              <a:ext uri="{FF2B5EF4-FFF2-40B4-BE49-F238E27FC236}">
                <a16:creationId xmlns:a16="http://schemas.microsoft.com/office/drawing/2014/main" id="{41171BC1-0DFC-449C-99F4-AEDCF2DC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66850"/>
            <a:ext cx="10668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Project Canary is an early-warning and decision-support system for a broiler farm.</a:t>
            </a:r>
          </a:p>
        </p:txBody>
      </p:sp>
      <p:sp>
        <p:nvSpPr>
          <p:cNvPr id="3" name="text-52-334">
            <a:extLst xmlns:a="http://schemas.openxmlformats.org/drawingml/2006/main">
              <a:ext uri="{FF2B5EF4-FFF2-40B4-BE49-F238E27FC236}">
                <a16:creationId xmlns:a16="http://schemas.microsoft.com/office/drawing/2014/main" id="{1B2766BE-DD8E-417C-8BA1-CF797CAA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81350"/>
            <a:ext cx="1000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It identifies which buildings need attention, explains the recorded warning signs, forecasts Day 35 average weight and final recovery, and recommends what management should inspect next.</a:t>
            </a:r>
          </a:p>
        </p:txBody>
      </p:sp>
      <p:cxnSp>
        <p:nvCxnSpPr>
          <p:cNvPr id="10" name=""/>
          <p:cNvCxnSpPr/>
          <p:nvPr/>
        </p:nvCxnSpPr>
        <p:spPr>
          <a:xfrm xmlns:a="http://schemas.openxmlformats.org/drawingml/2006/main">
            <a:off x="495300" y="5391150"/>
            <a:ext cx="10706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6F9B86"/>
            </a:solidFill>
            <a:prstDash val="solid"/>
          </a:ln>
        </p:spPr>
      </p:cxnSp>
      <p:sp>
        <p:nvSpPr>
          <p:cNvPr id="5" name="text-52-596">
            <a:extLst xmlns:a="http://schemas.openxmlformats.org/drawingml/2006/main">
              <a:ext uri="{FF2B5EF4-FFF2-40B4-BE49-F238E27FC236}">
                <a16:creationId xmlns:a16="http://schemas.microsoft.com/office/drawing/2014/main" id="{B518DF1A-A897-4A25-98AE-42C1B25D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590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9BCB2C"/>
                </a:solidFill>
                <a:latin typeface="Helvetica Neue"/>
                <a:ea typeface="Helvetica Neue"/>
                <a:cs typeface="Helvetica Neue"/>
              </a:rPr>
              <a:t>Risk → Forecast → Action</a:t>
            </a:r>
          </a:p>
        </p:txBody>
      </p:sp>
      <p:sp>
        <p:nvSpPr>
          <p:cNvPr id="6" name="text-760-606">
            <a:extLst xmlns:a="http://schemas.openxmlformats.org/drawingml/2006/main">
              <a:ext uri="{FF2B5EF4-FFF2-40B4-BE49-F238E27FC236}">
                <a16:creationId xmlns:a16="http://schemas.microsoft.com/office/drawing/2014/main" id="{C1C7317D-371A-43B6-955A-2F8BDA90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72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25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9E7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D9E7E0"/>
                </a:solidFill>
                <a:latin typeface="Helvetica Neue"/>
                <a:ea typeface="Helvetica Neue"/>
                <a:cs typeface="Helvetica Neue"/>
              </a:rPr>
              <a:t>Use this sentence to open the meeting and the defense.</a:t>
            </a:r>
          </a:p>
        </p:txBody>
      </p:sp>
    </p:spTree>
    <p:extLst>
      <p:ext uri="{BB962C8B-B14F-4D97-AF65-F5344CB8AC3E}">
        <p14:creationId xmlns:p14="http://schemas.microsoft.com/office/powerpoint/2010/main" val="8378058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2026-08-11T03:03:23.5650000Z</dcterms:created>
  <dcterms:modified xsi:type="dcterms:W3CDTF">2026-08-11T03:03:23.5650000Z</dcterms:modified>
</coreProperties>
</file>