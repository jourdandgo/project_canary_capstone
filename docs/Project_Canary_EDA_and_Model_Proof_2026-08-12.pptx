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95a5b6f70d4ae4" /><Relationship Type="http://schemas.openxmlformats.org/officeDocument/2006/relationships/extended-properties" Target="/docProps/app.xml" Id="R405591838db248f6" /><Relationship Type="http://schemas.openxmlformats.org/officeDocument/2006/relationships/officeDocument" Target="/ppt/presentation.xml" Id="R70865fa1ad5943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57f9147dfd492e"/>
  </p:sldMasterIdLst>
  <p:notesMasterIdLst>
    <p:notesMasterId xmlns:r="http://schemas.openxmlformats.org/officeDocument/2006/relationships" r:id="R3ae82a8745e44549"/>
  </p:notesMasterIdLst>
  <p:sldIdLst>
    <p:sldId xmlns:r="http://schemas.openxmlformats.org/officeDocument/2006/relationships" id="256" r:id="R4b2477257a7e44ae"/>
    <p:sldId xmlns:r="http://schemas.openxmlformats.org/officeDocument/2006/relationships" id="257" r:id="Rafa7e8952c5c4292"/>
    <p:sldId xmlns:r="http://schemas.openxmlformats.org/officeDocument/2006/relationships" id="258" r:id="Rb2eb2455559e446b"/>
    <p:sldId xmlns:r="http://schemas.openxmlformats.org/officeDocument/2006/relationships" id="259" r:id="R4f31c95bf08e4514"/>
    <p:sldId xmlns:r="http://schemas.openxmlformats.org/officeDocument/2006/relationships" id="260" r:id="R640cf8e5c4554edf"/>
    <p:sldId xmlns:r="http://schemas.openxmlformats.org/officeDocument/2006/relationships" id="261" r:id="Rf9e3d9fbebff4f91"/>
    <p:sldId xmlns:r="http://schemas.openxmlformats.org/officeDocument/2006/relationships" id="262" r:id="R6e0df1adfadb4a6b"/>
    <p:sldId xmlns:r="http://schemas.openxmlformats.org/officeDocument/2006/relationships" id="263" r:id="R6159d75d5c0a4684"/>
    <p:sldId xmlns:r="http://schemas.openxmlformats.org/officeDocument/2006/relationships" id="264" r:id="R8f7161eadb9d4ead"/>
    <p:sldId xmlns:r="http://schemas.openxmlformats.org/officeDocument/2006/relationships" id="265" r:id="R9f55ce2061f94a94"/>
    <p:sldId xmlns:r="http://schemas.openxmlformats.org/officeDocument/2006/relationships" id="266" r:id="R2ba3e485e99d4642"/>
    <p:sldId xmlns:r="http://schemas.openxmlformats.org/officeDocument/2006/relationships" id="267" r:id="R7d2e3c893e6c460c"/>
    <p:sldId xmlns:r="http://schemas.openxmlformats.org/officeDocument/2006/relationships" id="268" r:id="R60a75203b8634502"/>
    <p:sldId xmlns:r="http://schemas.openxmlformats.org/officeDocument/2006/relationships" id="269" r:id="R7ad404a3f8c94dea"/>
    <p:sldId xmlns:r="http://schemas.openxmlformats.org/officeDocument/2006/relationships" id="270" r:id="R91a8f74e08874bf8"/>
    <p:sldId xmlns:r="http://schemas.openxmlformats.org/officeDocument/2006/relationships" id="271" r:id="Rb9cf363926374d53"/>
    <p:sldId xmlns:r="http://schemas.openxmlformats.org/officeDocument/2006/relationships" id="272" r:id="R87cec32128024c76"/>
    <p:sldId xmlns:r="http://schemas.openxmlformats.org/officeDocument/2006/relationships" id="273" r:id="R9cb3cfa5e52a4d3f"/>
    <p:sldId xmlns:r="http://schemas.openxmlformats.org/officeDocument/2006/relationships" id="274" r:id="R829250d295284ff0"/>
    <p:sldId xmlns:r="http://schemas.openxmlformats.org/officeDocument/2006/relationships" id="275" r:id="Rbe32c2fbafa54f1d"/>
    <p:sldId xmlns:r="http://schemas.openxmlformats.org/officeDocument/2006/relationships" id="276" r:id="R1b6437de3fe6483a"/>
    <p:sldId xmlns:r="http://schemas.openxmlformats.org/officeDocument/2006/relationships" id="277" r:id="Ra5f276029cf84694"/>
    <p:sldId xmlns:r="http://schemas.openxmlformats.org/officeDocument/2006/relationships" id="278" r:id="R30574af21d004b45"/>
    <p:sldId xmlns:r="http://schemas.openxmlformats.org/officeDocument/2006/relationships" id="279" r:id="R5ed5e90f02664435"/>
    <p:sldId xmlns:r="http://schemas.openxmlformats.org/officeDocument/2006/relationships" id="280" r:id="R2ad7d4a4a30b4915"/>
    <p:sldId xmlns:r="http://schemas.openxmlformats.org/officeDocument/2006/relationships" id="281" r:id="R0ddf8833cca04775"/>
    <p:sldId xmlns:r="http://schemas.openxmlformats.org/officeDocument/2006/relationships" id="282" r:id="R7bd4cc5305834f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7164304fbd44ad" /><Relationship Type="http://schemas.openxmlformats.org/officeDocument/2006/relationships/slideMaster" Target="/ppt/slideMasters/slideMaster1.xml" Id="R4357f9147dfd492e" /><Relationship Type="http://schemas.openxmlformats.org/officeDocument/2006/relationships/notesMaster" Target="/ppt/notesMasters/notesMaster1.xml" Id="R3ae82a8745e44549" /><Relationship Type="http://schemas.openxmlformats.org/officeDocument/2006/relationships/presProps" Target="/ppt/presProps.xml" Id="Rb7083ace06a14be3" /><Relationship Type="http://schemas.openxmlformats.org/officeDocument/2006/relationships/tableStyles" Target="/ppt/tableStyles.xml" Id="Reb70cc30bf9d43c0" /><Relationship Type="http://schemas.openxmlformats.org/officeDocument/2006/relationships/slide" Target="/ppt/slides/slide1.xml" Id="R4b2477257a7e44ae" /><Relationship Type="http://schemas.openxmlformats.org/officeDocument/2006/relationships/slide" Target="/ppt/slides/slide2.xml" Id="Rafa7e8952c5c4292" /><Relationship Type="http://schemas.openxmlformats.org/officeDocument/2006/relationships/slide" Target="/ppt/slides/slide3.xml" Id="Rb2eb2455559e446b" /><Relationship Type="http://schemas.openxmlformats.org/officeDocument/2006/relationships/slide" Target="/ppt/slides/slide4.xml" Id="R4f31c95bf08e4514" /><Relationship Type="http://schemas.openxmlformats.org/officeDocument/2006/relationships/slide" Target="/ppt/slides/slide5.xml" Id="R640cf8e5c4554edf" /><Relationship Type="http://schemas.openxmlformats.org/officeDocument/2006/relationships/slide" Target="/ppt/slides/slide6.xml" Id="Rf9e3d9fbebff4f91" /><Relationship Type="http://schemas.openxmlformats.org/officeDocument/2006/relationships/slide" Target="/ppt/slides/slide7.xml" Id="R6e0df1adfadb4a6b" /><Relationship Type="http://schemas.openxmlformats.org/officeDocument/2006/relationships/slide" Target="/ppt/slides/slide8.xml" Id="R6159d75d5c0a4684" /><Relationship Type="http://schemas.openxmlformats.org/officeDocument/2006/relationships/slide" Target="/ppt/slides/slide9.xml" Id="R8f7161eadb9d4ead" /><Relationship Type="http://schemas.openxmlformats.org/officeDocument/2006/relationships/slide" Target="/ppt/slides/slide10.xml" Id="R9f55ce2061f94a94" /><Relationship Type="http://schemas.openxmlformats.org/officeDocument/2006/relationships/slide" Target="/ppt/slides/slide11.xml" Id="R2ba3e485e99d4642" /><Relationship Type="http://schemas.openxmlformats.org/officeDocument/2006/relationships/slide" Target="/ppt/slides/slide12.xml" Id="R7d2e3c893e6c460c" /><Relationship Type="http://schemas.openxmlformats.org/officeDocument/2006/relationships/slide" Target="/ppt/slides/slide13.xml" Id="R60a75203b8634502" /><Relationship Type="http://schemas.openxmlformats.org/officeDocument/2006/relationships/slide" Target="/ppt/slides/slide14.xml" Id="R7ad404a3f8c94dea" /><Relationship Type="http://schemas.openxmlformats.org/officeDocument/2006/relationships/slide" Target="/ppt/slides/slide15.xml" Id="R91a8f74e08874bf8" /><Relationship Type="http://schemas.openxmlformats.org/officeDocument/2006/relationships/slide" Target="/ppt/slides/slide16.xml" Id="Rb9cf363926374d53" /><Relationship Type="http://schemas.openxmlformats.org/officeDocument/2006/relationships/slide" Target="/ppt/slides/slide17.xml" Id="R87cec32128024c76" /><Relationship Type="http://schemas.openxmlformats.org/officeDocument/2006/relationships/slide" Target="/ppt/slides/slide18.xml" Id="R9cb3cfa5e52a4d3f" /><Relationship Type="http://schemas.openxmlformats.org/officeDocument/2006/relationships/slide" Target="/ppt/slides/slide19.xml" Id="R829250d295284ff0" /><Relationship Type="http://schemas.openxmlformats.org/officeDocument/2006/relationships/slide" Target="/ppt/slides/slide20.xml" Id="Rbe32c2fbafa54f1d" /><Relationship Type="http://schemas.openxmlformats.org/officeDocument/2006/relationships/slide" Target="/ppt/slides/slide21.xml" Id="R1b6437de3fe6483a" /><Relationship Type="http://schemas.openxmlformats.org/officeDocument/2006/relationships/slide" Target="/ppt/slides/slide22.xml" Id="Ra5f276029cf84694" /><Relationship Type="http://schemas.openxmlformats.org/officeDocument/2006/relationships/slide" Target="/ppt/slides/slide23.xml" Id="R30574af21d004b45" /><Relationship Type="http://schemas.openxmlformats.org/officeDocument/2006/relationships/slide" Target="/ppt/slides/slide24.xml" Id="R5ed5e90f02664435" /><Relationship Type="http://schemas.openxmlformats.org/officeDocument/2006/relationships/slide" Target="/ppt/slides/slide25.xml" Id="R2ad7d4a4a30b4915" /><Relationship Type="http://schemas.openxmlformats.org/officeDocument/2006/relationships/slide" Target="/ppt/slides/slide26.xml" Id="R0ddf8833cca04775" /><Relationship Type="http://schemas.openxmlformats.org/officeDocument/2006/relationships/slide" Target="/ppt/slides/slide27.xml" Id="R7bd4cc5305834f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284284417547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a50ec459804d1e" /><Relationship Type="http://schemas.openxmlformats.org/officeDocument/2006/relationships/notesMaster" Target="/ppt/notesMasters/notesMaster1.xml" Id="Rbc371b889fcf40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7297bee03f4fbb" /><Relationship Type="http://schemas.openxmlformats.org/officeDocument/2006/relationships/notesMaster" Target="/ppt/notesMasters/notesMaster1.xml" Id="R6778cce95f2b4c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a4b21c77d04313" /><Relationship Type="http://schemas.openxmlformats.org/officeDocument/2006/relationships/notesMaster" Target="/ppt/notesMasters/notesMaster1.xml" Id="R6f17cf4a1b0b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f38b7a56e749f5" /><Relationship Type="http://schemas.openxmlformats.org/officeDocument/2006/relationships/notesMaster" Target="/ppt/notesMasters/notesMaster1.xml" Id="R31c31dbed24d45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7e1e4ff594444b" /><Relationship Type="http://schemas.openxmlformats.org/officeDocument/2006/relationships/notesMaster" Target="/ppt/notesMasters/notesMaster1.xml" Id="Rd551efba80a343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9a52e760c54912" /><Relationship Type="http://schemas.openxmlformats.org/officeDocument/2006/relationships/notesMaster" Target="/ppt/notesMasters/notesMaster1.xml" Id="R649c67b99bae4d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c5c0c014854747" /><Relationship Type="http://schemas.openxmlformats.org/officeDocument/2006/relationships/notesMaster" Target="/ppt/notesMasters/notesMaster1.xml" Id="R24c3d25db0c94f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14a17990024c32" /><Relationship Type="http://schemas.openxmlformats.org/officeDocument/2006/relationships/notesMaster" Target="/ppt/notesMasters/notesMaster1.xml" Id="R115fc940e89e4f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7cafce13054989" /><Relationship Type="http://schemas.openxmlformats.org/officeDocument/2006/relationships/notesMaster" Target="/ppt/notesMasters/notesMaster1.xml" Id="R83e29c2cf1954d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3f82ca3cf54492" /><Relationship Type="http://schemas.openxmlformats.org/officeDocument/2006/relationships/notesMaster" Target="/ppt/notesMasters/notesMaster1.xml" Id="R40dbccfaa73742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e99b267f86457c" /><Relationship Type="http://schemas.openxmlformats.org/officeDocument/2006/relationships/notesMaster" Target="/ppt/notesMasters/notesMaster1.xml" Id="R6928d5eb7e3344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f3e057a3a34642" /><Relationship Type="http://schemas.openxmlformats.org/officeDocument/2006/relationships/notesMaster" Target="/ppt/notesMasters/notesMaster1.xml" Id="Re5c22c3a9d9a40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b22a6a8b6b4ffd" /><Relationship Type="http://schemas.openxmlformats.org/officeDocument/2006/relationships/notesMaster" Target="/ppt/notesMasters/notesMaster1.xml" Id="Rd115f3a109ec41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4664fb5e294b18" /><Relationship Type="http://schemas.openxmlformats.org/officeDocument/2006/relationships/notesMaster" Target="/ppt/notesMasters/notesMaster1.xml" Id="R2ce0d92b2a3141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7311c6645849f0" /><Relationship Type="http://schemas.openxmlformats.org/officeDocument/2006/relationships/notesMaster" Target="/ppt/notesMasters/notesMaster1.xml" Id="Rd3005a0d22c84a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f7c49958f7434f" /><Relationship Type="http://schemas.openxmlformats.org/officeDocument/2006/relationships/notesMaster" Target="/ppt/notesMasters/notesMaster1.xml" Id="R66023953615e43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0897eb1f3347b5" /><Relationship Type="http://schemas.openxmlformats.org/officeDocument/2006/relationships/notesMaster" Target="/ppt/notesMasters/notesMaster1.xml" Id="R4c879ecc4aaf4e0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ff421017522464a" /><Relationship Type="http://schemas.openxmlformats.org/officeDocument/2006/relationships/notesMaster" Target="/ppt/notesMasters/notesMaster1.xml" Id="R357b0f1c100142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2efd111fa1d4815" /><Relationship Type="http://schemas.openxmlformats.org/officeDocument/2006/relationships/notesMaster" Target="/ppt/notesMasters/notesMaster1.xml" Id="R2e6078bbcb1744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be11da5c314f70" /><Relationship Type="http://schemas.openxmlformats.org/officeDocument/2006/relationships/notesMaster" Target="/ppt/notesMasters/notesMaster1.xml" Id="R3347bfc213fa4f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5c3d762be7f4c25" /><Relationship Type="http://schemas.openxmlformats.org/officeDocument/2006/relationships/notesMaster" Target="/ppt/notesMasters/notesMaster1.xml" Id="Rc662349b03de49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8460f5caa349c6" /><Relationship Type="http://schemas.openxmlformats.org/officeDocument/2006/relationships/notesMaster" Target="/ppt/notesMasters/notesMaster1.xml" Id="R99939ece81d146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33fe6934232424c" /><Relationship Type="http://schemas.openxmlformats.org/officeDocument/2006/relationships/notesMaster" Target="/ppt/notesMasters/notesMaster1.xml" Id="R89578a21aefd446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5bdf6d440714152" /><Relationship Type="http://schemas.openxmlformats.org/officeDocument/2006/relationships/notesMaster" Target="/ppt/notesMasters/notesMaster1.xml" Id="R13c121c81d4e4bb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f59df7ef4064a91" /><Relationship Type="http://schemas.openxmlformats.org/officeDocument/2006/relationships/notesMaster" Target="/ppt/notesMasters/notesMaster1.xml" Id="R1e133ff0363a49e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91e4fbb62e747d1" /><Relationship Type="http://schemas.openxmlformats.org/officeDocument/2006/relationships/notesMaster" Target="/ppt/notesMasters/notesMaster1.xml" Id="Rb8fd4e173a9b435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98c28f21fab4d83" /><Relationship Type="http://schemas.openxmlformats.org/officeDocument/2006/relationships/notesMaster" Target="/ppt/notesMasters/notesMaster1.xml" Id="R285c028eb39d45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the expectation: this deck separates business evidence, model construction, model performance, and remaining limitations.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/Users/jourdan.go/.codex/.chatgpt-projects/g-p-69390cd496c4819189246120c7ca0241/implementation/canary_app/data/FARM HARVEST DATA.xlsx</a:t>
            </a:r>
          </a:p>
          <a:p xmlns:a="http://schemas.openxmlformats.org/drawingml/2006/main">
            <a:r>
              <a:t>- /Users/jourdan.go/.codex/.chatgpt-projects/g-p-69390cd496c4819189246120c7ca0241/implementation/canary_app/outputs/model_ready/Project_Canary_Model_Ready_Data.xlsx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Canary supports decisions; it does not directly control mortality, diagnose disease, or guarantee growth.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/Users/jourdan.go/.codex/.chatgpt-projects/g-p-69390cd496c4819189246120c7ca0241/implementation/canary_app/data/FARM HARVEST DATA.xlsx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Repeated snapshots increase decision-time examples, but they do not create new independent flocks. Validation and weighting respect the building-cycle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/Users/jourdan.go/.codex/.chatgpt-projects/g-p-69390cd496c4819189246120c7ca0241/implementation/canary_app/data/FARM HARVEST DATA.xlsx</a:t>
            </a:r>
          </a:p>
          <a:p xmlns:a="http://schemas.openxmlformats.org/drawingml/2006/main">
            <a:r>
              <a:t>- /Users/jourdan.go/.codex/.chatgpt-projects/g-p-69390cd496c4819189246120c7ca0241/implementation/canary_app/outputs/model_ready/Project_Canary_Model_Ready_Data.xlsx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Evidence → Insight → Implication → Action structure used in the next seven slides.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/Users/jourdan.go/.codex/.chatgpt-projects/g-p-69390cd496c4819189246120c7ca0241/implementation/canary_app/analysis/latest_eda/eda_summary.json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slide in four moves: state the evidence, interpret it, explain why it matters, then name the management or product action. Avoid causal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/Users/jourdan.go/.codex/.chatgpt-projects/g-p-69390cd496c4819189246120c7ca0241/implementation/canary_app/data/FARM HARVEST DATA.xlsx</a:t>
            </a:r>
          </a:p>
          <a:p xmlns:a="http://schemas.openxmlformats.org/drawingml/2006/main">
            <a:r>
              <a:t>- /Users/jourdan.go/.codex/.chatgpt-projects/g-p-69390cd496c4819189246120c7ca0241/implementation/canary_app/analysis/latest_eda/eda_summary.json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slide in four moves: state the evidence, interpret it, explain why it matters, then name the management or product action. Avoid causal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/Users/jourdan.go/.codex/.chatgpt-projects/g-p-69390cd496c4819189246120c7ca0241/implementation/canary_app/data/FARM HARVEST DATA.xlsx</a:t>
            </a:r>
          </a:p>
          <a:p xmlns:a="http://schemas.openxmlformats.org/drawingml/2006/main">
            <a:r>
              <a:t>- /Users/jourdan.go/.codex/.chatgpt-projects/g-p-69390cd496c4819189246120c7ca0241/implementation/canary_app/analysis/latest_eda/eda_summary.json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slide in four moves: state the evidence, interpret it, explain why it matters, then name the management or product action. Avoid causal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/Users/jourdan.go/.codex/.chatgpt-projects/g-p-69390cd496c4819189246120c7ca0241/implementation/canary_app/data/FARM HARVEST DATA.xlsx</a:t>
            </a:r>
          </a:p>
          <a:p xmlns:a="http://schemas.openxmlformats.org/drawingml/2006/main">
            <a:r>
              <a:t>- /Users/jourdan.go/.codex/.chatgpt-projects/g-p-69390cd496c4819189246120c7ca0241/implementation/canary_app/analysis/latest_eda/eda_summary.json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slide in four moves: state the evidence, interpret it, explain why it matters, then name the management or product action. Avoid causal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/Users/jourdan.go/.codex/.chatgpt-projects/g-p-69390cd496c4819189246120c7ca0241/implementation/canary_app/data/FARM HARVEST DATA.xlsx</a:t>
            </a:r>
          </a:p>
          <a:p xmlns:a="http://schemas.openxmlformats.org/drawingml/2006/main">
            <a:r>
              <a:t>- /Users/jourdan.go/.codex/.chatgpt-projects/g-p-69390cd496c4819189246120c7ca0241/implementation/canary_app/analysis/latest_eda/eda_summary.json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slide in four moves: state the evidence, interpret it, explain why it matters, then name the management or product action. Avoid causal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/Users/jourdan.go/.codex/.chatgpt-projects/g-p-69390cd496c4819189246120c7ca0241/implementation/canary_app/data/FARM HARVEST DATA.xlsx</a:t>
            </a:r>
          </a:p>
          <a:p xmlns:a="http://schemas.openxmlformats.org/drawingml/2006/main">
            <a:r>
              <a:t>- /Users/jourdan.go/.codex/.chatgpt-projects/g-p-69390cd496c4819189246120c7ca0241/implementation/canary_app/analysis/latest_eda/eda_summary.json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slide in four moves: state the evidence, interpret it, explain why it matters, then name the management or product action. Avoid causal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/Users/jourdan.go/.codex/.chatgpt-projects/g-p-69390cd496c4819189246120c7ca0241/implementation/canary_app/data/FARM HARVEST DATA.xlsx</a:t>
            </a:r>
          </a:p>
          <a:p xmlns:a="http://schemas.openxmlformats.org/drawingml/2006/main">
            <a:r>
              <a:t>- /Users/jourdan.go/.codex/.chatgpt-projects/g-p-69390cd496c4819189246120c7ca0241/implementation/canary_app/analysis/latest_eda/eda_summary.json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slide in four moves: state the evidence, interpret it, explain why it matters, then name the management or product action. Avoid causal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/Users/jourdan.go/.codex/.chatgpt-projects/g-p-69390cd496c4819189246120c7ca0241/implementation/canary_app/data/FARM HARVEST DATA.xlsx</a:t>
            </a:r>
          </a:p>
          <a:p xmlns:a="http://schemas.openxmlformats.org/drawingml/2006/main">
            <a:r>
              <a:t>- /Users/jourdan.go/.codex/.chatgpt-projects/g-p-69390cd496c4819189246120c7ca0241/implementation/canary_app/analysis/latest_eda/eda_summary.json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architecture keeps the system explainable and prevents a weak forecast from silently changing the deterministic risk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/Users/jourdan.go/.codex/.chatgpt-projects/g-p-69390cd496c4819189246120c7ca0241/implementation/canary_app/models/recovery_manifest.json</a:t>
            </a:r>
          </a:p>
          <a:p xmlns:a="http://schemas.openxmlformats.org/drawingml/2006/main">
            <a:r>
              <a:t>- /Users/jourdan.go/.codex/.chatgpt-projects/g-p-69390cd496c4819189246120c7ca0241/implementation/canary_app/models/day35_weight_manifest.json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remaining-loss target enforces a biologically coherent constraint: final recovery cannot exceed the percentage currently alive.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/Users/jourdan.go/.codex/.chatgpt-projects/g-p-69390cd496c4819189246120c7ca0241/implementation/canary_app/outputs/model_ready/Project_Canary_Model_Ready_Data.xlsx</a:t>
            </a:r>
          </a:p>
          <a:p xmlns:a="http://schemas.openxmlformats.org/drawingml/2006/main">
            <a:r>
              <a:t>- /Users/jourdan.go/.codex/.chatgpt-projects/g-p-69390cd496c4819189246120c7ca0241/implementation/canary_app/models/recovery_manifest.json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exact standard checkpoints support comparable horizon testing, while the latest row tests near-end inference. The full daily audit remains available for lineage.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/Users/jourdan.go/.codex/.chatgpt-projects/g-p-69390cd496c4819189246120c7ca0241/implementation/canary_app/outputs/model_ready/Project_Canary_Model_Ready_Data.xlsx</a:t>
            </a:r>
          </a:p>
          <a:p xmlns:a="http://schemas.openxmlformats.org/drawingml/2006/main">
            <a:r>
              <a:t>- /Users/jourdan.go/.codex/.chatgpt-projects/g-p-69390cd496c4819189246120c7ca0241/implementation/canary_app/models/recovery_manifest.json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protocol is stricter than leaving out one building while retaining other buildings from the same cycle. It approximates the real question: performance on a completely unseen future 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/Users/jourdan.go/.codex/.chatgpt-projects/g-p-69390cd496c4819189246120c7ca0241/implementation/canary_app/models/recovery_manifest.json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Lower MAE/RMSE is better; higher R² is better. The selected model improves error versus baseline but explains little unseen-cycle variance, so the forecast remains experimental.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/Users/jourdan.go/.codex/.chatgpt-projects/g-p-69390cd496c4819189246120c7ca0241/implementation/canary_app/models/recovery_manifest.json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scatter exposes regression error directly. The checkpoint chart answers the mentor question: forecasts generally become more accurate as more days of mortality and survival are observed.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/Users/jourdan.go/.codex/.chatgpt-projects/g-p-69390cd496c4819189246120c7ca0241/implementation/canary_app/models/recovery_manifest.json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importance should support model understanding. Management actions continue to come from recorded threshold violations and the approved playbook.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/Users/jourdan.go/.codex/.chatgpt-projects/g-p-69390cd496c4819189246120c7ca0241/implementation/canary_app/models/recovery_manifest.json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Also state target-side weakness: Day 14 target-side accuracy equals the majority-below rule, and the model does not reliably identify the few ≥95%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/Users/jourdan.go/.codex/.chatgpt-projects/g-p-69390cd496c4819189246120c7ca0241/implementation/canary_app/models/recovery_manifest.json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Day 35 data is present on every training row as Y. It must not appear among earlier X features, or the model would be given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/Users/jourdan.go/.codex/.chatgpt-projects/g-p-69390cd496c4819189246120c7ca0241/implementation/canary_app/outputs/model_ready/Project_Canary_Model_Ready_Data.xlsx</a:t>
            </a:r>
          </a:p>
          <a:p xmlns:a="http://schemas.openxmlformats.org/drawingml/2006/main">
            <a:r>
              <a:t>- /Users/jourdan.go/.codex/.chatgpt-projects/g-p-69390cd496c4819189246120c7ca0241/implementation/canary_app/models/day35_weight_manifest.json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standard supervised-learning structure: rows contain predictors at decision time and the later outcome label the model must learn to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/Users/jourdan.go/.codex/.chatgpt-projects/g-p-69390cd496c4819189246120c7ca0241/implementation/canary_app/outputs/model_ready/Project_Canary_Model_Ready_Data.xlsx</a:t>
            </a:r>
          </a:p>
          <a:p xmlns:a="http://schemas.openxmlformats.org/drawingml/2006/main">
            <a:r>
              <a:t>- /Users/jourdan.go/.codex/.chatgpt-projects/g-p-69390cd496c4819189246120c7ca0241/implementation/canary_app/models/day35_weight_manifest.json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fallback is not 'no model.' It is an out-of-fold estimator of expected remaining growth by checkpoint, chosen because it generalized better than the fitted candidates.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/Users/jourdan.go/.codex/.chatgpt-projects/g-p-69390cd496c4819189246120c7ca0241/implementation/canary_app/models/day35_weight_manifest.json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Later does not improve monotonically in this small dataset; Day 28 is affected by strong cycle-specific remaining growth. That is evidence for a hierarchical biological growth-curve challenger.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/Users/jourdan.go/.codex/.chatgpt-projects/g-p-69390cd496c4819189246120c7ca0241/implementation/canary_app/models/day35_weight_manifest.json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audit was not used for champion selection. It is promising out-of-time evidence, but three buildings are too few to redefine reliability.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/Users/jourdan.go/.codex/.chatgpt-projects/g-p-69390cd496c4819189246120c7ca0241/implementation/canary_app/models/day35_weight_manifest.json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operational methods stay in place until a challenger passes every predeclared gate under the same whole-cycle protocol.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/Users/jourdan.go/.codex/.chatgpt-projects/g-p-69390cd496c4819189246120c7ca0241/implementation/canary_app/models/recovery_manifest.json</a:t>
            </a:r>
          </a:p>
          <a:p xmlns:a="http://schemas.openxmlformats.org/drawingml/2006/main">
            <a:r>
              <a:t>- /Users/jourdan.go/.codex/.chatgpt-projects/g-p-69390cd496c4819189246120c7ca0241/implementation/canary_app/models/day35_weight_manifest.json</a:t>
            </a:r>
          </a:p>
          <a:p xmlns:a="http://schemas.openxmlformats.org/drawingml/2006/main">
            <a:r>
              <a:t>- /Users/jourdan.go/.codex/.chatgpt-projects/g-p-69390cd496c4819189246120c7ca0241/implementation/canary_app/outputs/model_ready/Project_Canary_Model_Ready_Data.xlsx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Complexity is not the main bottleneck. Better outcome labels, standardized measurements, biological curve structure, and more independent cycles will likely improve reliability more than adding a larger model zoo.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/Users/jourdan.go/.codex/.chatgpt-projects/g-p-69390cd496c4819189246120c7ca0241/implementation/canary_app/models/recovery_manifest.json</a:t>
            </a:r>
          </a:p>
          <a:p xmlns:a="http://schemas.openxmlformats.org/drawingml/2006/main">
            <a:r>
              <a:t>- /Users/jourdan.go/.codex/.chatgpt-projects/g-p-69390cd496c4819189246120c7ca0241/implementation/canary_app/models/day35_weight_manifest.json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honest proposition: the system is valuable because it organizes evidence and uncertainty into a repeatable management workflow—not because the present small-data forecasts are guarantees.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/Users/jourdan.go/.codex/.chatgpt-projects/g-p-69390cd496c4819189246120c7ca0241/implementation/canary_app/data/FARM HARVEST DATA.xlsx</a:t>
            </a:r>
          </a:p>
          <a:p xmlns:a="http://schemas.openxmlformats.org/drawingml/2006/main">
            <a:r>
              <a:t>- /Users/jourdan.go/.codex/.chatgpt-projects/g-p-69390cd496c4819189246120c7ca0241/implementation/canary_app/models/recovery_manifest.json</a:t>
            </a:r>
          </a:p>
          <a:p xmlns:a="http://schemas.openxmlformats.org/drawingml/2006/main">
            <a:r>
              <a:t>- /Users/jourdan.go/.codex/.chatgpt-projects/g-p-69390cd496c4819189246120c7ca0241/implementation/canary_app/models/day35_weight_manifest.json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ae1dc14f447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4eddd8d7a64b53" /><Relationship Type="http://schemas.openxmlformats.org/officeDocument/2006/relationships/slideLayout" Target="/ppt/slideLayouts/slideLayout1.xml" Id="R6e268502207445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268502207445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c2b39af374876" /><Relationship Type="http://schemas.openxmlformats.org/officeDocument/2006/relationships/notesSlide" Target="/ppt/notesSlides/notesSlide1.xml" Id="R5aa5b110d42d47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0ca922db34d97" /><Relationship Type="http://schemas.openxmlformats.org/officeDocument/2006/relationships/notesSlide" Target="/ppt/notesSlides/notesSlide2.xml" Id="Re5b0ebbc75284e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28f169eae4d8a" /><Relationship Type="http://schemas.openxmlformats.org/officeDocument/2006/relationships/notesSlide" Target="/ppt/notesSlides/notesSlide3.xml" Id="R864995de692f41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d109386d94e33" /><Relationship Type="http://schemas.openxmlformats.org/officeDocument/2006/relationships/notesSlide" Target="/ppt/notesSlides/notesSlide4.xml" Id="Rd1f4e61165e84d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ae8e4cfe34a6e" /><Relationship Type="http://schemas.openxmlformats.org/officeDocument/2006/relationships/image" Target="/ppt/media/image.png" Id="R9b87562111484fe9" /><Relationship Type="http://schemas.openxmlformats.org/officeDocument/2006/relationships/notesSlide" Target="/ppt/notesSlides/notesSlide5.xml" Id="R743910879d8f4b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4db2073994393" /><Relationship Type="http://schemas.openxmlformats.org/officeDocument/2006/relationships/image" Target="/ppt/media/image2.png" Id="R2f38e32e46264390" /><Relationship Type="http://schemas.openxmlformats.org/officeDocument/2006/relationships/notesSlide" Target="/ppt/notesSlides/notesSlide6.xml" Id="R84447a9b5e4449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f555da2b34868" /><Relationship Type="http://schemas.openxmlformats.org/officeDocument/2006/relationships/image" Target="/ppt/media/image3.png" Id="Rfa1da59a11f644cd" /><Relationship Type="http://schemas.openxmlformats.org/officeDocument/2006/relationships/notesSlide" Target="/ppt/notesSlides/notesSlide7.xml" Id="R44127fec899e4e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c4fb759244f16" /><Relationship Type="http://schemas.openxmlformats.org/officeDocument/2006/relationships/image" Target="/ppt/media/image4.png" Id="R753f9d56a9704990" /><Relationship Type="http://schemas.openxmlformats.org/officeDocument/2006/relationships/notesSlide" Target="/ppt/notesSlides/notesSlide8.xml" Id="Ra484591db1ee45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81ba0d61f4aa3" /><Relationship Type="http://schemas.openxmlformats.org/officeDocument/2006/relationships/image" Target="/ppt/media/image5.png" Id="R6d002c1e5f9d4ada" /><Relationship Type="http://schemas.openxmlformats.org/officeDocument/2006/relationships/notesSlide" Target="/ppt/notesSlides/notesSlide9.xml" Id="R6b9e4f3e27b247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f73e90b204ed7" /><Relationship Type="http://schemas.openxmlformats.org/officeDocument/2006/relationships/image" Target="/ppt/media/image6.png" Id="R69bc3985980c4564" /><Relationship Type="http://schemas.openxmlformats.org/officeDocument/2006/relationships/notesSlide" Target="/ppt/notesSlides/notesSlide10.xml" Id="Rd4f2729b489c4d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74de24c694f49" /><Relationship Type="http://schemas.openxmlformats.org/officeDocument/2006/relationships/image" Target="/ppt/media/image7.png" Id="Ra5ab221148004de8" /><Relationship Type="http://schemas.openxmlformats.org/officeDocument/2006/relationships/notesSlide" Target="/ppt/notesSlides/notesSlide11.xml" Id="R14af68e7e98e40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e38fd8dec49d7" /><Relationship Type="http://schemas.openxmlformats.org/officeDocument/2006/relationships/notesSlide" Target="/ppt/notesSlides/notesSlide12.xml" Id="R3704de392fcb4e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fec0f67144ef2" /><Relationship Type="http://schemas.openxmlformats.org/officeDocument/2006/relationships/notesSlide" Target="/ppt/notesSlides/notesSlide13.xml" Id="R86cfb80aab5547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c5056900b4e91" /><Relationship Type="http://schemas.openxmlformats.org/officeDocument/2006/relationships/notesSlide" Target="/ppt/notesSlides/notesSlide14.xml" Id="Ra5476f97a93e47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fa166ec26434e" /><Relationship Type="http://schemas.openxmlformats.org/officeDocument/2006/relationships/notesSlide" Target="/ppt/notesSlides/notesSlide15.xml" Id="R79c1848b7a4d4f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8a41294884ac0" /><Relationship Type="http://schemas.openxmlformats.org/officeDocument/2006/relationships/notesSlide" Target="/ppt/notesSlides/notesSlide16.xml" Id="Rf3eaeb70aeed47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53e3a16714e6e" /><Relationship Type="http://schemas.openxmlformats.org/officeDocument/2006/relationships/image" Target="/ppt/media/image8.png" Id="R200502d3dbe441dd" /><Relationship Type="http://schemas.openxmlformats.org/officeDocument/2006/relationships/image" Target="/ppt/media/image9.png" Id="R80c5ec47fd5240e3" /><Relationship Type="http://schemas.openxmlformats.org/officeDocument/2006/relationships/notesSlide" Target="/ppt/notesSlides/notesSlide17.xml" Id="Rf6931ef9ab3f4c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830f56518452f" /><Relationship Type="http://schemas.openxmlformats.org/officeDocument/2006/relationships/image" Target="/ppt/media/image10.png" Id="R174cfb53c566481d" /><Relationship Type="http://schemas.openxmlformats.org/officeDocument/2006/relationships/notesSlide" Target="/ppt/notesSlides/notesSlide18.xml" Id="Rf876e221000846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c5aee7d6a4fd7" /><Relationship Type="http://schemas.openxmlformats.org/officeDocument/2006/relationships/notesSlide" Target="/ppt/notesSlides/notesSlide19.xml" Id="Ra135a27b7c3e4f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61e000ed948aa" /><Relationship Type="http://schemas.openxmlformats.org/officeDocument/2006/relationships/notesSlide" Target="/ppt/notesSlides/notesSlide20.xml" Id="Rb2ed9c3ccf3149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26875657b4477" /><Relationship Type="http://schemas.openxmlformats.org/officeDocument/2006/relationships/notesSlide" Target="/ppt/notesSlides/notesSlide21.xml" Id="Rf65cd9611a754b6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1e6b9d65d4b5c" /><Relationship Type="http://schemas.openxmlformats.org/officeDocument/2006/relationships/notesSlide" Target="/ppt/notesSlides/notesSlide22.xml" Id="R9f74efccd6cc4b1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fa5e8f7f24ad2" /><Relationship Type="http://schemas.openxmlformats.org/officeDocument/2006/relationships/image" Target="/ppt/media/image11.png" Id="R4d556403029841cf" /><Relationship Type="http://schemas.openxmlformats.org/officeDocument/2006/relationships/image" Target="/ppt/media/image12.png" Id="Rbed65f17be094ded" /><Relationship Type="http://schemas.openxmlformats.org/officeDocument/2006/relationships/notesSlide" Target="/ppt/notesSlides/notesSlide23.xml" Id="Rb9acced90a92474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b05d0be954b7e" /><Relationship Type="http://schemas.openxmlformats.org/officeDocument/2006/relationships/notesSlide" Target="/ppt/notesSlides/notesSlide24.xml" Id="R42e9569df61549b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0ad08c3bf40de" /><Relationship Type="http://schemas.openxmlformats.org/officeDocument/2006/relationships/notesSlide" Target="/ppt/notesSlides/notesSlide25.xml" Id="R83bd6cf5a1d74fc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2abdeab0b4280" /><Relationship Type="http://schemas.openxmlformats.org/officeDocument/2006/relationships/notesSlide" Target="/ppt/notesSlides/notesSlide26.xml" Id="Rd47f7a9a5f6245d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3ad5bd85849e1" /><Relationship Type="http://schemas.openxmlformats.org/officeDocument/2006/relationships/notesSlide" Target="/ppt/notesSlides/notesSlide27.xml" Id="R3f40957c675a4f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r">
            <a:extLst xmlns:a="http://schemas.openxmlformats.org/drawingml/2006/main">
              <a:ext uri="{FF2B5EF4-FFF2-40B4-BE49-F238E27FC236}">
                <a16:creationId xmlns:a16="http://schemas.microsoft.com/office/drawing/2014/main" id="{FAE4A3BC-DFAF-4098-A25F-A19D4EFB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-54-44">
            <a:extLst xmlns:a="http://schemas.openxmlformats.org/drawingml/2006/main">
              <a:ext uri="{FF2B5EF4-FFF2-40B4-BE49-F238E27FC236}">
                <a16:creationId xmlns:a16="http://schemas.microsoft.com/office/drawing/2014/main" id="{BB4C65F7-8624-4CE1-A8CB-26605088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CAPSTONE MODEL PROOF</a:t>
            </a:r>
          </a:p>
        </p:txBody>
      </p:sp>
      <p:sp>
        <p:nvSpPr>
          <p:cNvPr id="3" name="t-54-150">
            <a:extLst xmlns:a="http://schemas.openxmlformats.org/drawingml/2006/main">
              <a:ext uri="{FF2B5EF4-FFF2-40B4-BE49-F238E27FC236}">
                <a16:creationId xmlns:a16="http://schemas.microsoft.com/office/drawing/2014/main" id="{44073DAE-F5EA-4140-9ED4-F6A25E9B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810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5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Evidence first.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Forecasts second.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Decisions always explainable.</a:t>
            </a:r>
          </a:p>
        </p:txBody>
      </p:sp>
      <p:sp>
        <p:nvSpPr>
          <p:cNvPr id="4" name="t-58-448">
            <a:extLst xmlns:a="http://schemas.openxmlformats.org/drawingml/2006/main">
              <a:ext uri="{FF2B5EF4-FFF2-40B4-BE49-F238E27FC236}">
                <a16:creationId xmlns:a16="http://schemas.microsoft.com/office/drawing/2014/main" id="{A8815A6A-DD58-43F7-A5AE-C703B973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723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Refreshed EDA, leakage-safe validation, model comparisons, SHAP evidence, and an honest reliability boundary.</a:t>
            </a:r>
          </a:p>
        </p:txBody>
      </p:sp>
      <p:sp>
        <p:nvSpPr>
          <p:cNvPr id="5" name="mark">
            <a:extLst xmlns:a="http://schemas.openxmlformats.org/drawingml/2006/main">
              <a:ext uri="{FF2B5EF4-FFF2-40B4-BE49-F238E27FC236}">
                <a16:creationId xmlns:a16="http://schemas.microsoft.com/office/drawing/2014/main" id="{63F81F05-1A51-4C42-BA2B-A98CF6EE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876300"/>
            <a:ext cx="2343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-972-110">
            <a:extLst xmlns:a="http://schemas.openxmlformats.org/drawingml/2006/main">
              <a:ext uri="{FF2B5EF4-FFF2-40B4-BE49-F238E27FC236}">
                <a16:creationId xmlns:a16="http://schemas.microsoft.com/office/drawing/2014/main" id="{580E27E2-907E-4184-BB29-366918B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0477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61"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7" name="t-974-217">
            <a:extLst xmlns:a="http://schemas.openxmlformats.org/drawingml/2006/main">
              <a:ext uri="{FF2B5EF4-FFF2-40B4-BE49-F238E27FC236}">
                <a16:creationId xmlns:a16="http://schemas.microsoft.com/office/drawing/2014/main" id="{63E09AEF-87D2-4F0F-BE29-CCF3D1CA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669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independent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building outcomes</a:t>
            </a:r>
          </a:p>
        </p:txBody>
      </p:sp>
      <p:sp>
        <p:nvSpPr>
          <p:cNvPr id="8" name="t-58-642">
            <a:extLst xmlns:a="http://schemas.openxmlformats.org/drawingml/2006/main">
              <a:ext uri="{FF2B5EF4-FFF2-40B4-BE49-F238E27FC236}">
                <a16:creationId xmlns:a16="http://schemas.microsoft.com/office/drawing/2014/main" id="{480BCFD6-6C98-43AD-9F3A-F08B2900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LATEST DATA REFRESH · 12 AUG 2026</a:t>
            </a:r>
          </a:p>
        </p:txBody>
      </p:sp>
    </p:spTree>
    <p:extLst>
      <p:ext uri="{BB962C8B-B14F-4D97-AF65-F5344CB8AC3E}">
        <p14:creationId xmlns:p14="http://schemas.microsoft.com/office/powerpoint/2010/main" val="8114831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-42-26">
            <a:extLst xmlns:a="http://schemas.openxmlformats.org/drawingml/2006/main">
              <a:ext uri="{FF2B5EF4-FFF2-40B4-BE49-F238E27FC236}">
                <a16:creationId xmlns:a16="http://schemas.microsoft.com/office/drawing/2014/main" id="{E6CF5C31-311D-442A-9368-304FCE0B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4819A195-4552-400A-A36F-3FBFB732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business need is consistency—not another dashboard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C71799F4-47CA-408A-A685-3B151458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t-52-160">
            <a:extLst xmlns:a="http://schemas.openxmlformats.org/drawingml/2006/main">
              <a:ext uri="{FF2B5EF4-FFF2-40B4-BE49-F238E27FC236}">
                <a16:creationId xmlns:a16="http://schemas.microsoft.com/office/drawing/2014/main" id="{9572CF19-AFDB-408F-89A6-AAA2B6B2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Production outcomes vary by cycle and building. Management needs earlier evidence of drift while there is still time to investigate.</a:t>
            </a:r>
          </a:p>
        </p:txBody>
      </p:sp>
      <p:sp>
        <p:nvSpPr>
          <p:cNvPr id="6" name="t-48-292">
            <a:extLst xmlns:a="http://schemas.openxmlformats.org/drawingml/2006/main">
              <a:ext uri="{FF2B5EF4-FFF2-40B4-BE49-F238E27FC236}">
                <a16:creationId xmlns:a16="http://schemas.microsoft.com/office/drawing/2014/main" id="{7E828A9D-4C18-4E8F-B2FD-EC7187C0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3114675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8" name="t-48-344">
            <a:extLst xmlns:a="http://schemas.openxmlformats.org/drawingml/2006/main">
              <a:ext uri="{FF2B5EF4-FFF2-40B4-BE49-F238E27FC236}">
                <a16:creationId xmlns:a16="http://schemas.microsoft.com/office/drawing/2014/main" id="{476070C6-F54F-4518-8CA8-94A9F402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Earlier visibility</a:t>
            </a:r>
          </a:p>
        </p:txBody>
      </p:sp>
      <p:sp>
        <p:nvSpPr>
          <p:cNvPr id="9" name="t-48-394">
            <a:extLst xmlns:a="http://schemas.openxmlformats.org/drawingml/2006/main">
              <a:ext uri="{FF2B5EF4-FFF2-40B4-BE49-F238E27FC236}">
                <a16:creationId xmlns:a16="http://schemas.microsoft.com/office/drawing/2014/main" id="{45A402AB-C14C-4A89-86FF-DADFE58A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259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Freeze the latest trustworthy records.</a:t>
            </a:r>
          </a:p>
        </p:txBody>
      </p:sp>
      <p:sp>
        <p:nvSpPr>
          <p:cNvPr id="10" name="t-344-292">
            <a:extLst xmlns:a="http://schemas.openxmlformats.org/drawingml/2006/main">
              <a:ext uri="{FF2B5EF4-FFF2-40B4-BE49-F238E27FC236}">
                <a16:creationId xmlns:a16="http://schemas.microsoft.com/office/drawing/2014/main" id="{88742B7F-51CB-46E4-805D-5C30F75A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3276600" y="3114675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2" name="t-344-344">
            <a:extLst xmlns:a="http://schemas.openxmlformats.org/drawingml/2006/main">
              <a:ext uri="{FF2B5EF4-FFF2-40B4-BE49-F238E27FC236}">
                <a16:creationId xmlns:a16="http://schemas.microsoft.com/office/drawing/2014/main" id="{510141D2-62ED-49CE-A3F4-FA695B83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766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Earlier investigation</a:t>
            </a:r>
          </a:p>
        </p:txBody>
      </p:sp>
      <p:sp>
        <p:nvSpPr>
          <p:cNvPr id="13" name="t-344-394">
            <a:extLst xmlns:a="http://schemas.openxmlformats.org/drawingml/2006/main">
              <a:ext uri="{FF2B5EF4-FFF2-40B4-BE49-F238E27FC236}">
                <a16:creationId xmlns:a16="http://schemas.microsoft.com/office/drawing/2014/main" id="{0DCC5AE9-CC98-4F3D-B289-B77563C9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52850"/>
            <a:ext cx="259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Prioritize the strongest recorded trigger.</a:t>
            </a:r>
          </a:p>
        </p:txBody>
      </p:sp>
      <p:sp>
        <p:nvSpPr>
          <p:cNvPr id="14" name="t-640-292">
            <a:extLst xmlns:a="http://schemas.openxmlformats.org/drawingml/2006/main">
              <a:ext uri="{FF2B5EF4-FFF2-40B4-BE49-F238E27FC236}">
                <a16:creationId xmlns:a16="http://schemas.microsoft.com/office/drawing/2014/main" id="{2F26A153-C2CA-4EE9-8250-151F4DB5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6096000" y="3114675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6" name="t-640-344">
            <a:extLst xmlns:a="http://schemas.openxmlformats.org/drawingml/2006/main">
              <a:ext uri="{FF2B5EF4-FFF2-40B4-BE49-F238E27FC236}">
                <a16:creationId xmlns:a16="http://schemas.microsoft.com/office/drawing/2014/main" id="{19BAA2EF-1069-4E94-9451-712CBEF7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Earlier action</a:t>
            </a:r>
          </a:p>
        </p:txBody>
      </p:sp>
      <p:sp>
        <p:nvSpPr>
          <p:cNvPr id="17" name="t-640-394">
            <a:extLst xmlns:a="http://schemas.openxmlformats.org/drawingml/2006/main">
              <a:ext uri="{FF2B5EF4-FFF2-40B4-BE49-F238E27FC236}">
                <a16:creationId xmlns:a16="http://schemas.microsoft.com/office/drawing/2014/main" id="{4610C97D-E3B6-4E74-B476-B6FC5DCC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259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Use Doc Raymond's approved inspection playbook.</a:t>
            </a:r>
          </a:p>
        </p:txBody>
      </p:sp>
      <p:sp>
        <p:nvSpPr>
          <p:cNvPr id="18" name="t-936-292">
            <a:extLst xmlns:a="http://schemas.openxmlformats.org/drawingml/2006/main">
              <a:ext uri="{FF2B5EF4-FFF2-40B4-BE49-F238E27FC236}">
                <a16:creationId xmlns:a16="http://schemas.microsoft.com/office/drawing/2014/main" id="{7FE25A27-E5E5-4695-AC34-61CFDFAD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8915400" y="3114675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20" name="t-936-344">
            <a:extLst xmlns:a="http://schemas.openxmlformats.org/drawingml/2006/main">
              <a:ext uri="{FF2B5EF4-FFF2-40B4-BE49-F238E27FC236}">
                <a16:creationId xmlns:a16="http://schemas.microsoft.com/office/drawing/2014/main" id="{213E64F0-3F71-4A22-94AD-A9EB45B2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766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More consistency</a:t>
            </a:r>
          </a:p>
        </p:txBody>
      </p:sp>
      <p:sp>
        <p:nvSpPr>
          <p:cNvPr id="21" name="t-936-394">
            <a:extLst xmlns:a="http://schemas.openxmlformats.org/drawingml/2006/main">
              <a:ext uri="{FF2B5EF4-FFF2-40B4-BE49-F238E27FC236}">
                <a16:creationId xmlns:a16="http://schemas.microsoft.com/office/drawing/2014/main" id="{94957EFC-DC62-4651-BE50-866FA69A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52850"/>
            <a:ext cx="259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Support recovery and Day 35 weight attainment.</a:t>
            </a:r>
          </a:p>
        </p:txBody>
      </p:sp>
      <p:sp>
        <p:nvSpPr>
          <p:cNvPr id="22" name="question">
            <a:extLst xmlns:a="http://schemas.openxmlformats.org/drawingml/2006/main">
              <a:ext uri="{FF2B5EF4-FFF2-40B4-BE49-F238E27FC236}">
                <a16:creationId xmlns:a16="http://schemas.microsoft.com/office/drawing/2014/main" id="{9845403E-0DE5-4D40-AE2A-7B647686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05450"/>
            <a:ext cx="11029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-72-594">
            <a:extLst xmlns:a="http://schemas.openxmlformats.org/drawingml/2006/main">
              <a:ext uri="{FF2B5EF4-FFF2-40B4-BE49-F238E27FC236}">
                <a16:creationId xmlns:a16="http://schemas.microsoft.com/office/drawing/2014/main" id="{7D175EB8-B08B-4185-BCAB-544B841F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61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Daily question: Which buildings are off-track, why, what outcomes are expected, and what should management check first?</a:t>
            </a:r>
          </a:p>
        </p:txBody>
      </p:sp>
    </p:spTree>
    <p:extLst>
      <p:ext uri="{BB962C8B-B14F-4D97-AF65-F5344CB8AC3E}">
        <p14:creationId xmlns:p14="http://schemas.microsoft.com/office/powerpoint/2010/main" val="1746593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-42-26">
            <a:extLst xmlns:a="http://schemas.openxmlformats.org/drawingml/2006/main">
              <a:ext uri="{FF2B5EF4-FFF2-40B4-BE49-F238E27FC236}">
                <a16:creationId xmlns:a16="http://schemas.microsoft.com/office/drawing/2014/main" id="{0B4872A5-05B1-4D23-8A6C-12257C16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5808DE31-AA45-49F4-8C28-BB518F95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refreshed evidence base is small—but fully traceable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C7C76DB8-6D63-4C83-9448-3ED648DE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t-54-176">
            <a:extLst xmlns:a="http://schemas.openxmlformats.org/drawingml/2006/main">
              <a:ext uri="{FF2B5EF4-FFF2-40B4-BE49-F238E27FC236}">
                <a16:creationId xmlns:a16="http://schemas.microsoft.com/office/drawing/2014/main" id="{3EB00CF8-A0A5-48AF-BD0A-E961542B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1,785</a:t>
            </a:r>
          </a:p>
        </p:txBody>
      </p:sp>
      <p:sp>
        <p:nvSpPr>
          <p:cNvPr id="6" name="t-54-231">
            <a:extLst xmlns:a="http://schemas.openxmlformats.org/drawingml/2006/main">
              <a:ext uri="{FF2B5EF4-FFF2-40B4-BE49-F238E27FC236}">
                <a16:creationId xmlns:a16="http://schemas.microsoft.com/office/drawing/2014/main" id="{8E1A72F6-75EE-455B-AADB-7658A7BA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027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source workbook rows</a:t>
            </a:r>
          </a:p>
        </p:txBody>
      </p:sp>
      <p:sp>
        <p:nvSpPr>
          <p:cNvPr id="7" name="t-310-176">
            <a:extLst xmlns:a="http://schemas.openxmlformats.org/drawingml/2006/main">
              <a:ext uri="{FF2B5EF4-FFF2-40B4-BE49-F238E27FC236}">
                <a16:creationId xmlns:a16="http://schemas.microsoft.com/office/drawing/2014/main" id="{1F327B8D-93E1-4848-BFAC-D3F6C4D8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1,666</a:t>
            </a:r>
          </a:p>
        </p:txBody>
      </p:sp>
      <p:sp>
        <p:nvSpPr>
          <p:cNvPr id="8" name="t-310-231">
            <a:extLst xmlns:a="http://schemas.openxmlformats.org/drawingml/2006/main">
              <a:ext uri="{FF2B5EF4-FFF2-40B4-BE49-F238E27FC236}">
                <a16:creationId xmlns:a16="http://schemas.microsoft.com/office/drawing/2014/main" id="{AA39748B-9A34-4E6B-9D01-011B4E0D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02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canonical building-days after zone aggregation</a:t>
            </a:r>
          </a:p>
        </p:txBody>
      </p:sp>
      <p:sp>
        <p:nvSpPr>
          <p:cNvPr id="9" name="t-636-176">
            <a:extLst xmlns:a="http://schemas.openxmlformats.org/drawingml/2006/main">
              <a:ext uri="{FF2B5EF4-FFF2-40B4-BE49-F238E27FC236}">
                <a16:creationId xmlns:a16="http://schemas.microsoft.com/office/drawing/2014/main" id="{193466C2-91A6-4AD0-BB61-A6D282FC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10" name="t-636-231">
            <a:extLst xmlns:a="http://schemas.openxmlformats.org/drawingml/2006/main">
              <a:ext uri="{FF2B5EF4-FFF2-40B4-BE49-F238E27FC236}">
                <a16:creationId xmlns:a16="http://schemas.microsoft.com/office/drawing/2014/main" id="{E72678CA-6F45-4D47-9FDE-3712624B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002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eligible building outcomes across six cycles</a:t>
            </a:r>
          </a:p>
        </p:txBody>
      </p:sp>
      <p:sp>
        <p:nvSpPr>
          <p:cNvPr id="11" name="t-938-176">
            <a:extLst xmlns:a="http://schemas.openxmlformats.org/drawingml/2006/main">
              <a:ext uri="{FF2B5EF4-FFF2-40B4-BE49-F238E27FC236}">
                <a16:creationId xmlns:a16="http://schemas.microsoft.com/office/drawing/2014/main" id="{3AD44AF5-945B-468B-B0FE-966C4BCB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151 / 124</a:t>
            </a:r>
          </a:p>
        </p:txBody>
      </p:sp>
      <p:sp>
        <p:nvSpPr>
          <p:cNvPr id="12" name="t-938-231">
            <a:extLst xmlns:a="http://schemas.openxmlformats.org/drawingml/2006/main">
              <a:ext uri="{FF2B5EF4-FFF2-40B4-BE49-F238E27FC236}">
                <a16:creationId xmlns:a16="http://schemas.microsoft.com/office/drawing/2014/main" id="{53E5ED6B-8700-419C-8673-870DF097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002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recovery / weight training snapshots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514350" y="29908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4" name="t-48-356">
            <a:extLst xmlns:a="http://schemas.openxmlformats.org/drawingml/2006/main">
              <a:ext uri="{FF2B5EF4-FFF2-40B4-BE49-F238E27FC236}">
                <a16:creationId xmlns:a16="http://schemas.microsoft.com/office/drawing/2014/main" id="{ADE7FFFA-FC8E-4EF1-8364-00B97D4F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57200" y="37242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6" name="t-48-408">
            <a:extLst xmlns:a="http://schemas.openxmlformats.org/drawingml/2006/main">
              <a:ext uri="{FF2B5EF4-FFF2-40B4-BE49-F238E27FC236}">
                <a16:creationId xmlns:a16="http://schemas.microsoft.com/office/drawing/2014/main" id="{D08D4E7C-5A1D-4D69-A0D7-F45923FA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Standardize</a:t>
            </a:r>
          </a:p>
        </p:txBody>
      </p:sp>
      <p:sp>
        <p:nvSpPr>
          <p:cNvPr id="17" name="t-48-458">
            <a:extLst xmlns:a="http://schemas.openxmlformats.org/drawingml/2006/main">
              <a:ext uri="{FF2B5EF4-FFF2-40B4-BE49-F238E27FC236}">
                <a16:creationId xmlns:a16="http://schemas.microsoft.com/office/drawing/2014/main" id="{0E32EE8C-5AF8-4E0F-BF64-2C1B01C9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Unify cycle, building, date, age, units, and missingness.</a:t>
            </a:r>
          </a:p>
        </p:txBody>
      </p:sp>
      <p:sp>
        <p:nvSpPr>
          <p:cNvPr id="18" name="t-284.8-356">
            <a:extLst xmlns:a="http://schemas.openxmlformats.org/drawingml/2006/main">
              <a:ext uri="{FF2B5EF4-FFF2-40B4-BE49-F238E27FC236}">
                <a16:creationId xmlns:a16="http://schemas.microsoft.com/office/drawing/2014/main" id="{B9D14857-7BE6-4314-AA43-0AF79FE8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33909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2712720" y="37242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20" name="t-284.8-408">
            <a:extLst xmlns:a="http://schemas.openxmlformats.org/drawingml/2006/main">
              <a:ext uri="{FF2B5EF4-FFF2-40B4-BE49-F238E27FC236}">
                <a16:creationId xmlns:a16="http://schemas.microsoft.com/office/drawing/2014/main" id="{81ACC7D2-0E49-4E33-B814-DCDB1E87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38862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Aggregate zones</a:t>
            </a:r>
          </a:p>
        </p:txBody>
      </p:sp>
      <p:sp>
        <p:nvSpPr>
          <p:cNvPr id="21" name="t-284.8-458">
            <a:extLst xmlns:a="http://schemas.openxmlformats.org/drawingml/2006/main">
              <a:ext uri="{FF2B5EF4-FFF2-40B4-BE49-F238E27FC236}">
                <a16:creationId xmlns:a16="http://schemas.microsoft.com/office/drawing/2014/main" id="{64632419-AD56-474B-BDDF-4BF51BED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43624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Collapse Zone A/B to one building-day before feature creation.</a:t>
            </a:r>
          </a:p>
        </p:txBody>
      </p:sp>
      <p:sp>
        <p:nvSpPr>
          <p:cNvPr id="22" name="t-521.6-356">
            <a:extLst xmlns:a="http://schemas.openxmlformats.org/drawingml/2006/main">
              <a:ext uri="{FF2B5EF4-FFF2-40B4-BE49-F238E27FC236}">
                <a16:creationId xmlns:a16="http://schemas.microsoft.com/office/drawing/2014/main" id="{2D076447-BA1E-4B5E-AB4E-E66376F4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33909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4968240" y="37242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24" name="t-521.6-408">
            <a:extLst xmlns:a="http://schemas.openxmlformats.org/drawingml/2006/main">
              <a:ext uri="{FF2B5EF4-FFF2-40B4-BE49-F238E27FC236}">
                <a16:creationId xmlns:a16="http://schemas.microsoft.com/office/drawing/2014/main" id="{7C7387FB-6389-4E04-9468-C7A7E45A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38862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Create labels</a:t>
            </a:r>
          </a:p>
        </p:txBody>
      </p:sp>
      <p:sp>
        <p:nvSpPr>
          <p:cNvPr id="25" name="t-521.6-458">
            <a:extLst xmlns:a="http://schemas.openxmlformats.org/drawingml/2006/main">
              <a:ext uri="{FF2B5EF4-FFF2-40B4-BE49-F238E27FC236}">
                <a16:creationId xmlns:a16="http://schemas.microsoft.com/office/drawing/2014/main" id="{048AAE56-4D52-44CC-AB4E-4B43CA88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43624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Recovery proxy and recorded Day 35 weight.</a:t>
            </a:r>
          </a:p>
        </p:txBody>
      </p:sp>
      <p:sp>
        <p:nvSpPr>
          <p:cNvPr id="26" name="t-758.4000000000001-356">
            <a:extLst xmlns:a="http://schemas.openxmlformats.org/drawingml/2006/main">
              <a:ext uri="{FF2B5EF4-FFF2-40B4-BE49-F238E27FC236}">
                <a16:creationId xmlns:a16="http://schemas.microsoft.com/office/drawing/2014/main" id="{3E675E2E-ABD6-496C-96F7-162DF169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3909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7223760" y="37242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28" name="t-758.4000000000001-408">
            <a:extLst xmlns:a="http://schemas.openxmlformats.org/drawingml/2006/main">
              <a:ext uri="{FF2B5EF4-FFF2-40B4-BE49-F238E27FC236}">
                <a16:creationId xmlns:a16="http://schemas.microsoft.com/office/drawing/2014/main" id="{3D11E31F-C262-494A-A788-5B5CA4B7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8862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Recreate decisions</a:t>
            </a:r>
          </a:p>
        </p:txBody>
      </p:sp>
      <p:sp>
        <p:nvSpPr>
          <p:cNvPr id="29" name="t-758.4000000000001-458">
            <a:extLst xmlns:a="http://schemas.openxmlformats.org/drawingml/2006/main">
              <a:ext uri="{FF2B5EF4-FFF2-40B4-BE49-F238E27FC236}">
                <a16:creationId xmlns:a16="http://schemas.microsoft.com/office/drawing/2014/main" id="{E2CFFE7A-4E2F-4203-9803-BA04CB4B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3624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Build as-of-date snapshots with future fields hidden.</a:t>
            </a:r>
          </a:p>
        </p:txBody>
      </p:sp>
      <p:sp>
        <p:nvSpPr>
          <p:cNvPr id="30" name="t-995.2-356">
            <a:extLst xmlns:a="http://schemas.openxmlformats.org/drawingml/2006/main">
              <a:ext uri="{FF2B5EF4-FFF2-40B4-BE49-F238E27FC236}">
                <a16:creationId xmlns:a16="http://schemas.microsoft.com/office/drawing/2014/main" id="{8560D835-8375-416F-9853-450F27E1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09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9479280" y="37242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32" name="t-995.2-408">
            <a:extLst xmlns:a="http://schemas.openxmlformats.org/drawingml/2006/main">
              <a:ext uri="{FF2B5EF4-FFF2-40B4-BE49-F238E27FC236}">
                <a16:creationId xmlns:a16="http://schemas.microsoft.com/office/drawing/2014/main" id="{FB519921-4294-4F3F-B409-68974C0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8862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Validate cycles</a:t>
            </a:r>
          </a:p>
        </p:txBody>
      </p:sp>
      <p:sp>
        <p:nvSpPr>
          <p:cNvPr id="33" name="t-995.2-458">
            <a:extLst xmlns:a="http://schemas.openxmlformats.org/drawingml/2006/main">
              <a:ext uri="{FF2B5EF4-FFF2-40B4-BE49-F238E27FC236}">
                <a16:creationId xmlns:a16="http://schemas.microsoft.com/office/drawing/2014/main" id="{ED0B41C5-F673-4BA2-B58B-3A85E5E1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43624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Hold out every row from a complete unseen cycle.</a:t>
            </a:r>
          </a:p>
        </p:txBody>
      </p:sp>
    </p:spTree>
    <p:extLst>
      <p:ext uri="{BB962C8B-B14F-4D97-AF65-F5344CB8AC3E}">
        <p14:creationId xmlns:p14="http://schemas.microsoft.com/office/powerpoint/2010/main" val="1887679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-42-26">
            <a:extLst xmlns:a="http://schemas.openxmlformats.org/drawingml/2006/main">
              <a:ext uri="{FF2B5EF4-FFF2-40B4-BE49-F238E27FC236}">
                <a16:creationId xmlns:a16="http://schemas.microsoft.com/office/drawing/2014/main" id="{5A5D3928-2813-418F-853A-23A29B13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A0DBA0FB-00F3-4379-A9FC-A18AEA6F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Seven EDA questions connect evidence to a decision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9EAE0D47-5AF6-4D96-B473-48CE12F2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t-80-180">
            <a:extLst xmlns:a="http://schemas.openxmlformats.org/drawingml/2006/main">
              <a:ext uri="{FF2B5EF4-FFF2-40B4-BE49-F238E27FC236}">
                <a16:creationId xmlns:a16="http://schemas.microsoft.com/office/drawing/2014/main" id="{7B162AEA-1F61-42E3-9F2B-B281057E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482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1. Is recovery consistently meeting 95%?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2. Is Day 35 weight consistently meeting 1,800 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3. Do outcomes differ by building?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4. Does Day 14 weight signal Day 35 weight?</a:t>
            </a:r>
          </a:p>
        </p:txBody>
      </p:sp>
      <p:sp>
        <p:nvSpPr>
          <p:cNvPr id="6" name="t-680-180">
            <a:extLst xmlns:a="http://schemas.openxmlformats.org/drawingml/2006/main">
              <a:ext uri="{FF2B5EF4-FFF2-40B4-BE49-F238E27FC236}">
                <a16:creationId xmlns:a16="http://schemas.microsoft.com/office/drawing/2014/main" id="{E9D9F472-E5AB-442E-8445-6D773691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5. Does Day 14 weight signal recovery?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6. How does target attainment evolve with age?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7. Which operational signals associate with recovery?</a:t>
            </a:r>
          </a:p>
        </p:txBody>
      </p:sp>
      <p:sp>
        <p:nvSpPr>
          <p:cNvPr id="7" name="caveat">
            <a:extLst xmlns:a="http://schemas.openxmlformats.org/drawingml/2006/main">
              <a:ext uri="{FF2B5EF4-FFF2-40B4-BE49-F238E27FC236}">
                <a16:creationId xmlns:a16="http://schemas.microsoft.com/office/drawing/2014/main" id="{6A4B1FB5-2DD0-4E80-8FA1-03A9511E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-704-536">
            <a:extLst xmlns:a="http://schemas.openxmlformats.org/drawingml/2006/main">
              <a:ext uri="{FF2B5EF4-FFF2-40B4-BE49-F238E27FC236}">
                <a16:creationId xmlns:a16="http://schemas.microsoft.com/office/drawing/2014/main" id="{162D16F2-88DE-4C91-8513-A0C1F088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0540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9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EDA shows association and patterns. It does not prove that changing a feature will cause a better outcome.</a:t>
            </a:r>
          </a:p>
        </p:txBody>
      </p:sp>
    </p:spTree>
    <p:extLst>
      <p:ext uri="{BB962C8B-B14F-4D97-AF65-F5344CB8AC3E}">
        <p14:creationId xmlns:p14="http://schemas.microsoft.com/office/powerpoint/2010/main" val="295379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-42-26">
            <a:extLst xmlns:a="http://schemas.openxmlformats.org/drawingml/2006/main">
              <a:ext uri="{FF2B5EF4-FFF2-40B4-BE49-F238E27FC236}">
                <a16:creationId xmlns:a16="http://schemas.microsoft.com/office/drawing/2014/main" id="{9624FDEE-101E-4536-BE43-4DEF4DA7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EDA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27332FF9-6B5B-4F06-A47F-F816D173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Q1 · Is harvest recovery consistently meeting 95%?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4567BB0F-4204-4A62-8F60-94B019C0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7562111484fe9"/>
          <a:stretch xmlns:a="http://schemas.openxmlformats.org/drawingml/2006/main"/>
        </p:blipFill>
        <p:spPr>
          <a:xfrm xmlns:a="http://schemas.openxmlformats.org/drawingml/2006/main">
            <a:off x="400050" y="1772697"/>
            <a:ext cx="7524750" cy="3998406"/>
          </a:xfrm>
          <a:prstGeom xmlns:a="http://schemas.openxmlformats.org/drawingml/2006/main" prst="rect">
            <a:avLst/>
          </a:prstGeom>
        </p:spPr>
      </p:pic>
      <p:sp>
        <p:nvSpPr>
          <p:cNvPr id="6" name="t-868-158">
            <a:extLst xmlns:a="http://schemas.openxmlformats.org/drawingml/2006/main">
              <a:ext uri="{FF2B5EF4-FFF2-40B4-BE49-F238E27FC236}">
                <a16:creationId xmlns:a16="http://schemas.microsoft.com/office/drawing/2014/main" id="{F8099C49-F3B4-4C52-84A1-CA242F0D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7" name="t-868-181">
            <a:extLst xmlns:a="http://schemas.openxmlformats.org/drawingml/2006/main">
              <a:ext uri="{FF2B5EF4-FFF2-40B4-BE49-F238E27FC236}">
                <a16:creationId xmlns:a16="http://schemas.microsoft.com/office/drawing/2014/main" id="{B0E21ED2-EC2D-4A86-9029-9DFCC82F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2402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Six cycle proxies range from 88.5% to 94.9%; none reaches 95%.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267700" y="2476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9" name="t-868-276">
            <a:extLst xmlns:a="http://schemas.openxmlformats.org/drawingml/2006/main">
              <a:ext uri="{FF2B5EF4-FFF2-40B4-BE49-F238E27FC236}">
                <a16:creationId xmlns:a16="http://schemas.microsoft.com/office/drawing/2014/main" id="{F49BAD75-D728-4547-AC8E-94FB12DA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INSIGHT</a:t>
            </a:r>
          </a:p>
        </p:txBody>
      </p:sp>
      <p:sp>
        <p:nvSpPr>
          <p:cNvPr id="10" name="t-868-299">
            <a:extLst xmlns:a="http://schemas.openxmlformats.org/drawingml/2006/main">
              <a:ext uri="{FF2B5EF4-FFF2-40B4-BE49-F238E27FC236}">
                <a16:creationId xmlns:a16="http://schemas.microsoft.com/office/drawing/2014/main" id="{787297B8-0257-4CF5-90CD-46288100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479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Recovery varies materially and remains below the desired level.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8267700" y="360045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2" name="t-868-394">
            <a:extLst xmlns:a="http://schemas.openxmlformats.org/drawingml/2006/main">
              <a:ext uri="{FF2B5EF4-FFF2-40B4-BE49-F238E27FC236}">
                <a16:creationId xmlns:a16="http://schemas.microsoft.com/office/drawing/2014/main" id="{EAC0379E-810C-41A5-A86C-E3C347C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IMPLICATION</a:t>
            </a:r>
          </a:p>
        </p:txBody>
      </p:sp>
      <p:sp>
        <p:nvSpPr>
          <p:cNvPr id="13" name="t-868-417">
            <a:extLst xmlns:a="http://schemas.openxmlformats.org/drawingml/2006/main">
              <a:ext uri="{FF2B5EF4-FFF2-40B4-BE49-F238E27FC236}">
                <a16:creationId xmlns:a16="http://schemas.microsoft.com/office/drawing/2014/main" id="{6E226C1D-54A6-4C12-9577-64B06466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7192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A single farm average hides cycle-specific deterioration.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8267700" y="47244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5" name="t-868-512">
            <a:extLst xmlns:a="http://schemas.openxmlformats.org/drawingml/2006/main">
              <a:ext uri="{FF2B5EF4-FFF2-40B4-BE49-F238E27FC236}">
                <a16:creationId xmlns:a16="http://schemas.microsoft.com/office/drawing/2014/main" id="{B4A0A222-D0F1-4D3D-AE19-43D3D499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16" name="t-868-535">
            <a:extLst xmlns:a="http://schemas.openxmlformats.org/drawingml/2006/main">
              <a:ext uri="{FF2B5EF4-FFF2-40B4-BE49-F238E27FC236}">
                <a16:creationId xmlns:a16="http://schemas.microsoft.com/office/drawing/2014/main" id="{DFC248B1-9154-4556-A754-2937020A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958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Track every cycle and investigate buildings before loss accumulates.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8267700" y="584835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0967288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-42-26">
            <a:extLst xmlns:a="http://schemas.openxmlformats.org/drawingml/2006/main">
              <a:ext uri="{FF2B5EF4-FFF2-40B4-BE49-F238E27FC236}">
                <a16:creationId xmlns:a16="http://schemas.microsoft.com/office/drawing/2014/main" id="{E30A015C-5237-48E4-BECC-DB371636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EDA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57E4455F-C006-44E4-AD25-A7361E09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Q2 · Is Day 35 weight consistently meeting 1,800 g?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D3B1A9A7-39FE-49DC-B79A-D2524BE8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8e32e46264390"/>
          <a:stretch xmlns:a="http://schemas.openxmlformats.org/drawingml/2006/main"/>
        </p:blipFill>
        <p:spPr>
          <a:xfrm xmlns:a="http://schemas.openxmlformats.org/drawingml/2006/main">
            <a:off x="400050" y="1773768"/>
            <a:ext cx="7524750" cy="3996263"/>
          </a:xfrm>
          <a:prstGeom xmlns:a="http://schemas.openxmlformats.org/drawingml/2006/main" prst="rect">
            <a:avLst/>
          </a:prstGeom>
        </p:spPr>
      </p:pic>
      <p:sp>
        <p:nvSpPr>
          <p:cNvPr id="6" name="t-868-158">
            <a:extLst xmlns:a="http://schemas.openxmlformats.org/drawingml/2006/main">
              <a:ext uri="{FF2B5EF4-FFF2-40B4-BE49-F238E27FC236}">
                <a16:creationId xmlns:a16="http://schemas.microsoft.com/office/drawing/2014/main" id="{9FB52E57-B3FC-40D3-96C9-A4CC32E7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7" name="t-868-181">
            <a:extLst xmlns:a="http://schemas.openxmlformats.org/drawingml/2006/main">
              <a:ext uri="{FF2B5EF4-FFF2-40B4-BE49-F238E27FC236}">
                <a16:creationId xmlns:a16="http://schemas.microsoft.com/office/drawing/2014/main" id="{B78DE8B9-71B0-403C-8ECB-F7BC1270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2402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Cycle means range from 1.326 to 1.810 kg.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267700" y="2476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9" name="t-868-276">
            <a:extLst xmlns:a="http://schemas.openxmlformats.org/drawingml/2006/main">
              <a:ext uri="{FF2B5EF4-FFF2-40B4-BE49-F238E27FC236}">
                <a16:creationId xmlns:a16="http://schemas.microsoft.com/office/drawing/2014/main" id="{19509090-24A0-4B09-BB1F-41448861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INSIGHT</a:t>
            </a:r>
          </a:p>
        </p:txBody>
      </p:sp>
      <p:sp>
        <p:nvSpPr>
          <p:cNvPr id="10" name="t-868-299">
            <a:extLst xmlns:a="http://schemas.openxmlformats.org/drawingml/2006/main">
              <a:ext uri="{FF2B5EF4-FFF2-40B4-BE49-F238E27FC236}">
                <a16:creationId xmlns:a16="http://schemas.microsoft.com/office/drawing/2014/main" id="{9FE8C004-CD80-42E7-A41D-CE65706F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479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Only the earliest cycle mean is near the 1,800 g milestone.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8267700" y="360045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2" name="t-868-394">
            <a:extLst xmlns:a="http://schemas.openxmlformats.org/drawingml/2006/main">
              <a:ext uri="{FF2B5EF4-FFF2-40B4-BE49-F238E27FC236}">
                <a16:creationId xmlns:a16="http://schemas.microsoft.com/office/drawing/2014/main" id="{1C207351-761E-4D17-BAC2-2DC95D8B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IMPLICATION</a:t>
            </a:r>
          </a:p>
        </p:txBody>
      </p:sp>
      <p:sp>
        <p:nvSpPr>
          <p:cNvPr id="13" name="t-868-417">
            <a:extLst xmlns:a="http://schemas.openxmlformats.org/drawingml/2006/main">
              <a:ext uri="{FF2B5EF4-FFF2-40B4-BE49-F238E27FC236}">
                <a16:creationId xmlns:a16="http://schemas.microsoft.com/office/drawing/2014/main" id="{36AA7DA8-7895-4CB1-8763-001314E1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7192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Growth shortfall is persistent, not an isolated building event.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8267700" y="47244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5" name="t-868-512">
            <a:extLst xmlns:a="http://schemas.openxmlformats.org/drawingml/2006/main">
              <a:ext uri="{FF2B5EF4-FFF2-40B4-BE49-F238E27FC236}">
                <a16:creationId xmlns:a16="http://schemas.microsoft.com/office/drawing/2014/main" id="{2EE4F519-80EE-4ED9-8611-564BDBE8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16" name="t-868-535">
            <a:extLst xmlns:a="http://schemas.openxmlformats.org/drawingml/2006/main">
              <a:ext uri="{FF2B5EF4-FFF2-40B4-BE49-F238E27FC236}">
                <a16:creationId xmlns:a16="http://schemas.microsoft.com/office/drawing/2014/main" id="{4D919BC1-FB19-47A2-BB4E-8194865F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958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Use checkpoint weight gaps and measurement freshness as early evidence.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8267700" y="584835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868923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-42-26">
            <a:extLst xmlns:a="http://schemas.openxmlformats.org/drawingml/2006/main">
              <a:ext uri="{FF2B5EF4-FFF2-40B4-BE49-F238E27FC236}">
                <a16:creationId xmlns:a16="http://schemas.microsoft.com/office/drawing/2014/main" id="{0AF49DAF-E0D4-42CB-A2BB-111C9947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EDA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52DC7DD3-D5F0-473A-8518-F1D2BEBA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Q3 · Do recovery outcomes differ by building?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B70D8514-1628-44F6-AB32-3557DAB4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da59a11f644cd"/>
          <a:stretch xmlns:a="http://schemas.openxmlformats.org/drawingml/2006/main"/>
        </p:blipFill>
        <p:spPr>
          <a:xfrm xmlns:a="http://schemas.openxmlformats.org/drawingml/2006/main">
            <a:off x="400050" y="1503847"/>
            <a:ext cx="7524750" cy="4536106"/>
          </a:xfrm>
          <a:prstGeom xmlns:a="http://schemas.openxmlformats.org/drawingml/2006/main" prst="rect">
            <a:avLst/>
          </a:prstGeom>
        </p:spPr>
      </p:pic>
      <p:sp>
        <p:nvSpPr>
          <p:cNvPr id="6" name="t-868-158">
            <a:extLst xmlns:a="http://schemas.openxmlformats.org/drawingml/2006/main">
              <a:ext uri="{FF2B5EF4-FFF2-40B4-BE49-F238E27FC236}">
                <a16:creationId xmlns:a16="http://schemas.microsoft.com/office/drawing/2014/main" id="{83C3567B-8137-4DA8-A7EB-989CB966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7" name="t-868-181">
            <a:extLst xmlns:a="http://schemas.openxmlformats.org/drawingml/2006/main">
              <a:ext uri="{FF2B5EF4-FFF2-40B4-BE49-F238E27FC236}">
                <a16:creationId xmlns:a16="http://schemas.microsoft.com/office/drawing/2014/main" id="{3C71A850-0958-40DD-A726-DDAF1842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2402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Building-level distributions overlap but vary in center and spread.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267700" y="2476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9" name="t-868-276">
            <a:extLst xmlns:a="http://schemas.openxmlformats.org/drawingml/2006/main">
              <a:ext uri="{FF2B5EF4-FFF2-40B4-BE49-F238E27FC236}">
                <a16:creationId xmlns:a16="http://schemas.microsoft.com/office/drawing/2014/main" id="{34B24DE3-D863-4254-B269-21F8073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INSIGHT</a:t>
            </a:r>
          </a:p>
        </p:txBody>
      </p:sp>
      <p:sp>
        <p:nvSpPr>
          <p:cNvPr id="10" name="t-868-299">
            <a:extLst xmlns:a="http://schemas.openxmlformats.org/drawingml/2006/main">
              <a:ext uri="{FF2B5EF4-FFF2-40B4-BE49-F238E27FC236}">
                <a16:creationId xmlns:a16="http://schemas.microsoft.com/office/drawing/2014/main" id="{D41E93A2-6115-4C06-8765-0AF7FFFB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479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Both building context and cycle conditions matter.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8267700" y="360045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2" name="t-868-394">
            <a:extLst xmlns:a="http://schemas.openxmlformats.org/drawingml/2006/main">
              <a:ext uri="{FF2B5EF4-FFF2-40B4-BE49-F238E27FC236}">
                <a16:creationId xmlns:a16="http://schemas.microsoft.com/office/drawing/2014/main" id="{7AF1CDB3-413B-42B1-AAA4-4EAB2FB9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IMPLICATION</a:t>
            </a:r>
          </a:p>
        </p:txBody>
      </p:sp>
      <p:sp>
        <p:nvSpPr>
          <p:cNvPr id="13" name="t-868-417">
            <a:extLst xmlns:a="http://schemas.openxmlformats.org/drawingml/2006/main">
              <a:ext uri="{FF2B5EF4-FFF2-40B4-BE49-F238E27FC236}">
                <a16:creationId xmlns:a16="http://schemas.microsoft.com/office/drawing/2014/main" id="{594454E2-3836-4305-AEBE-7936E36D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7192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Ranking buildings within a cycle is useful, but building identity alone is not a cause.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8267700" y="47244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5" name="t-868-512">
            <a:extLst xmlns:a="http://schemas.openxmlformats.org/drawingml/2006/main">
              <a:ext uri="{FF2B5EF4-FFF2-40B4-BE49-F238E27FC236}">
                <a16:creationId xmlns:a16="http://schemas.microsoft.com/office/drawing/2014/main" id="{739AE079-4976-4098-BEDC-2129068C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16" name="t-868-535">
            <a:extLst xmlns:a="http://schemas.openxmlformats.org/drawingml/2006/main">
              <a:ext uri="{FF2B5EF4-FFF2-40B4-BE49-F238E27FC236}">
                <a16:creationId xmlns:a16="http://schemas.microsoft.com/office/drawing/2014/main" id="{3338215C-118F-44F3-BE8E-3BB2FE06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958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Compare each flagged unit with peers, then inspect direct operational triggers.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8267700" y="584835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426615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-42-26">
            <a:extLst xmlns:a="http://schemas.openxmlformats.org/drawingml/2006/main">
              <a:ext uri="{FF2B5EF4-FFF2-40B4-BE49-F238E27FC236}">
                <a16:creationId xmlns:a16="http://schemas.microsoft.com/office/drawing/2014/main" id="{85F52B4B-B09E-4112-BCB7-6E3D135E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EDA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8C2A2777-BC20-4682-AB09-75661AD6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Q4 · Does Day 14 weight signal Day 35 weight?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E9A9B5A9-420A-4731-8DC5-21D595E0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f9d56a9704990"/>
          <a:stretch xmlns:a="http://schemas.openxmlformats.org/drawingml/2006/main"/>
        </p:blipFill>
        <p:spPr>
          <a:xfrm xmlns:a="http://schemas.openxmlformats.org/drawingml/2006/main">
            <a:off x="1000425" y="1485900"/>
            <a:ext cx="6324000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t-868-158">
            <a:extLst xmlns:a="http://schemas.openxmlformats.org/drawingml/2006/main">
              <a:ext uri="{FF2B5EF4-FFF2-40B4-BE49-F238E27FC236}">
                <a16:creationId xmlns:a16="http://schemas.microsoft.com/office/drawing/2014/main" id="{8C892609-5E09-4602-B127-0700ABBE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7" name="t-868-181">
            <a:extLst xmlns:a="http://schemas.openxmlformats.org/drawingml/2006/main">
              <a:ext uri="{FF2B5EF4-FFF2-40B4-BE49-F238E27FC236}">
                <a16:creationId xmlns:a16="http://schemas.microsoft.com/office/drawing/2014/main" id="{B426A597-AE67-4751-A166-8A46449E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2402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Pooled Pearson r = 0.601; within-cycle r = 0.298 (not significant).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267700" y="2476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9" name="t-868-276">
            <a:extLst xmlns:a="http://schemas.openxmlformats.org/drawingml/2006/main">
              <a:ext uri="{FF2B5EF4-FFF2-40B4-BE49-F238E27FC236}">
                <a16:creationId xmlns:a16="http://schemas.microsoft.com/office/drawing/2014/main" id="{F75E75E5-1091-4418-BDE2-F9ECE1C1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INSIGHT</a:t>
            </a:r>
          </a:p>
        </p:txBody>
      </p:sp>
      <p:sp>
        <p:nvSpPr>
          <p:cNvPr id="10" name="t-868-299">
            <a:extLst xmlns:a="http://schemas.openxmlformats.org/drawingml/2006/main">
              <a:ext uri="{FF2B5EF4-FFF2-40B4-BE49-F238E27FC236}">
                <a16:creationId xmlns:a16="http://schemas.microsoft.com/office/drawing/2014/main" id="{FF06E1A7-AC95-45C2-A9B4-1CE52934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479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Heavier Day 14 flocks tend to finish heavier, but cycle effects explain much of the pattern.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8267700" y="360045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2" name="t-868-394">
            <a:extLst xmlns:a="http://schemas.openxmlformats.org/drawingml/2006/main">
              <a:ext uri="{FF2B5EF4-FFF2-40B4-BE49-F238E27FC236}">
                <a16:creationId xmlns:a16="http://schemas.microsoft.com/office/drawing/2014/main" id="{1434D316-6E00-4F7E-AA52-881D576F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IMPLICATION</a:t>
            </a:r>
          </a:p>
        </p:txBody>
      </p:sp>
      <p:sp>
        <p:nvSpPr>
          <p:cNvPr id="13" name="t-868-417">
            <a:extLst xmlns:a="http://schemas.openxmlformats.org/drawingml/2006/main">
              <a:ext uri="{FF2B5EF4-FFF2-40B4-BE49-F238E27FC236}">
                <a16:creationId xmlns:a16="http://schemas.microsoft.com/office/drawing/2014/main" id="{378B7CB5-3A6E-4C10-BAC8-B149F8A0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7192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Day 14 is a useful checkpoint—not a deterministic guarantee.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8267700" y="47244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5" name="t-868-512">
            <a:extLst xmlns:a="http://schemas.openxmlformats.org/drawingml/2006/main">
              <a:ext uri="{FF2B5EF4-FFF2-40B4-BE49-F238E27FC236}">
                <a16:creationId xmlns:a16="http://schemas.microsoft.com/office/drawing/2014/main" id="{786E1C88-80A3-4383-922A-2D481011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16" name="t-868-535">
            <a:extLst xmlns:a="http://schemas.openxmlformats.org/drawingml/2006/main">
              <a:ext uri="{FF2B5EF4-FFF2-40B4-BE49-F238E27FC236}">
                <a16:creationId xmlns:a16="http://schemas.microsoft.com/office/drawing/2014/main" id="{8BCDED1D-CD1A-48F5-9D63-FF886706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958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Keep Day 14 as the main early-warning review and continue updating forecasts.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8267700" y="584835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20122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-42-26">
            <a:extLst xmlns:a="http://schemas.openxmlformats.org/drawingml/2006/main">
              <a:ext uri="{FF2B5EF4-FFF2-40B4-BE49-F238E27FC236}">
                <a16:creationId xmlns:a16="http://schemas.microsoft.com/office/drawing/2014/main" id="{F7FA5863-1ECF-4F4F-8DBC-BC35CC42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EDA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36469641-422C-49DF-AAE1-D62B21FB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Q5 · Does Day 14 weight signal recovery?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D93628E6-5697-4723-AA70-955C1928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02c1e5f9d4ada"/>
          <a:stretch xmlns:a="http://schemas.openxmlformats.org/drawingml/2006/main"/>
        </p:blipFill>
        <p:spPr>
          <a:xfrm xmlns:a="http://schemas.openxmlformats.org/drawingml/2006/main">
            <a:off x="1000425" y="1485900"/>
            <a:ext cx="6324000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t-868-158">
            <a:extLst xmlns:a="http://schemas.openxmlformats.org/drawingml/2006/main">
              <a:ext uri="{FF2B5EF4-FFF2-40B4-BE49-F238E27FC236}">
                <a16:creationId xmlns:a16="http://schemas.microsoft.com/office/drawing/2014/main" id="{0335A26E-BF6E-4170-95A3-4B054FAF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7" name="t-868-181">
            <a:extLst xmlns:a="http://schemas.openxmlformats.org/drawingml/2006/main">
              <a:ext uri="{FF2B5EF4-FFF2-40B4-BE49-F238E27FC236}">
                <a16:creationId xmlns:a16="http://schemas.microsoft.com/office/drawing/2014/main" id="{69FF846B-3EA7-4E2E-B58C-B7C3133A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2402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Pooled r = 0.472; within-cycle r = 0.378 and borderline.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267700" y="2476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9" name="t-868-276">
            <a:extLst xmlns:a="http://schemas.openxmlformats.org/drawingml/2006/main">
              <a:ext uri="{FF2B5EF4-FFF2-40B4-BE49-F238E27FC236}">
                <a16:creationId xmlns:a16="http://schemas.microsoft.com/office/drawing/2014/main" id="{B8909E2D-97E6-4847-9AEA-A962C29A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INSIGHT</a:t>
            </a:r>
          </a:p>
        </p:txBody>
      </p:sp>
      <p:sp>
        <p:nvSpPr>
          <p:cNvPr id="10" name="t-868-299">
            <a:extLst xmlns:a="http://schemas.openxmlformats.org/drawingml/2006/main">
              <a:ext uri="{FF2B5EF4-FFF2-40B4-BE49-F238E27FC236}">
                <a16:creationId xmlns:a16="http://schemas.microsoft.com/office/drawing/2014/main" id="{0462D9D9-94D6-46E0-8E40-98A61F6D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479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Early growth and recovery move together moderately, but evidence is limited.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8267700" y="360045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2" name="t-868-394">
            <a:extLst xmlns:a="http://schemas.openxmlformats.org/drawingml/2006/main">
              <a:ext uri="{FF2B5EF4-FFF2-40B4-BE49-F238E27FC236}">
                <a16:creationId xmlns:a16="http://schemas.microsoft.com/office/drawing/2014/main" id="{18639042-DC5F-4907-B98C-CFEBEADD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IMPLICATION</a:t>
            </a:r>
          </a:p>
        </p:txBody>
      </p:sp>
      <p:sp>
        <p:nvSpPr>
          <p:cNvPr id="13" name="t-868-417">
            <a:extLst xmlns:a="http://schemas.openxmlformats.org/drawingml/2006/main">
              <a:ext uri="{FF2B5EF4-FFF2-40B4-BE49-F238E27FC236}">
                <a16:creationId xmlns:a16="http://schemas.microsoft.com/office/drawing/2014/main" id="{546997AE-C9D8-4132-B724-5214D7C6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7192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Weight alone cannot explain final recovery.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8267700" y="47244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5" name="t-868-512">
            <a:extLst xmlns:a="http://schemas.openxmlformats.org/drawingml/2006/main">
              <a:ext uri="{FF2B5EF4-FFF2-40B4-BE49-F238E27FC236}">
                <a16:creationId xmlns:a16="http://schemas.microsoft.com/office/drawing/2014/main" id="{4B499E6D-E228-459E-A051-5523D6FE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16" name="t-868-535">
            <a:extLst xmlns:a="http://schemas.openxmlformats.org/drawingml/2006/main">
              <a:ext uri="{FF2B5EF4-FFF2-40B4-BE49-F238E27FC236}">
                <a16:creationId xmlns:a16="http://schemas.microsoft.com/office/drawing/2014/main" id="{D6752C2C-2EF7-4B33-8589-F4940AAE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958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Combine Day 14 weight with survival, mortality, freshness, and environment evidence.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8267700" y="584835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643414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-42-26">
            <a:extLst xmlns:a="http://schemas.openxmlformats.org/drawingml/2006/main">
              <a:ext uri="{FF2B5EF4-FFF2-40B4-BE49-F238E27FC236}">
                <a16:creationId xmlns:a16="http://schemas.microsoft.com/office/drawing/2014/main" id="{F047971B-9674-419E-AC8A-17970CF1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EDA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637DA4BD-9AF9-4922-AFDC-CB5D753E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Q6 · How does weight target attainment evolve with age?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64B88B6A-D267-487D-A091-FA53DDDE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c3985980c4564"/>
          <a:stretch xmlns:a="http://schemas.openxmlformats.org/drawingml/2006/main"/>
        </p:blipFill>
        <p:spPr>
          <a:xfrm xmlns:a="http://schemas.openxmlformats.org/drawingml/2006/main">
            <a:off x="400050" y="1625008"/>
            <a:ext cx="7524750" cy="4293784"/>
          </a:xfrm>
          <a:prstGeom xmlns:a="http://schemas.openxmlformats.org/drawingml/2006/main" prst="rect">
            <a:avLst/>
          </a:prstGeom>
        </p:spPr>
      </p:pic>
      <p:sp>
        <p:nvSpPr>
          <p:cNvPr id="6" name="t-868-158">
            <a:extLst xmlns:a="http://schemas.openxmlformats.org/drawingml/2006/main">
              <a:ext uri="{FF2B5EF4-FFF2-40B4-BE49-F238E27FC236}">
                <a16:creationId xmlns:a16="http://schemas.microsoft.com/office/drawing/2014/main" id="{6BD6966C-9D1D-4706-9FD4-D1F7A0E0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7" name="t-868-181">
            <a:extLst xmlns:a="http://schemas.openxmlformats.org/drawingml/2006/main">
              <a:ext uri="{FF2B5EF4-FFF2-40B4-BE49-F238E27FC236}">
                <a16:creationId xmlns:a16="http://schemas.microsoft.com/office/drawing/2014/main" id="{2054ACAC-0572-42DC-AA8A-A958489F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2402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Mean attainment rises from 63.9% at Day 7 to 83.9% at Day 35.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267700" y="2476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9" name="t-868-276">
            <a:extLst xmlns:a="http://schemas.openxmlformats.org/drawingml/2006/main">
              <a:ext uri="{FF2B5EF4-FFF2-40B4-BE49-F238E27FC236}">
                <a16:creationId xmlns:a16="http://schemas.microsoft.com/office/drawing/2014/main" id="{60B121B3-BAD6-42A8-ADD3-337201E7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INSIGHT</a:t>
            </a:r>
          </a:p>
        </p:txBody>
      </p:sp>
      <p:sp>
        <p:nvSpPr>
          <p:cNvPr id="10" name="t-868-299">
            <a:extLst xmlns:a="http://schemas.openxmlformats.org/drawingml/2006/main">
              <a:ext uri="{FF2B5EF4-FFF2-40B4-BE49-F238E27FC236}">
                <a16:creationId xmlns:a16="http://schemas.microsoft.com/office/drawing/2014/main" id="{EAB7341B-1CFA-4AAC-BC09-9AB65386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479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Flocks recover part of the early deficit but still finish below target on average.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8267700" y="360045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2" name="t-868-394">
            <a:extLst xmlns:a="http://schemas.openxmlformats.org/drawingml/2006/main">
              <a:ext uri="{FF2B5EF4-FFF2-40B4-BE49-F238E27FC236}">
                <a16:creationId xmlns:a16="http://schemas.microsoft.com/office/drawing/2014/main" id="{C605098E-1CD9-4B06-8D2C-17DC1339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IMPLICATION</a:t>
            </a:r>
          </a:p>
        </p:txBody>
      </p:sp>
      <p:sp>
        <p:nvSpPr>
          <p:cNvPr id="13" name="t-868-417">
            <a:extLst xmlns:a="http://schemas.openxmlformats.org/drawingml/2006/main">
              <a:ext uri="{FF2B5EF4-FFF2-40B4-BE49-F238E27FC236}">
                <a16:creationId xmlns:a16="http://schemas.microsoft.com/office/drawing/2014/main" id="{072E4CF9-6E07-4549-87A3-B5B80470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7192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Early deficits remain operationally meaningful even when catch-up occurs.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8267700" y="47244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5" name="t-868-512">
            <a:extLst xmlns:a="http://schemas.openxmlformats.org/drawingml/2006/main">
              <a:ext uri="{FF2B5EF4-FFF2-40B4-BE49-F238E27FC236}">
                <a16:creationId xmlns:a16="http://schemas.microsoft.com/office/drawing/2014/main" id="{FA7CD6F3-D32B-42B8-A2F6-8FC62AB2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16" name="t-868-535">
            <a:extLst xmlns:a="http://schemas.openxmlformats.org/drawingml/2006/main">
              <a:ext uri="{FF2B5EF4-FFF2-40B4-BE49-F238E27FC236}">
                <a16:creationId xmlns:a16="http://schemas.microsoft.com/office/drawing/2014/main" id="{B7EF91CF-FFEC-410A-9988-176D9FAC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958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Show both current gap and projected Day 35 gap; do not treat either alone as destiny.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8267700" y="584835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6817830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-42-26">
            <a:extLst xmlns:a="http://schemas.openxmlformats.org/drawingml/2006/main">
              <a:ext uri="{FF2B5EF4-FFF2-40B4-BE49-F238E27FC236}">
                <a16:creationId xmlns:a16="http://schemas.microsoft.com/office/drawing/2014/main" id="{27E0F23C-5C14-477A-9B56-92E6881D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EDA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9A06092D-EF8A-4DB6-BF18-9C8B25AB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Q7 · Which signals associate with recovery?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7610E9A1-8271-42A3-A289-C399E3A0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b221148004de8"/>
          <a:stretch xmlns:a="http://schemas.openxmlformats.org/drawingml/2006/main"/>
        </p:blipFill>
        <p:spPr>
          <a:xfrm xmlns:a="http://schemas.openxmlformats.org/drawingml/2006/main">
            <a:off x="400050" y="1625008"/>
            <a:ext cx="7524750" cy="4293784"/>
          </a:xfrm>
          <a:prstGeom xmlns:a="http://schemas.openxmlformats.org/drawingml/2006/main" prst="rect">
            <a:avLst/>
          </a:prstGeom>
        </p:spPr>
      </p:pic>
      <p:sp>
        <p:nvSpPr>
          <p:cNvPr id="6" name="t-868-158">
            <a:extLst xmlns:a="http://schemas.openxmlformats.org/drawingml/2006/main">
              <a:ext uri="{FF2B5EF4-FFF2-40B4-BE49-F238E27FC236}">
                <a16:creationId xmlns:a16="http://schemas.microsoft.com/office/drawing/2014/main" id="{0347CB5B-70E6-4B0B-BEDD-3161394E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7" name="t-868-181">
            <a:extLst xmlns:a="http://schemas.openxmlformats.org/drawingml/2006/main">
              <a:ext uri="{FF2B5EF4-FFF2-40B4-BE49-F238E27FC236}">
                <a16:creationId xmlns:a16="http://schemas.microsoft.com/office/drawing/2014/main" id="{01F01AB2-4426-4CA5-B63B-FBB2F75A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2402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Mean mortality/1,000 has the strongest descriptive correlation (−0.91).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267700" y="2476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9" name="t-868-276">
            <a:extLst xmlns:a="http://schemas.openxmlformats.org/drawingml/2006/main">
              <a:ext uri="{FF2B5EF4-FFF2-40B4-BE49-F238E27FC236}">
                <a16:creationId xmlns:a16="http://schemas.microsoft.com/office/drawing/2014/main" id="{99EBA957-78AE-4A86-A4AD-C91AE887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INSIGHT</a:t>
            </a:r>
          </a:p>
        </p:txBody>
      </p:sp>
      <p:sp>
        <p:nvSpPr>
          <p:cNvPr id="10" name="t-868-299">
            <a:extLst xmlns:a="http://schemas.openxmlformats.org/drawingml/2006/main">
              <a:ext uri="{FF2B5EF4-FFF2-40B4-BE49-F238E27FC236}">
                <a16:creationId xmlns:a16="http://schemas.microsoft.com/office/drawing/2014/main" id="{62B968B4-C74D-4E70-BF3B-5E372275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479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Mortality and environmental conditions carry useful signal, but signs can be confounded.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8267700" y="360045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2" name="t-868-394">
            <a:extLst xmlns:a="http://schemas.openxmlformats.org/drawingml/2006/main">
              <a:ext uri="{FF2B5EF4-FFF2-40B4-BE49-F238E27FC236}">
                <a16:creationId xmlns:a16="http://schemas.microsoft.com/office/drawing/2014/main" id="{2AA8BD12-864C-40E7-810F-18532316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IMPLICATION</a:t>
            </a:r>
          </a:p>
        </p:txBody>
      </p:sp>
      <p:sp>
        <p:nvSpPr>
          <p:cNvPr id="13" name="t-868-417">
            <a:extLst xmlns:a="http://schemas.openxmlformats.org/drawingml/2006/main">
              <a:ext uri="{FF2B5EF4-FFF2-40B4-BE49-F238E27FC236}">
                <a16:creationId xmlns:a16="http://schemas.microsoft.com/office/drawing/2014/main" id="{3EC1B52C-4903-4C50-903A-FABFC950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7192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Feature importance cannot prescribe temperature or humidity changes causally.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8267700" y="47244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5" name="t-868-512">
            <a:extLst xmlns:a="http://schemas.openxmlformats.org/drawingml/2006/main">
              <a:ext uri="{FF2B5EF4-FFF2-40B4-BE49-F238E27FC236}">
                <a16:creationId xmlns:a16="http://schemas.microsoft.com/office/drawing/2014/main" id="{E7CA6B83-487E-42FB-A9EF-2EDA2855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16" name="t-868-535">
            <a:extLst xmlns:a="http://schemas.openxmlformats.org/drawingml/2006/main">
              <a:ext uri="{FF2B5EF4-FFF2-40B4-BE49-F238E27FC236}">
                <a16:creationId xmlns:a16="http://schemas.microsoft.com/office/drawing/2014/main" id="{C334CFFB-88A7-42DD-B882-B034C8FE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95875"/>
            <a:ext cx="327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Use threshold breaches to trigger inspections; use model drivers as supporting context.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8267700" y="584835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0924689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-42-26">
            <a:extLst xmlns:a="http://schemas.openxmlformats.org/drawingml/2006/main">
              <a:ext uri="{FF2B5EF4-FFF2-40B4-BE49-F238E27FC236}">
                <a16:creationId xmlns:a16="http://schemas.microsoft.com/office/drawing/2014/main" id="{C3E14F41-18D3-4818-B26E-46505CB0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54F2380E-524B-46AB-9871-360DAB41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product separates three business-logic engines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2B02BF57-6386-463A-A864-4FC6F06D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t-48-220">
            <a:extLst xmlns:a="http://schemas.openxmlformats.org/drawingml/2006/main">
              <a:ext uri="{FF2B5EF4-FFF2-40B4-BE49-F238E27FC236}">
                <a16:creationId xmlns:a16="http://schemas.microsoft.com/office/drawing/2014/main" id="{B3CCD9B0-F816-49AC-8F9C-DE0C8AA4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53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57200" y="2428875"/>
            <a:ext cx="353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7" name="t-48-272">
            <a:extLst xmlns:a="http://schemas.openxmlformats.org/drawingml/2006/main">
              <a:ext uri="{FF2B5EF4-FFF2-40B4-BE49-F238E27FC236}">
                <a16:creationId xmlns:a16="http://schemas.microsoft.com/office/drawing/2014/main" id="{F25C826C-07CD-4364-B442-7EC9FEC0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353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Rules-based risk</a:t>
            </a:r>
          </a:p>
        </p:txBody>
      </p:sp>
      <p:sp>
        <p:nvSpPr>
          <p:cNvPr id="8" name="t-48-322">
            <a:extLst xmlns:a="http://schemas.openxmlformats.org/drawingml/2006/main">
              <a:ext uri="{FF2B5EF4-FFF2-40B4-BE49-F238E27FC236}">
                <a16:creationId xmlns:a16="http://schemas.microsoft.com/office/drawing/2014/main" id="{79889F72-E6C0-45D4-90E9-65CB0CAA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3530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Four auditable 0–3 checks: weight gap, population loss, daily mortality, environment.</a:t>
            </a:r>
          </a:p>
        </p:txBody>
      </p:sp>
      <p:sp>
        <p:nvSpPr>
          <p:cNvPr id="9" name="t-442.6666666666667-220">
            <a:extLst xmlns:a="http://schemas.openxmlformats.org/drawingml/2006/main">
              <a:ext uri="{FF2B5EF4-FFF2-40B4-BE49-F238E27FC236}">
                <a16:creationId xmlns:a16="http://schemas.microsoft.com/office/drawing/2014/main" id="{7651A266-E6F8-41C6-8788-A14398DD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2095500"/>
            <a:ext cx="353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216400" y="2428875"/>
            <a:ext cx="353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1" name="t-442.6666666666667-272">
            <a:extLst xmlns:a="http://schemas.openxmlformats.org/drawingml/2006/main">
              <a:ext uri="{FF2B5EF4-FFF2-40B4-BE49-F238E27FC236}">
                <a16:creationId xmlns:a16="http://schemas.microsoft.com/office/drawing/2014/main" id="{12523201-9FE8-4489-8259-C188BC5F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2590800"/>
            <a:ext cx="353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Predictive forecasts</a:t>
            </a:r>
          </a:p>
        </p:txBody>
      </p:sp>
      <p:sp>
        <p:nvSpPr>
          <p:cNvPr id="12" name="t-442.6666666666667-322">
            <a:extLst xmlns:a="http://schemas.openxmlformats.org/drawingml/2006/main">
              <a:ext uri="{FF2B5EF4-FFF2-40B4-BE49-F238E27FC236}">
                <a16:creationId xmlns:a16="http://schemas.microsoft.com/office/drawing/2014/main" id="{BF937DA3-1F69-49DC-A4E8-17A94C5D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3067050"/>
            <a:ext cx="3530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Estimate final recovery proxy and Day 35 weight from what is known today.</a:t>
            </a:r>
          </a:p>
        </p:txBody>
      </p:sp>
      <p:sp>
        <p:nvSpPr>
          <p:cNvPr id="13" name="t-837.3333333333334-220">
            <a:extLst xmlns:a="http://schemas.openxmlformats.org/drawingml/2006/main">
              <a:ext uri="{FF2B5EF4-FFF2-40B4-BE49-F238E27FC236}">
                <a16:creationId xmlns:a16="http://schemas.microsoft.com/office/drawing/2014/main" id="{0DB99B02-9131-4333-837C-197BD718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2095500"/>
            <a:ext cx="353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7975600" y="2428875"/>
            <a:ext cx="353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5" name="t-837.3333333333334-272">
            <a:extLst xmlns:a="http://schemas.openxmlformats.org/drawingml/2006/main">
              <a:ext uri="{FF2B5EF4-FFF2-40B4-BE49-F238E27FC236}">
                <a16:creationId xmlns:a16="http://schemas.microsoft.com/office/drawing/2014/main" id="{28FBEFB8-D817-41B8-AB38-15426259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2590800"/>
            <a:ext cx="353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Recommendation layer</a:t>
            </a:r>
          </a:p>
        </p:txBody>
      </p:sp>
      <p:sp>
        <p:nvSpPr>
          <p:cNvPr id="16" name="t-837.3333333333334-322">
            <a:extLst xmlns:a="http://schemas.openxmlformats.org/drawingml/2006/main">
              <a:ext uri="{FF2B5EF4-FFF2-40B4-BE49-F238E27FC236}">
                <a16:creationId xmlns:a16="http://schemas.microsoft.com/office/drawing/2014/main" id="{D68D66EE-73EA-48CB-A028-E01FCDEE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3067050"/>
            <a:ext cx="3530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Map the strongest observed trigger to Doc Raymond's inspection rule.</a:t>
            </a:r>
          </a:p>
        </p:txBody>
      </p:sp>
      <p:sp>
        <p:nvSpPr>
          <p:cNvPr id="17" name="sep">
            <a:extLst xmlns:a="http://schemas.openxmlformats.org/drawingml/2006/main">
              <a:ext uri="{FF2B5EF4-FFF2-40B4-BE49-F238E27FC236}">
                <a16:creationId xmlns:a16="http://schemas.microsoft.com/office/drawing/2014/main" id="{536B1322-9566-4045-81F1-97470338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10934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-76-522">
            <a:extLst xmlns:a="http://schemas.openxmlformats.org/drawingml/2006/main">
              <a:ext uri="{FF2B5EF4-FFF2-40B4-BE49-F238E27FC236}">
                <a16:creationId xmlns:a16="http://schemas.microsoft.com/office/drawing/2014/main" id="{78DAF76E-793F-48E7-AB64-E017912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Important separation</a:t>
            </a:r>
          </a:p>
        </p:txBody>
      </p:sp>
      <p:sp>
        <p:nvSpPr>
          <p:cNvPr id="19" name="t-306-514">
            <a:extLst xmlns:a="http://schemas.openxmlformats.org/drawingml/2006/main">
              <a:ext uri="{FF2B5EF4-FFF2-40B4-BE49-F238E27FC236}">
                <a16:creationId xmlns:a16="http://schemas.microsoft.com/office/drawing/2014/main" id="{D0B0683D-B0DD-4DBC-BA98-2D4853C2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95850"/>
            <a:ext cx="815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Risk is operational concern—not a probability. Forecasts estimate outcomes. Recommendations respond to recorded evidence—not SHAP-based causal claims.</a:t>
            </a:r>
          </a:p>
        </p:txBody>
      </p:sp>
    </p:spTree>
    <p:extLst>
      <p:ext uri="{BB962C8B-B14F-4D97-AF65-F5344CB8AC3E}">
        <p14:creationId xmlns:p14="http://schemas.microsoft.com/office/powerpoint/2010/main" val="10917944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-42-26">
            <a:extLst xmlns:a="http://schemas.openxmlformats.org/drawingml/2006/main">
              <a:ext uri="{FF2B5EF4-FFF2-40B4-BE49-F238E27FC236}">
                <a16:creationId xmlns:a16="http://schemas.microsoft.com/office/drawing/2014/main" id="{01060453-A135-4BA7-AD72-D93FF468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3CF51A43-496A-4084-A820-21BC0DE9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Recovery model · question, target, and inputs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B5FB0CBF-601E-455A-99AC-3A607068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t-52-166">
            <a:extLst xmlns:a="http://schemas.openxmlformats.org/drawingml/2006/main">
              <a:ext uri="{FF2B5EF4-FFF2-40B4-BE49-F238E27FC236}">
                <a16:creationId xmlns:a16="http://schemas.microsoft.com/office/drawing/2014/main" id="{4B681444-05C0-4E00-B4CF-683B68ED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BUSINESS QUESTION</a:t>
            </a:r>
          </a:p>
        </p:txBody>
      </p:sp>
      <p:sp>
        <p:nvSpPr>
          <p:cNvPr id="6" name="t-52-200">
            <a:extLst xmlns:a="http://schemas.openxmlformats.org/drawingml/2006/main">
              <a:ext uri="{FF2B5EF4-FFF2-40B4-BE49-F238E27FC236}">
                <a16:creationId xmlns:a16="http://schemas.microsoft.com/office/drawing/2014/main" id="{239D8B9D-1BAC-40A9-91BD-E8781B61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62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Given survival today, how much additional population loss is likely before the recorded endpoint?</a:t>
            </a:r>
          </a:p>
        </p:txBody>
      </p:sp>
      <p:sp>
        <p:nvSpPr>
          <p:cNvPr id="7" name="t-52-330">
            <a:extLst xmlns:a="http://schemas.openxmlformats.org/drawingml/2006/main">
              <a:ext uri="{FF2B5EF4-FFF2-40B4-BE49-F238E27FC236}">
                <a16:creationId xmlns:a16="http://schemas.microsoft.com/office/drawing/2014/main" id="{D686D017-56C2-4EE1-90EA-7FAA1270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TARGET (Y)</a:t>
            </a:r>
          </a:p>
        </p:txBody>
      </p:sp>
      <p:sp>
        <p:nvSpPr>
          <p:cNvPr id="8" name="t-52-364">
            <a:extLst xmlns:a="http://schemas.openxmlformats.org/drawingml/2006/main">
              <a:ext uri="{FF2B5EF4-FFF2-40B4-BE49-F238E27FC236}">
                <a16:creationId xmlns:a16="http://schemas.microsoft.com/office/drawing/2014/main" id="{41451702-7BA6-4B4E-AE0C-60532056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Additional loss after the review date</a:t>
            </a:r>
          </a:p>
        </p:txBody>
      </p:sp>
      <p:sp>
        <p:nvSpPr>
          <p:cNvPr id="9" name="t-52-414">
            <a:extLst xmlns:a="http://schemas.openxmlformats.org/drawingml/2006/main">
              <a:ext uri="{FF2B5EF4-FFF2-40B4-BE49-F238E27FC236}">
                <a16:creationId xmlns:a16="http://schemas.microsoft.com/office/drawing/2014/main" id="{0DEDD08D-A66F-42FA-BF5F-F4616E0F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Final forecast = current % alive − predicted additional loss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5924550" y="15049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1" name="t-680-166">
            <a:extLst xmlns:a="http://schemas.openxmlformats.org/drawingml/2006/main">
              <a:ext uri="{FF2B5EF4-FFF2-40B4-BE49-F238E27FC236}">
                <a16:creationId xmlns:a16="http://schemas.microsoft.com/office/drawing/2014/main" id="{EAB8DEB3-BD38-481D-91CE-B2BA6EE2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CANDIDATE INPUTS (X)</a:t>
            </a:r>
          </a:p>
        </p:txBody>
      </p:sp>
      <p:sp>
        <p:nvSpPr>
          <p:cNvPr id="12" name="t-680-208">
            <a:extLst xmlns:a="http://schemas.openxmlformats.org/drawingml/2006/main">
              <a:ext uri="{FF2B5EF4-FFF2-40B4-BE49-F238E27FC236}">
                <a16:creationId xmlns:a16="http://schemas.microsoft.com/office/drawing/2014/main" id="{E7C8577E-2232-485B-8414-DD31D8EC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6672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Cycle day and forecast horizon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Current percentage alive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Recent mortality and mortality acceleration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Weight gap and weight-measurement staleness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Temperature and humidity deviation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Days out of band and environmental staleness</a:t>
            </a:r>
          </a:p>
        </p:txBody>
      </p:sp>
      <p:sp>
        <p:nvSpPr>
          <p:cNvPr id="13" name="feed">
            <a:extLst xmlns:a="http://schemas.openxmlformats.org/drawingml/2006/main">
              <a:ext uri="{FF2B5EF4-FFF2-40B4-BE49-F238E27FC236}">
                <a16:creationId xmlns:a16="http://schemas.microsoft.com/office/drawing/2014/main" id="{6BFEA6E5-57AF-40ED-B164-56D3870C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81600"/>
            <a:ext cx="466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-700-560">
            <a:extLst xmlns:a="http://schemas.openxmlformats.org/drawingml/2006/main">
              <a:ext uri="{FF2B5EF4-FFF2-40B4-BE49-F238E27FC236}">
                <a16:creationId xmlns:a16="http://schemas.microsoft.com/office/drawing/2014/main" id="{D04E3B71-3F4B-41F1-964A-1523C3C2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340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8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77810"/>
                </a:solidFill>
                <a:latin typeface="Helvetica Neue"/>
                <a:ea typeface="Helvetica Neue"/>
                <a:cs typeface="Helvetica Neue"/>
              </a:rPr>
              <a:t>Feed is withheld from the final compact feature set until its unit is confirmed.</a:t>
            </a:r>
          </a:p>
        </p:txBody>
      </p:sp>
    </p:spTree>
    <p:extLst>
      <p:ext uri="{BB962C8B-B14F-4D97-AF65-F5344CB8AC3E}">
        <p14:creationId xmlns:p14="http://schemas.microsoft.com/office/powerpoint/2010/main" val="18316197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-42-26">
            <a:extLst xmlns:a="http://schemas.openxmlformats.org/drawingml/2006/main">
              <a:ext uri="{FF2B5EF4-FFF2-40B4-BE49-F238E27FC236}">
                <a16:creationId xmlns:a16="http://schemas.microsoft.com/office/drawing/2014/main" id="{4E520C65-1152-49DD-BF34-89257186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2368C963-5E03-42FB-B139-8E551AD0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Recovery model · preprocessing and feature engineering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1F900F82-EAD5-41D1-AEAD-8F3C11F8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t-48-184">
            <a:extLst xmlns:a="http://schemas.openxmlformats.org/drawingml/2006/main">
              <a:ext uri="{FF2B5EF4-FFF2-40B4-BE49-F238E27FC236}">
                <a16:creationId xmlns:a16="http://schemas.microsoft.com/office/drawing/2014/main" id="{15FFDF38-0569-4E4C-AC95-C379B323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57200" y="20859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7" name="t-48-236">
            <a:extLst xmlns:a="http://schemas.openxmlformats.org/drawingml/2006/main">
              <a:ext uri="{FF2B5EF4-FFF2-40B4-BE49-F238E27FC236}">
                <a16:creationId xmlns:a16="http://schemas.microsoft.com/office/drawing/2014/main" id="{FF859A24-9636-4A56-BE3D-18CC7145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Clean</a:t>
            </a:r>
          </a:p>
        </p:txBody>
      </p:sp>
      <p:sp>
        <p:nvSpPr>
          <p:cNvPr id="8" name="t-48-286">
            <a:extLst xmlns:a="http://schemas.openxmlformats.org/drawingml/2006/main">
              <a:ext uri="{FF2B5EF4-FFF2-40B4-BE49-F238E27FC236}">
                <a16:creationId xmlns:a16="http://schemas.microsoft.com/office/drawing/2014/main" id="{5958A3B4-28DB-4572-9C66-D34C5110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Standardize IDs/dates; remove zone duplication; check impossible values.</a:t>
            </a:r>
          </a:p>
        </p:txBody>
      </p:sp>
      <p:sp>
        <p:nvSpPr>
          <p:cNvPr id="9" name="t-284.8-184">
            <a:extLst xmlns:a="http://schemas.openxmlformats.org/drawingml/2006/main">
              <a:ext uri="{FF2B5EF4-FFF2-40B4-BE49-F238E27FC236}">
                <a16:creationId xmlns:a16="http://schemas.microsoft.com/office/drawing/2014/main" id="{DA0C9011-8C34-4F0E-9EA6-A9E660F9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17526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2712720" y="20859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1" name="t-284.8-236">
            <a:extLst xmlns:a="http://schemas.openxmlformats.org/drawingml/2006/main">
              <a:ext uri="{FF2B5EF4-FFF2-40B4-BE49-F238E27FC236}">
                <a16:creationId xmlns:a16="http://schemas.microsoft.com/office/drawing/2014/main" id="{56B43D7B-2E5D-43FC-B6AD-039D9A83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22479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Snapshot</a:t>
            </a:r>
          </a:p>
        </p:txBody>
      </p:sp>
      <p:sp>
        <p:nvSpPr>
          <p:cNvPr id="12" name="t-284.8-286">
            <a:extLst xmlns:a="http://schemas.openxmlformats.org/drawingml/2006/main">
              <a:ext uri="{FF2B5EF4-FFF2-40B4-BE49-F238E27FC236}">
                <a16:creationId xmlns:a16="http://schemas.microsoft.com/office/drawing/2014/main" id="{EBF598EA-58CC-44CF-90A2-620109B8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27241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Use Days 7/14/21/28 plus one labelled near-end training snapshot per building-cycle.</a:t>
            </a:r>
          </a:p>
        </p:txBody>
      </p:sp>
      <p:sp>
        <p:nvSpPr>
          <p:cNvPr id="13" name="t-521.6-184">
            <a:extLst xmlns:a="http://schemas.openxmlformats.org/drawingml/2006/main">
              <a:ext uri="{FF2B5EF4-FFF2-40B4-BE49-F238E27FC236}">
                <a16:creationId xmlns:a16="http://schemas.microsoft.com/office/drawing/2014/main" id="{9C36AD61-AFE5-44A5-9A09-8A1FBFBC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17526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968240" y="20859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5" name="t-521.6-236">
            <a:extLst xmlns:a="http://schemas.openxmlformats.org/drawingml/2006/main">
              <a:ext uri="{FF2B5EF4-FFF2-40B4-BE49-F238E27FC236}">
                <a16:creationId xmlns:a16="http://schemas.microsoft.com/office/drawing/2014/main" id="{B02C5666-95F9-4350-81DF-2FE64EE8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22479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Engineer</a:t>
            </a:r>
          </a:p>
        </p:txBody>
      </p:sp>
      <p:sp>
        <p:nvSpPr>
          <p:cNvPr id="16" name="t-521.6-286">
            <a:extLst xmlns:a="http://schemas.openxmlformats.org/drawingml/2006/main">
              <a:ext uri="{FF2B5EF4-FFF2-40B4-BE49-F238E27FC236}">
                <a16:creationId xmlns:a16="http://schemas.microsoft.com/office/drawing/2014/main" id="{6D908C70-A7F0-42A4-9BB7-3BCCF88B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27241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Survival, cumulative loss, mortality momentum, weight gap, environmental deviation/freshness.</a:t>
            </a:r>
          </a:p>
        </p:txBody>
      </p:sp>
      <p:sp>
        <p:nvSpPr>
          <p:cNvPr id="17" name="t-758.4000000000001-184">
            <a:extLst xmlns:a="http://schemas.openxmlformats.org/drawingml/2006/main">
              <a:ext uri="{FF2B5EF4-FFF2-40B4-BE49-F238E27FC236}">
                <a16:creationId xmlns:a16="http://schemas.microsoft.com/office/drawing/2014/main" id="{1DD641D4-9946-4088-993D-F4920455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7526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7223760" y="20859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9" name="t-758.4000000000001-236">
            <a:extLst xmlns:a="http://schemas.openxmlformats.org/drawingml/2006/main">
              <a:ext uri="{FF2B5EF4-FFF2-40B4-BE49-F238E27FC236}">
                <a16:creationId xmlns:a16="http://schemas.microsoft.com/office/drawing/2014/main" id="{F68B3862-637B-443E-A55B-23D6AC3E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2479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Guard leakage</a:t>
            </a:r>
          </a:p>
        </p:txBody>
      </p:sp>
      <p:sp>
        <p:nvSpPr>
          <p:cNvPr id="20" name="t-758.4000000000001-286">
            <a:extLst xmlns:a="http://schemas.openxmlformats.org/drawingml/2006/main">
              <a:ext uri="{FF2B5EF4-FFF2-40B4-BE49-F238E27FC236}">
                <a16:creationId xmlns:a16="http://schemas.microsoft.com/office/drawing/2014/main" id="{2D2B2668-411E-47E7-A977-D35A0D86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7241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Every X value is available on or before the as-of date; Y remains hidden.</a:t>
            </a:r>
          </a:p>
        </p:txBody>
      </p:sp>
      <p:sp>
        <p:nvSpPr>
          <p:cNvPr id="21" name="t-995.2-184">
            <a:extLst xmlns:a="http://schemas.openxmlformats.org/drawingml/2006/main">
              <a:ext uri="{FF2B5EF4-FFF2-40B4-BE49-F238E27FC236}">
                <a16:creationId xmlns:a16="http://schemas.microsoft.com/office/drawing/2014/main" id="{BAB8634A-BA22-40AA-80A3-BFE7D0C2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17526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9479280" y="20859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23" name="t-995.2-236">
            <a:extLst xmlns:a="http://schemas.openxmlformats.org/drawingml/2006/main">
              <a:ext uri="{FF2B5EF4-FFF2-40B4-BE49-F238E27FC236}">
                <a16:creationId xmlns:a16="http://schemas.microsoft.com/office/drawing/2014/main" id="{3722FC48-D2A6-4A8B-A559-79256800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2479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Balance</a:t>
            </a:r>
          </a:p>
        </p:txBody>
      </p:sp>
      <p:sp>
        <p:nvSpPr>
          <p:cNvPr id="24" name="t-995.2-286">
            <a:extLst xmlns:a="http://schemas.openxmlformats.org/drawingml/2006/main">
              <a:ext uri="{FF2B5EF4-FFF2-40B4-BE49-F238E27FC236}">
                <a16:creationId xmlns:a16="http://schemas.microsoft.com/office/drawing/2014/main" id="{74495B5D-18BC-4D70-A719-E3E24820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7241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Give each building-cycle equal total influence despite repeated snapshots.</a:t>
            </a:r>
          </a:p>
        </p:txBody>
      </p:sp>
      <p:sp>
        <p:nvSpPr>
          <p:cNvPr id="25" name="rec-schedule">
            <a:extLst xmlns:a="http://schemas.openxmlformats.org/drawingml/2006/main">
              <a:ext uri="{FF2B5EF4-FFF2-40B4-BE49-F238E27FC236}">
                <a16:creationId xmlns:a16="http://schemas.microsoft.com/office/drawing/2014/main" id="{B5D22121-6A9A-4AFD-93BD-DBFBE908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10839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-78-514">
            <a:extLst xmlns:a="http://schemas.openxmlformats.org/drawingml/2006/main">
              <a:ext uri="{FF2B5EF4-FFF2-40B4-BE49-F238E27FC236}">
                <a16:creationId xmlns:a16="http://schemas.microsoft.com/office/drawing/2014/main" id="{E8A2F32E-B637-40CA-BC44-F9EFD68C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Why some recovery rows are Day 48</a:t>
            </a:r>
          </a:p>
        </p:txBody>
      </p:sp>
      <p:sp>
        <p:nvSpPr>
          <p:cNvPr id="27" name="t-388-506">
            <a:extLst xmlns:a="http://schemas.openxmlformats.org/drawingml/2006/main">
              <a:ext uri="{FF2B5EF4-FFF2-40B4-BE49-F238E27FC236}">
                <a16:creationId xmlns:a16="http://schemas.microsoft.com/office/drawing/2014/main" id="{E3746852-0989-4837-A682-1901F9E3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1965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Day 48 is often the last eligible row before the recovery-proxy label. It is not a fifth standard checkpoint. The workbook now separates and labels this near-end training-snapshot role.</a:t>
            </a:r>
          </a:p>
        </p:txBody>
      </p:sp>
    </p:spTree>
    <p:extLst>
      <p:ext uri="{BB962C8B-B14F-4D97-AF65-F5344CB8AC3E}">
        <p14:creationId xmlns:p14="http://schemas.microsoft.com/office/powerpoint/2010/main" val="18000572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-42-26">
            <a:extLst xmlns:a="http://schemas.openxmlformats.org/drawingml/2006/main">
              <a:ext uri="{FF2B5EF4-FFF2-40B4-BE49-F238E27FC236}">
                <a16:creationId xmlns:a16="http://schemas.microsoft.com/office/drawing/2014/main" id="{90F5D136-D004-4B47-B90C-D53EB9C7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67EC727D-2AFD-4EAD-AFB8-FC7A99F4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Recovery model · nested whole-cycle validation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B0FE3A6C-94F4-4C70-A2E1-8204864E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t-48-180">
            <a:extLst xmlns:a="http://schemas.openxmlformats.org/drawingml/2006/main">
              <a:ext uri="{FF2B5EF4-FFF2-40B4-BE49-F238E27FC236}">
                <a16:creationId xmlns:a16="http://schemas.microsoft.com/office/drawing/2014/main" id="{F370D13C-1686-4AC8-8FBB-1ED2010B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5720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7" name="t-48-232">
            <a:extLst xmlns:a="http://schemas.openxmlformats.org/drawingml/2006/main">
              <a:ext uri="{FF2B5EF4-FFF2-40B4-BE49-F238E27FC236}">
                <a16:creationId xmlns:a16="http://schemas.microsoft.com/office/drawing/2014/main" id="{280256F5-A57F-414C-A460-92DC3401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Outer fold</a:t>
            </a:r>
          </a:p>
        </p:txBody>
      </p:sp>
      <p:sp>
        <p:nvSpPr>
          <p:cNvPr id="8" name="t-48-282">
            <a:extLst xmlns:a="http://schemas.openxmlformats.org/drawingml/2006/main">
              <a:ext uri="{FF2B5EF4-FFF2-40B4-BE49-F238E27FC236}">
                <a16:creationId xmlns:a16="http://schemas.microsoft.com/office/drawing/2014/main" id="{13EF8EDE-5E67-474B-8243-F5E13582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Remove one complete cycle and all its building snapshots.</a:t>
            </a:r>
          </a:p>
        </p:txBody>
      </p:sp>
      <p:sp>
        <p:nvSpPr>
          <p:cNvPr id="9" name="t-284.8-180">
            <a:extLst xmlns:a="http://schemas.openxmlformats.org/drawingml/2006/main">
              <a:ext uri="{FF2B5EF4-FFF2-40B4-BE49-F238E27FC236}">
                <a16:creationId xmlns:a16="http://schemas.microsoft.com/office/drawing/2014/main" id="{00BDFF30-E20D-437C-B424-BB5C764A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271272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1" name="t-284.8-232">
            <a:extLst xmlns:a="http://schemas.openxmlformats.org/drawingml/2006/main">
              <a:ext uri="{FF2B5EF4-FFF2-40B4-BE49-F238E27FC236}">
                <a16:creationId xmlns:a16="http://schemas.microsoft.com/office/drawing/2014/main" id="{8140D236-1F07-4532-95EE-E087F56F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Inner folds</a:t>
            </a:r>
          </a:p>
        </p:txBody>
      </p:sp>
      <p:sp>
        <p:nvSpPr>
          <p:cNvPr id="12" name="t-284.8-282">
            <a:extLst xmlns:a="http://schemas.openxmlformats.org/drawingml/2006/main">
              <a:ext uri="{FF2B5EF4-FFF2-40B4-BE49-F238E27FC236}">
                <a16:creationId xmlns:a16="http://schemas.microsoft.com/office/drawing/2014/main" id="{BCBC7C04-9EB2-41B9-845B-F569621C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Tune only among the remaining cycles.</a:t>
            </a:r>
          </a:p>
        </p:txBody>
      </p:sp>
      <p:sp>
        <p:nvSpPr>
          <p:cNvPr id="13" name="t-521.6-180">
            <a:extLst xmlns:a="http://schemas.openxmlformats.org/drawingml/2006/main">
              <a:ext uri="{FF2B5EF4-FFF2-40B4-BE49-F238E27FC236}">
                <a16:creationId xmlns:a16="http://schemas.microsoft.com/office/drawing/2014/main" id="{EB1E14D5-DE0D-42B4-8BE9-D9ADBC66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96824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5" name="t-521.6-232">
            <a:extLst xmlns:a="http://schemas.openxmlformats.org/drawingml/2006/main">
              <a:ext uri="{FF2B5EF4-FFF2-40B4-BE49-F238E27FC236}">
                <a16:creationId xmlns:a16="http://schemas.microsoft.com/office/drawing/2014/main" id="{62E5BC6F-9BDD-4476-A3A2-68F31BD8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Preprocess inside fold</a:t>
            </a:r>
          </a:p>
        </p:txBody>
      </p:sp>
      <p:sp>
        <p:nvSpPr>
          <p:cNvPr id="16" name="t-521.6-282">
            <a:extLst xmlns:a="http://schemas.openxmlformats.org/drawingml/2006/main">
              <a:ext uri="{FF2B5EF4-FFF2-40B4-BE49-F238E27FC236}">
                <a16:creationId xmlns:a16="http://schemas.microsoft.com/office/drawing/2014/main" id="{3E6A7BCF-0D32-4706-A911-22FB7542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Fit imputation, scaling, filtering, and hyperparameters on training data only.</a:t>
            </a:r>
          </a:p>
        </p:txBody>
      </p:sp>
      <p:sp>
        <p:nvSpPr>
          <p:cNvPr id="17" name="t-758.4000000000001-180">
            <a:extLst xmlns:a="http://schemas.openxmlformats.org/drawingml/2006/main">
              <a:ext uri="{FF2B5EF4-FFF2-40B4-BE49-F238E27FC236}">
                <a16:creationId xmlns:a16="http://schemas.microsoft.com/office/drawing/2014/main" id="{F92BA984-4055-4AC9-95EF-161767EE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722376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9" name="t-758.4000000000001-232">
            <a:extLst xmlns:a="http://schemas.openxmlformats.org/drawingml/2006/main">
              <a:ext uri="{FF2B5EF4-FFF2-40B4-BE49-F238E27FC236}">
                <a16:creationId xmlns:a16="http://schemas.microsoft.com/office/drawing/2014/main" id="{ED0F7AF0-282A-474F-BE0A-6CA72F5C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Predict unseen cycle</a:t>
            </a:r>
          </a:p>
        </p:txBody>
      </p:sp>
      <p:sp>
        <p:nvSpPr>
          <p:cNvPr id="20" name="t-758.4000000000001-282">
            <a:extLst xmlns:a="http://schemas.openxmlformats.org/drawingml/2006/main">
              <a:ext uri="{FF2B5EF4-FFF2-40B4-BE49-F238E27FC236}">
                <a16:creationId xmlns:a16="http://schemas.microsoft.com/office/drawing/2014/main" id="{480E607D-5532-44BC-B2D2-572B6DD9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Create out-of-fold forecasts for every retained snapshot.</a:t>
            </a:r>
          </a:p>
        </p:txBody>
      </p:sp>
      <p:sp>
        <p:nvSpPr>
          <p:cNvPr id="21" name="t-995.2-180">
            <a:extLst xmlns:a="http://schemas.openxmlformats.org/drawingml/2006/main">
              <a:ext uri="{FF2B5EF4-FFF2-40B4-BE49-F238E27FC236}">
                <a16:creationId xmlns:a16="http://schemas.microsoft.com/office/drawing/2014/main" id="{8025982F-CA36-41F0-8539-21767338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947928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23" name="t-995.2-232">
            <a:extLst xmlns:a="http://schemas.openxmlformats.org/drawingml/2006/main">
              <a:ext uri="{FF2B5EF4-FFF2-40B4-BE49-F238E27FC236}">
                <a16:creationId xmlns:a16="http://schemas.microsoft.com/office/drawing/2014/main" id="{1EC3896F-297F-4FB6-A2AD-AF73A29C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Aggregate evidence</a:t>
            </a:r>
          </a:p>
        </p:txBody>
      </p:sp>
      <p:sp>
        <p:nvSpPr>
          <p:cNvPr id="24" name="t-995.2-282">
            <a:extLst xmlns:a="http://schemas.openxmlformats.org/drawingml/2006/main">
              <a:ext uri="{FF2B5EF4-FFF2-40B4-BE49-F238E27FC236}">
                <a16:creationId xmlns:a16="http://schemas.microsoft.com/office/drawing/2014/main" id="{5D8FC9EB-BA29-4C10-AC88-8D843AF2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Primary: cycle-balanced MAE. Guardrails: RMSE, R², bias, stability, target-side accuracy.</a:t>
            </a:r>
          </a:p>
        </p:txBody>
      </p:sp>
      <p:sp>
        <p:nvSpPr>
          <p:cNvPr id="25" name="no-smote">
            <a:extLst xmlns:a="http://schemas.openxmlformats.org/drawingml/2006/main">
              <a:ext uri="{FF2B5EF4-FFF2-40B4-BE49-F238E27FC236}">
                <a16:creationId xmlns:a16="http://schemas.microsoft.com/office/drawing/2014/main" id="{7EAE44CB-8208-48B8-BEB3-E189BFA5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10934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-78-516">
            <a:extLst xmlns:a="http://schemas.openxmlformats.org/drawingml/2006/main">
              <a:ext uri="{FF2B5EF4-FFF2-40B4-BE49-F238E27FC236}">
                <a16:creationId xmlns:a16="http://schemas.microsoft.com/office/drawing/2014/main" id="{88B1FB3C-14C2-4BE0-BCEE-631FCFD5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Why no SMOTE or random row split?</a:t>
            </a:r>
          </a:p>
        </p:txBody>
      </p:sp>
      <p:sp>
        <p:nvSpPr>
          <p:cNvPr id="27" name="t-438-510">
            <a:extLst xmlns:a="http://schemas.openxmlformats.org/drawingml/2006/main">
              <a:ext uri="{FF2B5EF4-FFF2-40B4-BE49-F238E27FC236}">
                <a16:creationId xmlns:a16="http://schemas.microsoft.com/office/drawing/2014/main" id="{FCB15A88-69BF-4366-AB37-580D0CB8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57750"/>
            <a:ext cx="689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This is small-sample regression. Synthetic snapshots do not create new independent cycles, and random rows would leak cycle conditions into both train and test.</a:t>
            </a:r>
          </a:p>
        </p:txBody>
      </p:sp>
    </p:spTree>
    <p:extLst>
      <p:ext uri="{BB962C8B-B14F-4D97-AF65-F5344CB8AC3E}">
        <p14:creationId xmlns:p14="http://schemas.microsoft.com/office/powerpoint/2010/main" val="182502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-42-26">
            <a:extLst xmlns:a="http://schemas.openxmlformats.org/drawingml/2006/main">
              <a:ext uri="{FF2B5EF4-FFF2-40B4-BE49-F238E27FC236}">
                <a16:creationId xmlns:a16="http://schemas.microsoft.com/office/drawing/2014/main" id="{A05A1C9B-2483-4820-95CA-4351EC28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2D9614FB-B5E4-430A-A01B-9083F181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Recovery model · five candidates, one conservative champion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35AAAC30-EAA0-49EC-84E5-101B5818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head">
            <a:extLst xmlns:a="http://schemas.openxmlformats.org/drawingml/2006/main">
              <a:ext uri="{FF2B5EF4-FFF2-40B4-BE49-F238E27FC236}">
                <a16:creationId xmlns:a16="http://schemas.microsoft.com/office/drawing/2014/main" id="{3C754751-9C04-40AA-8B96-23395A74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-57-200">
            <a:extLst xmlns:a="http://schemas.openxmlformats.org/drawingml/2006/main">
              <a:ext uri="{FF2B5EF4-FFF2-40B4-BE49-F238E27FC236}">
                <a16:creationId xmlns:a16="http://schemas.microsoft.com/office/drawing/2014/main" id="{02365D7C-4369-4FC8-9C41-17AB05A8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05000"/>
            <a:ext cx="2162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7" name="t-302-200">
            <a:extLst xmlns:a="http://schemas.openxmlformats.org/drawingml/2006/main">
              <a:ext uri="{FF2B5EF4-FFF2-40B4-BE49-F238E27FC236}">
                <a16:creationId xmlns:a16="http://schemas.microsoft.com/office/drawing/2014/main" id="{99A327EB-DA11-4928-99CE-F090774E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0500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Cycle MAE</a:t>
            </a:r>
          </a:p>
        </p:txBody>
      </p:sp>
      <p:sp>
        <p:nvSpPr>
          <p:cNvPr id="8" name="t-437-200">
            <a:extLst xmlns:a="http://schemas.openxmlformats.org/drawingml/2006/main">
              <a:ext uri="{FF2B5EF4-FFF2-40B4-BE49-F238E27FC236}">
                <a16:creationId xmlns:a16="http://schemas.microsoft.com/office/drawing/2014/main" id="{FD892536-7843-412C-85A4-C9962F87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90500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RMSE</a:t>
            </a:r>
          </a:p>
        </p:txBody>
      </p:sp>
      <p:sp>
        <p:nvSpPr>
          <p:cNvPr id="9" name="t-572-200">
            <a:extLst xmlns:a="http://schemas.openxmlformats.org/drawingml/2006/main">
              <a:ext uri="{FF2B5EF4-FFF2-40B4-BE49-F238E27FC236}">
                <a16:creationId xmlns:a16="http://schemas.microsoft.com/office/drawing/2014/main" id="{213DE5C3-A73B-4A3F-8C79-0BF6659C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05000"/>
            <a:ext cx="923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R²</a:t>
            </a:r>
          </a:p>
        </p:txBody>
      </p:sp>
      <p:sp>
        <p:nvSpPr>
          <p:cNvPr id="10" name="t-687-200">
            <a:extLst xmlns:a="http://schemas.openxmlformats.org/drawingml/2006/main">
              <a:ext uri="{FF2B5EF4-FFF2-40B4-BE49-F238E27FC236}">
                <a16:creationId xmlns:a16="http://schemas.microsoft.com/office/drawing/2014/main" id="{3A72CBBC-0807-49BD-B774-188363F0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0500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1" name="r0">
            <a:extLst xmlns:a="http://schemas.openxmlformats.org/drawingml/2006/main">
              <a:ext uri="{FF2B5EF4-FFF2-40B4-BE49-F238E27FC236}">
                <a16:creationId xmlns:a16="http://schemas.microsoft.com/office/drawing/2014/main" id="{4020151C-81F5-46B2-A4FA-ED426B8F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457200" y="260985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3" name="t-57-242">
            <a:extLst xmlns:a="http://schemas.openxmlformats.org/drawingml/2006/main">
              <a:ext uri="{FF2B5EF4-FFF2-40B4-BE49-F238E27FC236}">
                <a16:creationId xmlns:a16="http://schemas.microsoft.com/office/drawing/2014/main" id="{CEC550AE-E4E2-4B49-9785-B4277E7C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305050"/>
            <a:ext cx="2162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Age-band baseline</a:t>
            </a:r>
          </a:p>
        </p:txBody>
      </p:sp>
      <p:sp>
        <p:nvSpPr>
          <p:cNvPr id="14" name="t-302-242">
            <a:extLst xmlns:a="http://schemas.openxmlformats.org/drawingml/2006/main">
              <a:ext uri="{FF2B5EF4-FFF2-40B4-BE49-F238E27FC236}">
                <a16:creationId xmlns:a16="http://schemas.microsoft.com/office/drawing/2014/main" id="{39295678-E798-46CA-A96D-374FBCD1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0505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2.092 pts</a:t>
            </a:r>
          </a:p>
        </p:txBody>
      </p:sp>
      <p:sp>
        <p:nvSpPr>
          <p:cNvPr id="15" name="t-437-242">
            <a:extLst xmlns:a="http://schemas.openxmlformats.org/drawingml/2006/main">
              <a:ext uri="{FF2B5EF4-FFF2-40B4-BE49-F238E27FC236}">
                <a16:creationId xmlns:a16="http://schemas.microsoft.com/office/drawing/2014/main" id="{14114B0F-0A5C-4982-8C0A-1E8368D0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0505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2.660 pts</a:t>
            </a:r>
          </a:p>
        </p:txBody>
      </p:sp>
      <p:sp>
        <p:nvSpPr>
          <p:cNvPr id="16" name="t-572-242">
            <a:extLst xmlns:a="http://schemas.openxmlformats.org/drawingml/2006/main">
              <a:ext uri="{FF2B5EF4-FFF2-40B4-BE49-F238E27FC236}">
                <a16:creationId xmlns:a16="http://schemas.microsoft.com/office/drawing/2014/main" id="{515B57EA-A51D-42B4-8CCB-6AD3F5BB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05050"/>
            <a:ext cx="923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−0.010</a:t>
            </a:r>
          </a:p>
        </p:txBody>
      </p:sp>
      <p:sp>
        <p:nvSpPr>
          <p:cNvPr id="17" name="t-687-242">
            <a:extLst xmlns:a="http://schemas.openxmlformats.org/drawingml/2006/main">
              <a:ext uri="{FF2B5EF4-FFF2-40B4-BE49-F238E27FC236}">
                <a16:creationId xmlns:a16="http://schemas.microsoft.com/office/drawing/2014/main" id="{66011F6C-89B7-4C13-9CB5-2B9E075D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0505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sp>
        <p:nvSpPr>
          <p:cNvPr id="18" name="r1">
            <a:extLst xmlns:a="http://schemas.openxmlformats.org/drawingml/2006/main">
              <a:ext uri="{FF2B5EF4-FFF2-40B4-BE49-F238E27FC236}">
                <a16:creationId xmlns:a16="http://schemas.microsoft.com/office/drawing/2014/main" id="{B0CC5257-BBB8-478C-8A59-2064FB8F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457200" y="300990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20" name="t-57-284">
            <a:extLst xmlns:a="http://schemas.openxmlformats.org/drawingml/2006/main">
              <a:ext uri="{FF2B5EF4-FFF2-40B4-BE49-F238E27FC236}">
                <a16:creationId xmlns:a16="http://schemas.microsoft.com/office/drawing/2014/main" id="{175E7133-11F5-42BB-A489-A98587F1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05100"/>
            <a:ext cx="2162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Ordinary linear</a:t>
            </a:r>
          </a:p>
        </p:txBody>
      </p:sp>
      <p:sp>
        <p:nvSpPr>
          <p:cNvPr id="21" name="t-302-284">
            <a:extLst xmlns:a="http://schemas.openxmlformats.org/drawingml/2006/main">
              <a:ext uri="{FF2B5EF4-FFF2-40B4-BE49-F238E27FC236}">
                <a16:creationId xmlns:a16="http://schemas.microsoft.com/office/drawing/2014/main" id="{524EAF4E-C843-47F7-B4CD-67F8D841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0510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1.756 pts</a:t>
            </a:r>
          </a:p>
        </p:txBody>
      </p:sp>
      <p:sp>
        <p:nvSpPr>
          <p:cNvPr id="22" name="t-437-284">
            <a:extLst xmlns:a="http://schemas.openxmlformats.org/drawingml/2006/main">
              <a:ext uri="{FF2B5EF4-FFF2-40B4-BE49-F238E27FC236}">
                <a16:creationId xmlns:a16="http://schemas.microsoft.com/office/drawing/2014/main" id="{999BC5EA-DD71-46C4-AD7B-590E446F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70510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2.573 pts</a:t>
            </a:r>
          </a:p>
        </p:txBody>
      </p:sp>
      <p:sp>
        <p:nvSpPr>
          <p:cNvPr id="23" name="t-572-284">
            <a:extLst xmlns:a="http://schemas.openxmlformats.org/drawingml/2006/main">
              <a:ext uri="{FF2B5EF4-FFF2-40B4-BE49-F238E27FC236}">
                <a16:creationId xmlns:a16="http://schemas.microsoft.com/office/drawing/2014/main" id="{C4DBE421-0899-4E9B-A194-D5C0C286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05100"/>
            <a:ext cx="923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0.054</a:t>
            </a:r>
          </a:p>
        </p:txBody>
      </p:sp>
      <p:sp>
        <p:nvSpPr>
          <p:cNvPr id="24" name="t-687-284">
            <a:extLst xmlns:a="http://schemas.openxmlformats.org/drawingml/2006/main">
              <a:ext uri="{FF2B5EF4-FFF2-40B4-BE49-F238E27FC236}">
                <a16:creationId xmlns:a16="http://schemas.microsoft.com/office/drawing/2014/main" id="{CAEF00DC-D537-44EE-853E-3D1A8F34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0510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Selected</a:t>
            </a:r>
          </a:p>
        </p:txBody>
      </p:sp>
      <p:sp>
        <p:nvSpPr>
          <p:cNvPr id="25" name="r2">
            <a:extLst xmlns:a="http://schemas.openxmlformats.org/drawingml/2006/main">
              <a:ext uri="{FF2B5EF4-FFF2-40B4-BE49-F238E27FC236}">
                <a16:creationId xmlns:a16="http://schemas.microsoft.com/office/drawing/2014/main" id="{28EC79EE-15CD-4A12-9DC0-1A18446C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457200" y="340995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27" name="t-57-326">
            <a:extLst xmlns:a="http://schemas.openxmlformats.org/drawingml/2006/main">
              <a:ext uri="{FF2B5EF4-FFF2-40B4-BE49-F238E27FC236}">
                <a16:creationId xmlns:a16="http://schemas.microsoft.com/office/drawing/2014/main" id="{0A233A27-D77B-4E3D-9F8D-40CA8CD9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05150"/>
            <a:ext cx="2162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Ridge</a:t>
            </a:r>
          </a:p>
        </p:txBody>
      </p:sp>
      <p:sp>
        <p:nvSpPr>
          <p:cNvPr id="28" name="t-302-326">
            <a:extLst xmlns:a="http://schemas.openxmlformats.org/drawingml/2006/main">
              <a:ext uri="{FF2B5EF4-FFF2-40B4-BE49-F238E27FC236}">
                <a16:creationId xmlns:a16="http://schemas.microsoft.com/office/drawing/2014/main" id="{962BB2F5-C2B1-4613-BDE0-D39CE352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1.756 pts</a:t>
            </a:r>
          </a:p>
        </p:txBody>
      </p:sp>
      <p:sp>
        <p:nvSpPr>
          <p:cNvPr id="29" name="t-437-326">
            <a:extLst xmlns:a="http://schemas.openxmlformats.org/drawingml/2006/main">
              <a:ext uri="{FF2B5EF4-FFF2-40B4-BE49-F238E27FC236}">
                <a16:creationId xmlns:a16="http://schemas.microsoft.com/office/drawing/2014/main" id="{0AD2FF74-2340-4F7F-9B4C-6108090B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0515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2.572 pts</a:t>
            </a:r>
          </a:p>
        </p:txBody>
      </p:sp>
      <p:sp>
        <p:nvSpPr>
          <p:cNvPr id="30" name="t-572-326">
            <a:extLst xmlns:a="http://schemas.openxmlformats.org/drawingml/2006/main">
              <a:ext uri="{FF2B5EF4-FFF2-40B4-BE49-F238E27FC236}">
                <a16:creationId xmlns:a16="http://schemas.microsoft.com/office/drawing/2014/main" id="{EAF0D60B-6B50-4E06-9C0C-659BC8F0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05150"/>
            <a:ext cx="923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0.055</a:t>
            </a:r>
          </a:p>
        </p:txBody>
      </p:sp>
      <p:sp>
        <p:nvSpPr>
          <p:cNvPr id="31" name="t-687-326">
            <a:extLst xmlns:a="http://schemas.openxmlformats.org/drawingml/2006/main">
              <a:ext uri="{FF2B5EF4-FFF2-40B4-BE49-F238E27FC236}">
                <a16:creationId xmlns:a16="http://schemas.microsoft.com/office/drawing/2014/main" id="{F3B76477-A957-4DB2-9E67-7DA9EB5C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0515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Near tie</a:t>
            </a:r>
          </a:p>
        </p:txBody>
      </p:sp>
      <p:sp>
        <p:nvSpPr>
          <p:cNvPr id="32" name="r3">
            <a:extLst xmlns:a="http://schemas.openxmlformats.org/drawingml/2006/main">
              <a:ext uri="{FF2B5EF4-FFF2-40B4-BE49-F238E27FC236}">
                <a16:creationId xmlns:a16="http://schemas.microsoft.com/office/drawing/2014/main" id="{9826872E-0178-49E8-B34C-B746A148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/>
          <p:nvPr/>
        </p:nvCxnSpPr>
        <p:spPr>
          <a:xfrm xmlns:a="http://schemas.openxmlformats.org/drawingml/2006/main">
            <a:off x="457200" y="381000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34" name="t-57-368">
            <a:extLst xmlns:a="http://schemas.openxmlformats.org/drawingml/2006/main">
              <a:ext uri="{FF2B5EF4-FFF2-40B4-BE49-F238E27FC236}">
                <a16:creationId xmlns:a16="http://schemas.microsoft.com/office/drawing/2014/main" id="{6F8BBA28-91D4-4D5C-8CBB-E07749F5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05200"/>
            <a:ext cx="2162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Gradient Boosting</a:t>
            </a:r>
          </a:p>
        </p:txBody>
      </p:sp>
      <p:sp>
        <p:nvSpPr>
          <p:cNvPr id="35" name="t-302-368">
            <a:extLst xmlns:a="http://schemas.openxmlformats.org/drawingml/2006/main">
              <a:ext uri="{FF2B5EF4-FFF2-40B4-BE49-F238E27FC236}">
                <a16:creationId xmlns:a16="http://schemas.microsoft.com/office/drawing/2014/main" id="{5F680F14-6912-4938-8F88-EB6C3EE0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0520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1.844 pts</a:t>
            </a:r>
          </a:p>
        </p:txBody>
      </p:sp>
      <p:sp>
        <p:nvSpPr>
          <p:cNvPr id="36" name="t-437-368">
            <a:extLst xmlns:a="http://schemas.openxmlformats.org/drawingml/2006/main">
              <a:ext uri="{FF2B5EF4-FFF2-40B4-BE49-F238E27FC236}">
                <a16:creationId xmlns:a16="http://schemas.microsoft.com/office/drawing/2014/main" id="{0800BF9A-04E0-4178-ACCF-A7CED50F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0520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2.469 pts</a:t>
            </a:r>
          </a:p>
        </p:txBody>
      </p:sp>
      <p:sp>
        <p:nvSpPr>
          <p:cNvPr id="37" name="t-572-368">
            <a:extLst xmlns:a="http://schemas.openxmlformats.org/drawingml/2006/main">
              <a:ext uri="{FF2B5EF4-FFF2-40B4-BE49-F238E27FC236}">
                <a16:creationId xmlns:a16="http://schemas.microsoft.com/office/drawing/2014/main" id="{5928F578-DA3A-4FC1-919C-AF3410D8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05200"/>
            <a:ext cx="923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0.129</a:t>
            </a:r>
          </a:p>
        </p:txBody>
      </p:sp>
      <p:sp>
        <p:nvSpPr>
          <p:cNvPr id="38" name="t-687-368">
            <a:extLst xmlns:a="http://schemas.openxmlformats.org/drawingml/2006/main">
              <a:ext uri="{FF2B5EF4-FFF2-40B4-BE49-F238E27FC236}">
                <a16:creationId xmlns:a16="http://schemas.microsoft.com/office/drawing/2014/main" id="{B014F5B5-7F80-4565-83AE-2C92862C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50520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Compared</a:t>
            </a:r>
          </a:p>
        </p:txBody>
      </p:sp>
      <p:sp>
        <p:nvSpPr>
          <p:cNvPr id="39" name="r4">
            <a:extLst xmlns:a="http://schemas.openxmlformats.org/drawingml/2006/main">
              <a:ext uri="{FF2B5EF4-FFF2-40B4-BE49-F238E27FC236}">
                <a16:creationId xmlns:a16="http://schemas.microsoft.com/office/drawing/2014/main" id="{CD8C5E52-6A3D-4BC6-B25E-1CCD05D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457200" y="421005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1" name="t-57-410">
            <a:extLst xmlns:a="http://schemas.openxmlformats.org/drawingml/2006/main">
              <a:ext uri="{FF2B5EF4-FFF2-40B4-BE49-F238E27FC236}">
                <a16:creationId xmlns:a16="http://schemas.microsoft.com/office/drawing/2014/main" id="{1B101404-1FDC-4D57-9A2F-ACB288BE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05250"/>
            <a:ext cx="2162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Constrained Extra Trees</a:t>
            </a:r>
          </a:p>
        </p:txBody>
      </p:sp>
      <p:sp>
        <p:nvSpPr>
          <p:cNvPr id="42" name="t-302-410">
            <a:extLst xmlns:a="http://schemas.openxmlformats.org/drawingml/2006/main">
              <a:ext uri="{FF2B5EF4-FFF2-40B4-BE49-F238E27FC236}">
                <a16:creationId xmlns:a16="http://schemas.microsoft.com/office/drawing/2014/main" id="{F8D1A985-4CE5-4CF2-A65B-D246914D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0525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1.802 pts</a:t>
            </a:r>
          </a:p>
        </p:txBody>
      </p:sp>
      <p:sp>
        <p:nvSpPr>
          <p:cNvPr id="43" name="t-437-410">
            <a:extLst xmlns:a="http://schemas.openxmlformats.org/drawingml/2006/main">
              <a:ext uri="{FF2B5EF4-FFF2-40B4-BE49-F238E27FC236}">
                <a16:creationId xmlns:a16="http://schemas.microsoft.com/office/drawing/2014/main" id="{5D6E52DE-8EEE-41E4-8FD2-0F905B06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0525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2.469 pts</a:t>
            </a:r>
          </a:p>
        </p:txBody>
      </p:sp>
      <p:sp>
        <p:nvSpPr>
          <p:cNvPr id="44" name="t-572-410">
            <a:extLst xmlns:a="http://schemas.openxmlformats.org/drawingml/2006/main">
              <a:ext uri="{FF2B5EF4-FFF2-40B4-BE49-F238E27FC236}">
                <a16:creationId xmlns:a16="http://schemas.microsoft.com/office/drawing/2014/main" id="{B78E8845-6B11-4993-B03E-AE012FA3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05250"/>
            <a:ext cx="923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0.129</a:t>
            </a:r>
          </a:p>
        </p:txBody>
      </p:sp>
      <p:sp>
        <p:nvSpPr>
          <p:cNvPr id="45" name="t-687-410">
            <a:extLst xmlns:a="http://schemas.openxmlformats.org/drawingml/2006/main">
              <a:ext uri="{FF2B5EF4-FFF2-40B4-BE49-F238E27FC236}">
                <a16:creationId xmlns:a16="http://schemas.microsoft.com/office/drawing/2014/main" id="{CE35A05F-677E-4F6B-9ED5-596895E0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0525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SHAP challenger</a:t>
            </a:r>
          </a:p>
        </p:txBody>
      </p:sp>
      <p:sp>
        <p:nvSpPr>
          <p:cNvPr id="46" name="rec-select">
            <a:extLst xmlns:a="http://schemas.openxmlformats.org/drawingml/2006/main">
              <a:ext uri="{FF2B5EF4-FFF2-40B4-BE49-F238E27FC236}">
                <a16:creationId xmlns:a16="http://schemas.microsoft.com/office/drawing/2014/main" id="{A0AD7CA0-6341-4EC4-B4DD-092049F3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0839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-72-498">
            <a:extLst xmlns:a="http://schemas.openxmlformats.org/drawingml/2006/main">
              <a:ext uri="{FF2B5EF4-FFF2-40B4-BE49-F238E27FC236}">
                <a16:creationId xmlns:a16="http://schemas.microsoft.com/office/drawing/2014/main" id="{94E698B1-F519-4C57-A6EA-BCFB392B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Why ordinary linear?</a:t>
            </a:r>
          </a:p>
        </p:txBody>
      </p:sp>
      <p:sp>
        <p:nvSpPr>
          <p:cNvPr id="48" name="t-328-490">
            <a:extLst xmlns:a="http://schemas.openxmlformats.org/drawingml/2006/main">
              <a:ext uri="{FF2B5EF4-FFF2-40B4-BE49-F238E27FC236}">
                <a16:creationId xmlns:a16="http://schemas.microsoft.com/office/drawing/2014/main" id="{3476FC69-BAB1-47D4-A41A-4814367F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67250"/>
            <a:ext cx="7848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It has the best cycle-balanced MAE by a negligible margin over Ridge and is easier to reproduce and explain. Extra Trees has better pooled R², but worse cycle-balanced MAE and higher complexity.</a:t>
            </a:r>
          </a:p>
        </p:txBody>
      </p:sp>
      <p:sp>
        <p:nvSpPr>
          <p:cNvPr id="49" name="t-72-624">
            <a:extLst xmlns:a="http://schemas.openxmlformats.org/drawingml/2006/main">
              <a:ext uri="{FF2B5EF4-FFF2-40B4-BE49-F238E27FC236}">
                <a16:creationId xmlns:a16="http://schemas.microsoft.com/office/drawing/2014/main" id="{9A0F19A8-F4E9-40CA-94D7-98F3472D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rPr>
              <a:t>Selected forecast: MAE 1.74 percentage points · ±2.83-point 80% empirical half-width · R² 0.054</a:t>
            </a:r>
          </a:p>
        </p:txBody>
      </p:sp>
    </p:spTree>
    <p:extLst>
      <p:ext uri="{BB962C8B-B14F-4D97-AF65-F5344CB8AC3E}">
        <p14:creationId xmlns:p14="http://schemas.microsoft.com/office/powerpoint/2010/main" val="4342829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-42-26">
            <a:extLst xmlns:a="http://schemas.openxmlformats.org/drawingml/2006/main">
              <a:ext uri="{FF2B5EF4-FFF2-40B4-BE49-F238E27FC236}">
                <a16:creationId xmlns:a16="http://schemas.microsoft.com/office/drawing/2014/main" id="{EB84E717-25ED-439F-B590-06B9D3CD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EBFB15BF-9171-462F-8270-6ED78BAE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Recovery model · actual versus predicted and performance by age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932DACE2-B917-43E5-86D2-3B5A13E0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502d3dbe441dd"/>
          <a:stretch xmlns:a="http://schemas.openxmlformats.org/drawingml/2006/main"/>
        </p:blipFill>
        <p:spPr>
          <a:xfrm xmlns:a="http://schemas.openxmlformats.org/drawingml/2006/main">
            <a:off x="850767" y="1485900"/>
            <a:ext cx="4661167" cy="40005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5ec47fd5240e3"/>
          <a:stretch xmlns:a="http://schemas.openxmlformats.org/drawingml/2006/main"/>
        </p:blipFill>
        <p:spPr>
          <a:xfrm xmlns:a="http://schemas.openxmlformats.org/drawingml/2006/main">
            <a:off x="6191250" y="2369149"/>
            <a:ext cx="5600700" cy="2234002"/>
          </a:xfrm>
          <a:prstGeom xmlns:a="http://schemas.openxmlformats.org/drawingml/2006/main" prst="rect">
            <a:avLst/>
          </a:prstGeom>
        </p:spPr>
      </p:pic>
      <p:sp>
        <p:nvSpPr>
          <p:cNvPr id="7" name="rec-proof">
            <a:extLst xmlns:a="http://schemas.openxmlformats.org/drawingml/2006/main">
              <a:ext uri="{FF2B5EF4-FFF2-40B4-BE49-F238E27FC236}">
                <a16:creationId xmlns:a16="http://schemas.microsoft.com/office/drawing/2014/main" id="{37C43B52-4CD4-4772-85CE-08F313C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85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-70-608">
            <a:extLst xmlns:a="http://schemas.openxmlformats.org/drawingml/2006/main">
              <a:ext uri="{FF2B5EF4-FFF2-40B4-BE49-F238E27FC236}">
                <a16:creationId xmlns:a16="http://schemas.microsoft.com/office/drawing/2014/main" id="{7BE7A304-D7E6-453B-888F-304FCD5D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Accuracy improves with age: MAE is ~2.10 points on Days 1–7 and ~1.33 points from Day 22 onward. Day 14 MAE is 1.95 points.</a:t>
            </a:r>
          </a:p>
        </p:txBody>
      </p:sp>
    </p:spTree>
    <p:extLst>
      <p:ext uri="{BB962C8B-B14F-4D97-AF65-F5344CB8AC3E}">
        <p14:creationId xmlns:p14="http://schemas.microsoft.com/office/powerpoint/2010/main" val="17368337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-42-26">
            <a:extLst xmlns:a="http://schemas.openxmlformats.org/drawingml/2006/main">
              <a:ext uri="{FF2B5EF4-FFF2-40B4-BE49-F238E27FC236}">
                <a16:creationId xmlns:a16="http://schemas.microsoft.com/office/drawing/2014/main" id="{A88B8D4D-55B4-45D5-AA4B-8C396134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B2E20ADB-655D-43FA-8894-212F7AB4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2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Recovery model · SHAP adds sensitivity evidence—not causality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B3A9E17A-4A6E-4C50-BB2D-6B19F589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cfb53c566481d"/>
          <a:stretch xmlns:a="http://schemas.openxmlformats.org/drawingml/2006/main"/>
        </p:blipFill>
        <p:spPr>
          <a:xfrm xmlns:a="http://schemas.openxmlformats.org/drawingml/2006/main">
            <a:off x="507161" y="1581150"/>
            <a:ext cx="6491377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t-790-174">
            <a:extLst xmlns:a="http://schemas.openxmlformats.org/drawingml/2006/main">
              <a:ext uri="{FF2B5EF4-FFF2-40B4-BE49-F238E27FC236}">
                <a16:creationId xmlns:a16="http://schemas.microsoft.com/office/drawing/2014/main" id="{AFFFC2E7-0580-44A5-AB2D-9417C05F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573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WHY A TREE CHALLENGER?</a:t>
            </a:r>
          </a:p>
        </p:txBody>
      </p:sp>
      <p:sp>
        <p:nvSpPr>
          <p:cNvPr id="7" name="t-790-208">
            <a:extLst xmlns:a="http://schemas.openxmlformats.org/drawingml/2006/main">
              <a:ext uri="{FF2B5EF4-FFF2-40B4-BE49-F238E27FC236}">
                <a16:creationId xmlns:a16="http://schemas.microsoft.com/office/drawing/2014/main" id="{DE2554D3-BE29-42DD-8288-71115A00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live champion is linear. We use out-of-fold SHAP on the constrained Extra Trees challenger to test whether nonlinear patterns concentrate around sensible variables.</a:t>
            </a:r>
          </a:p>
        </p:txBody>
      </p:sp>
      <p:sp>
        <p:nvSpPr>
          <p:cNvPr id="8" name="t-790-360">
            <a:extLst xmlns:a="http://schemas.openxmlformats.org/drawingml/2006/main">
              <a:ext uri="{FF2B5EF4-FFF2-40B4-BE49-F238E27FC236}">
                <a16:creationId xmlns:a16="http://schemas.microsoft.com/office/drawing/2014/main" id="{839EDA12-703A-44D8-B2EF-57662939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TOP SENSITIVITIES</a:t>
            </a:r>
          </a:p>
        </p:txBody>
      </p:sp>
      <p:sp>
        <p:nvSpPr>
          <p:cNvPr id="9" name="t-790-394">
            <a:extLst xmlns:a="http://schemas.openxmlformats.org/drawingml/2006/main">
              <a:ext uri="{FF2B5EF4-FFF2-40B4-BE49-F238E27FC236}">
                <a16:creationId xmlns:a16="http://schemas.microsoft.com/office/drawing/2014/main" id="{81E4FE36-0F0C-46BB-A404-47CE334C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528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Cycle day · weight staleness · building group · humidity deviation · weight gap</a:t>
            </a:r>
          </a:p>
        </p:txBody>
      </p:sp>
      <p:sp>
        <p:nvSpPr>
          <p:cNvPr id="10" name="shapwarn">
            <a:extLst xmlns:a="http://schemas.openxmlformats.org/drawingml/2006/main">
              <a:ext uri="{FF2B5EF4-FFF2-40B4-BE49-F238E27FC236}">
                <a16:creationId xmlns:a16="http://schemas.microsoft.com/office/drawing/2014/main" id="{5BE89DFF-6C2E-41A6-977A-0E788407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48250"/>
            <a:ext cx="3714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-812-546">
            <a:extLst xmlns:a="http://schemas.openxmlformats.org/drawingml/2006/main">
              <a:ext uri="{FF2B5EF4-FFF2-40B4-BE49-F238E27FC236}">
                <a16:creationId xmlns:a16="http://schemas.microsoft.com/office/drawing/2014/main" id="{F2F7B7A0-B36D-46AE-9F9A-1CEE2083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00650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rPr>
              <a:t>SHAP shows association within this fitted model. It does not prove that changing humidity or temperature will cause recovery to improve.</a:t>
            </a:r>
          </a:p>
        </p:txBody>
      </p:sp>
    </p:spTree>
    <p:extLst>
      <p:ext uri="{BB962C8B-B14F-4D97-AF65-F5344CB8AC3E}">
        <p14:creationId xmlns:p14="http://schemas.microsoft.com/office/powerpoint/2010/main" val="282229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-42-26">
            <a:extLst xmlns:a="http://schemas.openxmlformats.org/drawingml/2006/main">
              <a:ext uri="{FF2B5EF4-FFF2-40B4-BE49-F238E27FC236}">
                <a16:creationId xmlns:a16="http://schemas.microsoft.com/office/drawing/2014/main" id="{D3B958E6-3804-4F3D-9DB1-FA177637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DA1DC5AC-4D62-4202-9E76-ED789A2F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Recovery model · what the low R² means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93EEA932-F34C-41A9-9A42-EE3FC5BE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t-54-170">
            <a:extLst xmlns:a="http://schemas.openxmlformats.org/drawingml/2006/main">
              <a:ext uri="{FF2B5EF4-FFF2-40B4-BE49-F238E27FC236}">
                <a16:creationId xmlns:a16="http://schemas.microsoft.com/office/drawing/2014/main" id="{EC0FC67B-009F-43E5-9DEC-B4E68757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1.74 pts</a:t>
            </a:r>
          </a:p>
        </p:txBody>
      </p:sp>
      <p:sp>
        <p:nvSpPr>
          <p:cNvPr id="6" name="t-54-225">
            <a:extLst xmlns:a="http://schemas.openxmlformats.org/drawingml/2006/main">
              <a:ext uri="{FF2B5EF4-FFF2-40B4-BE49-F238E27FC236}">
                <a16:creationId xmlns:a16="http://schemas.microsoft.com/office/drawing/2014/main" id="{EE760A26-7905-407D-B7C1-6132E80D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typical held-out absolute error</a:t>
            </a:r>
          </a:p>
        </p:txBody>
      </p:sp>
      <p:sp>
        <p:nvSpPr>
          <p:cNvPr id="7" name="t-460-170">
            <a:extLst xmlns:a="http://schemas.openxmlformats.org/drawingml/2006/main">
              <a:ext uri="{FF2B5EF4-FFF2-40B4-BE49-F238E27FC236}">
                <a16:creationId xmlns:a16="http://schemas.microsoft.com/office/drawing/2014/main" id="{CFE7E5CC-D31D-4874-AC81-C775E3A4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rPr>
              <a:t>0.054</a:t>
            </a:r>
          </a:p>
        </p:txBody>
      </p:sp>
      <p:sp>
        <p:nvSpPr>
          <p:cNvPr id="8" name="t-460-225">
            <a:extLst xmlns:a="http://schemas.openxmlformats.org/drawingml/2006/main">
              <a:ext uri="{FF2B5EF4-FFF2-40B4-BE49-F238E27FC236}">
                <a16:creationId xmlns:a16="http://schemas.microsoft.com/office/drawing/2014/main" id="{77CBF126-4BE5-4D00-87F4-EF53D907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variance explained in unseen cycles</a:t>
            </a:r>
          </a:p>
        </p:txBody>
      </p:sp>
      <p:sp>
        <p:nvSpPr>
          <p:cNvPr id="9" name="t-866-170">
            <a:extLst xmlns:a="http://schemas.openxmlformats.org/drawingml/2006/main">
              <a:ext uri="{FF2B5EF4-FFF2-40B4-BE49-F238E27FC236}">
                <a16:creationId xmlns:a16="http://schemas.microsoft.com/office/drawing/2014/main" id="{3A9D3D76-FC23-48FF-A3BD-26E1DA32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90.1%</a:t>
            </a:r>
          </a:p>
        </p:txBody>
      </p:sp>
      <p:sp>
        <p:nvSpPr>
          <p:cNvPr id="10" name="t-866-225">
            <a:extLst xmlns:a="http://schemas.openxmlformats.org/drawingml/2006/main">
              <a:ext uri="{FF2B5EF4-FFF2-40B4-BE49-F238E27FC236}">
                <a16:creationId xmlns:a16="http://schemas.microsoft.com/office/drawing/2014/main" id="{0A811F55-165E-4859-91E8-512EB45B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431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target-side accuracy—but mostly below-target cases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514350" y="281940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2" name="t-54-332">
            <a:extLst xmlns:a="http://schemas.openxmlformats.org/drawingml/2006/main">
              <a:ext uri="{FF2B5EF4-FFF2-40B4-BE49-F238E27FC236}">
                <a16:creationId xmlns:a16="http://schemas.microsoft.com/office/drawing/2014/main" id="{64FAD0B9-8AF2-430C-9773-D5B57022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THE HONEST INTERPRETATION</a:t>
            </a:r>
          </a:p>
        </p:txBody>
      </p:sp>
      <p:sp>
        <p:nvSpPr>
          <p:cNvPr id="13" name="t-54-370">
            <a:extLst xmlns:a="http://schemas.openxmlformats.org/drawingml/2006/main">
              <a:ext uri="{FF2B5EF4-FFF2-40B4-BE49-F238E27FC236}">
                <a16:creationId xmlns:a16="http://schemas.microsoft.com/office/drawing/2014/main" id="{C05DDA6F-4635-4068-A2FA-8BFD9472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6667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model improves continuous-error performance over the historical baseline, but most outcome variation remains unexplained. It is useful for a directional point estimate and range—not a probability of reaching 95%.</a:t>
            </a:r>
          </a:p>
        </p:txBody>
      </p:sp>
      <p:sp>
        <p:nvSpPr>
          <p:cNvPr id="14" name="t-814-332">
            <a:extLst xmlns:a="http://schemas.openxmlformats.org/drawingml/2006/main">
              <a:ext uri="{FF2B5EF4-FFF2-40B4-BE49-F238E27FC236}">
                <a16:creationId xmlns:a16="http://schemas.microsoft.com/office/drawing/2014/main" id="{E6F26B7B-0F1C-474D-8F7A-09F177A4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62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rPr>
              <a:t>WHY R² IS LOW</a:t>
            </a:r>
          </a:p>
        </p:txBody>
      </p:sp>
      <p:sp>
        <p:nvSpPr>
          <p:cNvPr id="15" name="t-814-372">
            <a:extLst xmlns:a="http://schemas.openxmlformats.org/drawingml/2006/main">
              <a:ext uri="{FF2B5EF4-FFF2-40B4-BE49-F238E27FC236}">
                <a16:creationId xmlns:a16="http://schemas.microsoft.com/office/drawing/2014/main" id="{92E8DAE9-CAFF-4DC6-852A-0471DD65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33909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1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31 independent outcomes; strong cycle shifts; proxy endpoint; incomplete interventions, health events, feed units, and sensor histories.</a:t>
            </a:r>
          </a:p>
        </p:txBody>
      </p:sp>
      <p:sp>
        <p:nvSpPr>
          <p:cNvPr id="16" name="trust">
            <a:extLst xmlns:a="http://schemas.openxmlformats.org/drawingml/2006/main">
              <a:ext uri="{FF2B5EF4-FFF2-40B4-BE49-F238E27FC236}">
                <a16:creationId xmlns:a16="http://schemas.microsoft.com/office/drawing/2014/main" id="{6D6F658D-C7A5-4424-9776-C6D275BC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10629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-78-574">
            <a:extLst xmlns:a="http://schemas.openxmlformats.org/drawingml/2006/main">
              <a:ext uri="{FF2B5EF4-FFF2-40B4-BE49-F238E27FC236}">
                <a16:creationId xmlns:a16="http://schemas.microsoft.com/office/drawing/2014/main" id="{FE017A9D-D008-404B-BF65-49B0D57B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1017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8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Trust boundary: use forecast + uncertainty + operational evidence together. Do not present the estimate as a guarantee.</a:t>
            </a:r>
          </a:p>
        </p:txBody>
      </p:sp>
    </p:spTree>
    <p:extLst>
      <p:ext uri="{BB962C8B-B14F-4D97-AF65-F5344CB8AC3E}">
        <p14:creationId xmlns:p14="http://schemas.microsoft.com/office/powerpoint/2010/main" val="12884644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-42-26">
            <a:extLst xmlns:a="http://schemas.openxmlformats.org/drawingml/2006/main">
              <a:ext uri="{FF2B5EF4-FFF2-40B4-BE49-F238E27FC236}">
                <a16:creationId xmlns:a16="http://schemas.microsoft.com/office/drawing/2014/main" id="{B696C47A-187C-4CE2-8033-19D9B4FA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C101B4AC-78BB-4346-847B-B555B9B4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Day 35 weight model · question, target, and inputs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F1F291C4-B135-4FD1-A6BA-97DE4C36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t-52-166">
            <a:extLst xmlns:a="http://schemas.openxmlformats.org/drawingml/2006/main">
              <a:ext uri="{FF2B5EF4-FFF2-40B4-BE49-F238E27FC236}">
                <a16:creationId xmlns:a16="http://schemas.microsoft.com/office/drawing/2014/main" id="{80E6B35A-AB39-46FC-82B2-7A967FC3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BUSINESS QUESTION</a:t>
            </a:r>
          </a:p>
        </p:txBody>
      </p:sp>
      <p:sp>
        <p:nvSpPr>
          <p:cNvPr id="6" name="t-52-200">
            <a:extLst xmlns:a="http://schemas.openxmlformats.org/drawingml/2006/main">
              <a:ext uri="{FF2B5EF4-FFF2-40B4-BE49-F238E27FC236}">
                <a16:creationId xmlns:a16="http://schemas.microsoft.com/office/drawing/2014/main" id="{74BECE0C-DEAC-4C2F-AB5F-3E111E75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72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Given the latest measured weight, how much additional growth is expected by Day 35?</a:t>
            </a:r>
          </a:p>
        </p:txBody>
      </p:sp>
      <p:sp>
        <p:nvSpPr>
          <p:cNvPr id="7" name="t-52-330">
            <a:extLst xmlns:a="http://schemas.openxmlformats.org/drawingml/2006/main">
              <a:ext uri="{FF2B5EF4-FFF2-40B4-BE49-F238E27FC236}">
                <a16:creationId xmlns:a16="http://schemas.microsoft.com/office/drawing/2014/main" id="{42E3EE68-B389-473E-B0F0-AEC5B6D3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TARGET (Y)</a:t>
            </a:r>
          </a:p>
        </p:txBody>
      </p:sp>
      <p:sp>
        <p:nvSpPr>
          <p:cNvPr id="8" name="t-52-364">
            <a:extLst xmlns:a="http://schemas.openxmlformats.org/drawingml/2006/main">
              <a:ext uri="{FF2B5EF4-FFF2-40B4-BE49-F238E27FC236}">
                <a16:creationId xmlns:a16="http://schemas.microsoft.com/office/drawing/2014/main" id="{B8578FCE-5DC3-4EAB-BF6F-43E709DF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Recorded Day 35 average weight</a:t>
            </a:r>
          </a:p>
        </p:txBody>
      </p:sp>
      <p:sp>
        <p:nvSpPr>
          <p:cNvPr id="9" name="t-52-414">
            <a:extLst xmlns:a="http://schemas.openxmlformats.org/drawingml/2006/main">
              <a:ext uri="{FF2B5EF4-FFF2-40B4-BE49-F238E27FC236}">
                <a16:creationId xmlns:a16="http://schemas.microsoft.com/office/drawing/2014/main" id="{F802D625-CAFE-4EE4-A7E9-8041F3E6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Equivalent target: remaining gain from checkpoint to Day 35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5924550" y="15049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1" name="t-680-166">
            <a:extLst xmlns:a="http://schemas.openxmlformats.org/drawingml/2006/main">
              <a:ext uri="{FF2B5EF4-FFF2-40B4-BE49-F238E27FC236}">
                <a16:creationId xmlns:a16="http://schemas.microsoft.com/office/drawing/2014/main" id="{21553513-B0DA-4A90-AC12-0BB837E6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CANDIDATE INPUTS (X)</a:t>
            </a:r>
          </a:p>
        </p:txBody>
      </p:sp>
      <p:sp>
        <p:nvSpPr>
          <p:cNvPr id="12" name="t-680-208">
            <a:extLst xmlns:a="http://schemas.openxmlformats.org/drawingml/2006/main">
              <a:ext uri="{FF2B5EF4-FFF2-40B4-BE49-F238E27FC236}">
                <a16:creationId xmlns:a16="http://schemas.microsoft.com/office/drawing/2014/main" id="{EB54C224-3406-4E8C-978E-37A3AFC6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667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Latest observed weight and checkpoint day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Weight-to-age-target ratio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Day 7/14/21/28 weights known at that date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Recent and cumulative average daily gain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Current survival and recent mortality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Environmental deviation and freshness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Missingness indicators</a:t>
            </a:r>
          </a:p>
        </p:txBody>
      </p:sp>
      <p:sp>
        <p:nvSpPr>
          <p:cNvPr id="13" name="death-answer">
            <a:extLst xmlns:a="http://schemas.openxmlformats.org/drawingml/2006/main">
              <a:ext uri="{FF2B5EF4-FFF2-40B4-BE49-F238E27FC236}">
                <a16:creationId xmlns:a16="http://schemas.microsoft.com/office/drawing/2014/main" id="{716EF834-2438-41FC-B495-407738EA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8750"/>
            <a:ext cx="466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-700-562">
            <a:extLst xmlns:a="http://schemas.openxmlformats.org/drawingml/2006/main">
              <a:ext uri="{FF2B5EF4-FFF2-40B4-BE49-F238E27FC236}">
                <a16:creationId xmlns:a16="http://schemas.microsoft.com/office/drawing/2014/main" id="{830216EE-D054-4AAA-8B3A-F4519B0A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530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47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Deaths were tested in learned challengers. They are not forced into the operational fallback because those challengers performed worse.</a:t>
            </a:r>
          </a:p>
        </p:txBody>
      </p:sp>
    </p:spTree>
    <p:extLst>
      <p:ext uri="{BB962C8B-B14F-4D97-AF65-F5344CB8AC3E}">
        <p14:creationId xmlns:p14="http://schemas.microsoft.com/office/powerpoint/2010/main" val="5658137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-42-26">
            <a:extLst xmlns:a="http://schemas.openxmlformats.org/drawingml/2006/main">
              <a:ext uri="{FF2B5EF4-FFF2-40B4-BE49-F238E27FC236}">
                <a16:creationId xmlns:a16="http://schemas.microsoft.com/office/drawing/2014/main" id="{F6DFE037-7B70-4028-BFCC-7A0C946C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BE6DE98D-AA2F-4685-80BD-72B9B595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Day 35 weight model · preprocessing and leakage controls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7BE79587-5427-4FFD-B600-337A58CB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t-48-180">
            <a:extLst xmlns:a="http://schemas.openxmlformats.org/drawingml/2006/main">
              <a:ext uri="{FF2B5EF4-FFF2-40B4-BE49-F238E27FC236}">
                <a16:creationId xmlns:a16="http://schemas.microsoft.com/office/drawing/2014/main" id="{7C3A4581-D3AF-4711-AF45-4460D0F4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5720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7" name="t-48-232">
            <a:extLst xmlns:a="http://schemas.openxmlformats.org/drawingml/2006/main">
              <a:ext uri="{FF2B5EF4-FFF2-40B4-BE49-F238E27FC236}">
                <a16:creationId xmlns:a16="http://schemas.microsoft.com/office/drawing/2014/main" id="{C160DF29-7B6A-46AE-BB70-254A39ED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Observe checkpoints</a:t>
            </a:r>
          </a:p>
        </p:txBody>
      </p:sp>
      <p:sp>
        <p:nvSpPr>
          <p:cNvPr id="8" name="t-48-282">
            <a:extLst xmlns:a="http://schemas.openxmlformats.org/drawingml/2006/main">
              <a:ext uri="{FF2B5EF4-FFF2-40B4-BE49-F238E27FC236}">
                <a16:creationId xmlns:a16="http://schemas.microsoft.com/office/drawing/2014/main" id="{2821018C-67DE-4263-85D7-76CCD2EA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Use actual measured Days 7, 14, 21, and 28—not target interpolation as bodyweight.</a:t>
            </a:r>
          </a:p>
        </p:txBody>
      </p:sp>
      <p:sp>
        <p:nvSpPr>
          <p:cNvPr id="9" name="t-284.8-180">
            <a:extLst xmlns:a="http://schemas.openxmlformats.org/drawingml/2006/main">
              <a:ext uri="{FF2B5EF4-FFF2-40B4-BE49-F238E27FC236}">
                <a16:creationId xmlns:a16="http://schemas.microsoft.com/office/drawing/2014/main" id="{F246B4D7-06ED-4A74-BD96-66C6D97D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271272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1" name="t-284.8-232">
            <a:extLst xmlns:a="http://schemas.openxmlformats.org/drawingml/2006/main">
              <a:ext uri="{FF2B5EF4-FFF2-40B4-BE49-F238E27FC236}">
                <a16:creationId xmlns:a16="http://schemas.microsoft.com/office/drawing/2014/main" id="{77535456-C002-4FE9-B314-19D194B5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Create as-of X</a:t>
            </a:r>
          </a:p>
        </p:txBody>
      </p:sp>
      <p:sp>
        <p:nvSpPr>
          <p:cNvPr id="12" name="t-284.8-282">
            <a:extLst xmlns:a="http://schemas.openxmlformats.org/drawingml/2006/main">
              <a:ext uri="{FF2B5EF4-FFF2-40B4-BE49-F238E27FC236}">
                <a16:creationId xmlns:a16="http://schemas.microsoft.com/office/drawing/2014/main" id="{16D19C52-2E37-41D9-8733-C25791E0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Later checkpoint weights are blank in earlier snapshots.</a:t>
            </a:r>
          </a:p>
        </p:txBody>
      </p:sp>
      <p:sp>
        <p:nvSpPr>
          <p:cNvPr id="13" name="t-521.6-180">
            <a:extLst xmlns:a="http://schemas.openxmlformats.org/drawingml/2006/main">
              <a:ext uri="{FF2B5EF4-FFF2-40B4-BE49-F238E27FC236}">
                <a16:creationId xmlns:a16="http://schemas.microsoft.com/office/drawing/2014/main" id="{1BC20171-198B-4834-8148-FAE8EB04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96824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5" name="t-521.6-232">
            <a:extLst xmlns:a="http://schemas.openxmlformats.org/drawingml/2006/main">
              <a:ext uri="{FF2B5EF4-FFF2-40B4-BE49-F238E27FC236}">
                <a16:creationId xmlns:a16="http://schemas.microsoft.com/office/drawing/2014/main" id="{8E91924C-62F4-46DD-A621-1FAF9B52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Engineer features</a:t>
            </a:r>
          </a:p>
        </p:txBody>
      </p:sp>
      <p:sp>
        <p:nvSpPr>
          <p:cNvPr id="16" name="t-521.6-282">
            <a:extLst xmlns:a="http://schemas.openxmlformats.org/drawingml/2006/main">
              <a:ext uri="{FF2B5EF4-FFF2-40B4-BE49-F238E27FC236}">
                <a16:creationId xmlns:a16="http://schemas.microsoft.com/office/drawing/2014/main" id="{31950927-A313-4F0C-A1C5-F6523A4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Target ratio, recent/cumulative gain, survival, mortality, environment, freshness.</a:t>
            </a:r>
          </a:p>
        </p:txBody>
      </p:sp>
      <p:sp>
        <p:nvSpPr>
          <p:cNvPr id="17" name="t-758.4000000000001-180">
            <a:extLst xmlns:a="http://schemas.openxmlformats.org/drawingml/2006/main">
              <a:ext uri="{FF2B5EF4-FFF2-40B4-BE49-F238E27FC236}">
                <a16:creationId xmlns:a16="http://schemas.microsoft.com/office/drawing/2014/main" id="{2CBA0664-5141-43D6-BAA9-27F2EB8E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722376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9" name="t-758.4000000000001-232">
            <a:extLst xmlns:a="http://schemas.openxmlformats.org/drawingml/2006/main">
              <a:ext uri="{FF2B5EF4-FFF2-40B4-BE49-F238E27FC236}">
                <a16:creationId xmlns:a16="http://schemas.microsoft.com/office/drawing/2014/main" id="{017BED45-77F8-4C46-A153-02C8659B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Set Y</a:t>
            </a:r>
          </a:p>
        </p:txBody>
      </p:sp>
      <p:sp>
        <p:nvSpPr>
          <p:cNvPr id="20" name="t-758.4000000000001-282">
            <a:extLst xmlns:a="http://schemas.openxmlformats.org/drawingml/2006/main">
              <a:ext uri="{FF2B5EF4-FFF2-40B4-BE49-F238E27FC236}">
                <a16:creationId xmlns:a16="http://schemas.microsoft.com/office/drawing/2014/main" id="{4F6919E4-D451-4A5A-8834-A3E81CD3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Attach the recorded Day 35 average weight and remaining gain.</a:t>
            </a:r>
          </a:p>
        </p:txBody>
      </p:sp>
      <p:sp>
        <p:nvSpPr>
          <p:cNvPr id="21" name="t-995.2-180">
            <a:extLst xmlns:a="http://schemas.openxmlformats.org/drawingml/2006/main">
              <a:ext uri="{FF2B5EF4-FFF2-40B4-BE49-F238E27FC236}">
                <a16:creationId xmlns:a16="http://schemas.microsoft.com/office/drawing/2014/main" id="{FA2496CB-8DD1-4AAF-ABEB-A8088F1B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947928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23" name="t-995.2-232">
            <a:extLst xmlns:a="http://schemas.openxmlformats.org/drawingml/2006/main">
              <a:ext uri="{FF2B5EF4-FFF2-40B4-BE49-F238E27FC236}">
                <a16:creationId xmlns:a16="http://schemas.microsoft.com/office/drawing/2014/main" id="{19CC096F-6BAB-4191-9AE9-EE3B0AC7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Validate cycles</a:t>
            </a:r>
          </a:p>
        </p:txBody>
      </p:sp>
      <p:sp>
        <p:nvSpPr>
          <p:cNvPr id="24" name="t-995.2-282">
            <a:extLst xmlns:a="http://schemas.openxmlformats.org/drawingml/2006/main">
              <a:ext uri="{FF2B5EF4-FFF2-40B4-BE49-F238E27FC236}">
                <a16:creationId xmlns:a16="http://schemas.microsoft.com/office/drawing/2014/main" id="{883069AF-1483-447A-8CA1-10F0CB58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Repeat nested whole-cycle testing and keep 2026-3 as prospective audit.</a:t>
            </a:r>
          </a:p>
        </p:txBody>
      </p:sp>
      <p:sp>
        <p:nvSpPr>
          <p:cNvPr id="25" name="weight-y">
            <a:extLst xmlns:a="http://schemas.openxmlformats.org/drawingml/2006/main">
              <a:ext uri="{FF2B5EF4-FFF2-40B4-BE49-F238E27FC236}">
                <a16:creationId xmlns:a16="http://schemas.microsoft.com/office/drawing/2014/main" id="{88D129FA-95AF-4742-97D7-E830DC38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10934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-76-526">
            <a:extLst xmlns:a="http://schemas.openxmlformats.org/drawingml/2006/main">
              <a:ext uri="{FF2B5EF4-FFF2-40B4-BE49-F238E27FC236}">
                <a16:creationId xmlns:a16="http://schemas.microsoft.com/office/drawing/2014/main" id="{771467C4-609B-451A-898C-EC12535A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Why the training sheet ends at Day 28</a:t>
            </a:r>
          </a:p>
        </p:txBody>
      </p:sp>
      <p:sp>
        <p:nvSpPr>
          <p:cNvPr id="27" name="t-436-516">
            <a:extLst xmlns:a="http://schemas.openxmlformats.org/drawingml/2006/main">
              <a:ext uri="{FF2B5EF4-FFF2-40B4-BE49-F238E27FC236}">
                <a16:creationId xmlns:a16="http://schemas.microsoft.com/office/drawing/2014/main" id="{0CC304F6-66F4-4AA6-A9F5-42B98B1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914900"/>
            <a:ext cx="693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model predicts Day 35. A Day 35 row would contain zero remaining horizon and reveal the target. The Day 35 value is therefore the Y label attached to every earlier checkpoint row.</a:t>
            </a:r>
          </a:p>
        </p:txBody>
      </p:sp>
    </p:spTree>
    <p:extLst>
      <p:ext uri="{BB962C8B-B14F-4D97-AF65-F5344CB8AC3E}">
        <p14:creationId xmlns:p14="http://schemas.microsoft.com/office/powerpoint/2010/main" val="16895452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-42-26">
            <a:extLst xmlns:a="http://schemas.openxmlformats.org/drawingml/2006/main">
              <a:ext uri="{FF2B5EF4-FFF2-40B4-BE49-F238E27FC236}">
                <a16:creationId xmlns:a16="http://schemas.microsoft.com/office/drawing/2014/main" id="{D52C303A-C27C-47F4-98FA-789DCC34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09E6AD6D-597E-4FE4-978C-EED7724B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Day 35 weight · learned models do not beat the transparent fallback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F0C32D5A-8017-404A-8ACA-08CB8012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head">
            <a:extLst xmlns:a="http://schemas.openxmlformats.org/drawingml/2006/main">
              <a:ext uri="{FF2B5EF4-FFF2-40B4-BE49-F238E27FC236}">
                <a16:creationId xmlns:a16="http://schemas.microsoft.com/office/drawing/2014/main" id="{C5274AA8-0214-4B01-A7E4-6E0D50B8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-57-200">
            <a:extLst xmlns:a="http://schemas.openxmlformats.org/drawingml/2006/main">
              <a:ext uri="{FF2B5EF4-FFF2-40B4-BE49-F238E27FC236}">
                <a16:creationId xmlns:a16="http://schemas.microsoft.com/office/drawing/2014/main" id="{92C08C39-B6B2-4164-A3D8-6A2A2DF8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05000"/>
            <a:ext cx="2162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7" name="t-302-200">
            <a:extLst xmlns:a="http://schemas.openxmlformats.org/drawingml/2006/main">
              <a:ext uri="{FF2B5EF4-FFF2-40B4-BE49-F238E27FC236}">
                <a16:creationId xmlns:a16="http://schemas.microsoft.com/office/drawing/2014/main" id="{9269EFE0-2DEB-4559-B584-0E16E4F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0500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Cycle MAE</a:t>
            </a:r>
          </a:p>
        </p:txBody>
      </p:sp>
      <p:sp>
        <p:nvSpPr>
          <p:cNvPr id="8" name="t-437-200">
            <a:extLst xmlns:a="http://schemas.openxmlformats.org/drawingml/2006/main">
              <a:ext uri="{FF2B5EF4-FFF2-40B4-BE49-F238E27FC236}">
                <a16:creationId xmlns:a16="http://schemas.microsoft.com/office/drawing/2014/main" id="{6D89CB06-48F5-4C08-9511-3D8CB77B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90500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RMSE</a:t>
            </a:r>
          </a:p>
        </p:txBody>
      </p:sp>
      <p:sp>
        <p:nvSpPr>
          <p:cNvPr id="9" name="t-572-200">
            <a:extLst xmlns:a="http://schemas.openxmlformats.org/drawingml/2006/main">
              <a:ext uri="{FF2B5EF4-FFF2-40B4-BE49-F238E27FC236}">
                <a16:creationId xmlns:a16="http://schemas.microsoft.com/office/drawing/2014/main" id="{CB400140-649B-4542-97E3-AA921244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05000"/>
            <a:ext cx="923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R²</a:t>
            </a:r>
          </a:p>
        </p:txBody>
      </p:sp>
      <p:sp>
        <p:nvSpPr>
          <p:cNvPr id="10" name="t-687-200">
            <a:extLst xmlns:a="http://schemas.openxmlformats.org/drawingml/2006/main">
              <a:ext uri="{FF2B5EF4-FFF2-40B4-BE49-F238E27FC236}">
                <a16:creationId xmlns:a16="http://schemas.microsoft.com/office/drawing/2014/main" id="{32347614-237F-4AF0-A924-CEA862D4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0500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1" name="r0">
            <a:extLst xmlns:a="http://schemas.openxmlformats.org/drawingml/2006/main">
              <a:ext uri="{FF2B5EF4-FFF2-40B4-BE49-F238E27FC236}">
                <a16:creationId xmlns:a16="http://schemas.microsoft.com/office/drawing/2014/main" id="{45F7FCBD-020D-4EE0-8753-9A826480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457200" y="260985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3" name="t-57-242">
            <a:extLst xmlns:a="http://schemas.openxmlformats.org/drawingml/2006/main">
              <a:ext uri="{FF2B5EF4-FFF2-40B4-BE49-F238E27FC236}">
                <a16:creationId xmlns:a16="http://schemas.microsoft.com/office/drawing/2014/main" id="{C9391D90-FA1F-47C6-8F3C-E63A8D75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305050"/>
            <a:ext cx="2162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Historical remaining gain</a:t>
            </a:r>
          </a:p>
        </p:txBody>
      </p:sp>
      <p:sp>
        <p:nvSpPr>
          <p:cNvPr id="14" name="t-302-242">
            <a:extLst xmlns:a="http://schemas.openxmlformats.org/drawingml/2006/main">
              <a:ext uri="{FF2B5EF4-FFF2-40B4-BE49-F238E27FC236}">
                <a16:creationId xmlns:a16="http://schemas.microsoft.com/office/drawing/2014/main" id="{C0FA7588-651E-4A2E-9918-9F30E526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0505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182 g</a:t>
            </a:r>
          </a:p>
        </p:txBody>
      </p:sp>
      <p:sp>
        <p:nvSpPr>
          <p:cNvPr id="15" name="t-437-242">
            <a:extLst xmlns:a="http://schemas.openxmlformats.org/drawingml/2006/main">
              <a:ext uri="{FF2B5EF4-FFF2-40B4-BE49-F238E27FC236}">
                <a16:creationId xmlns:a16="http://schemas.microsoft.com/office/drawing/2014/main" id="{49BC5234-4678-47DE-B0E2-25FF85EF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0505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242 g</a:t>
            </a:r>
          </a:p>
        </p:txBody>
      </p:sp>
      <p:sp>
        <p:nvSpPr>
          <p:cNvPr id="16" name="t-572-242">
            <a:extLst xmlns:a="http://schemas.openxmlformats.org/drawingml/2006/main">
              <a:ext uri="{FF2B5EF4-FFF2-40B4-BE49-F238E27FC236}">
                <a16:creationId xmlns:a16="http://schemas.microsoft.com/office/drawing/2014/main" id="{54883157-77EA-43B3-B5BC-2B37ACB6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05050"/>
            <a:ext cx="923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0.126</a:t>
            </a:r>
          </a:p>
        </p:txBody>
      </p:sp>
      <p:sp>
        <p:nvSpPr>
          <p:cNvPr id="17" name="t-687-242">
            <a:extLst xmlns:a="http://schemas.openxmlformats.org/drawingml/2006/main">
              <a:ext uri="{FF2B5EF4-FFF2-40B4-BE49-F238E27FC236}">
                <a16:creationId xmlns:a16="http://schemas.microsoft.com/office/drawing/2014/main" id="{F230DED8-952F-40EF-BD32-6342ADBD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0505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Selected</a:t>
            </a:r>
          </a:p>
        </p:txBody>
      </p:sp>
      <p:sp>
        <p:nvSpPr>
          <p:cNvPr id="18" name="r1">
            <a:extLst xmlns:a="http://schemas.openxmlformats.org/drawingml/2006/main">
              <a:ext uri="{FF2B5EF4-FFF2-40B4-BE49-F238E27FC236}">
                <a16:creationId xmlns:a16="http://schemas.microsoft.com/office/drawing/2014/main" id="{7C8DF3A0-42B5-4061-AE5E-A7838F66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457200" y="300990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20" name="t-57-284">
            <a:extLst xmlns:a="http://schemas.openxmlformats.org/drawingml/2006/main">
              <a:ext uri="{FF2B5EF4-FFF2-40B4-BE49-F238E27FC236}">
                <a16:creationId xmlns:a16="http://schemas.microsoft.com/office/drawing/2014/main" id="{46E71FE9-1FE9-4185-9B33-8007E2B4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05100"/>
            <a:ext cx="2162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Checkpoint linear</a:t>
            </a:r>
          </a:p>
        </p:txBody>
      </p:sp>
      <p:sp>
        <p:nvSpPr>
          <p:cNvPr id="21" name="t-302-284">
            <a:extLst xmlns:a="http://schemas.openxmlformats.org/drawingml/2006/main">
              <a:ext uri="{FF2B5EF4-FFF2-40B4-BE49-F238E27FC236}">
                <a16:creationId xmlns:a16="http://schemas.microsoft.com/office/drawing/2014/main" id="{F8B546C7-C8A2-4464-A88D-83F9BFA0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0510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210 g</a:t>
            </a:r>
          </a:p>
        </p:txBody>
      </p:sp>
      <p:sp>
        <p:nvSpPr>
          <p:cNvPr id="22" name="t-437-284">
            <a:extLst xmlns:a="http://schemas.openxmlformats.org/drawingml/2006/main">
              <a:ext uri="{FF2B5EF4-FFF2-40B4-BE49-F238E27FC236}">
                <a16:creationId xmlns:a16="http://schemas.microsoft.com/office/drawing/2014/main" id="{0FE90153-2C87-4589-944D-CD26E224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70510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276 g</a:t>
            </a:r>
          </a:p>
        </p:txBody>
      </p:sp>
      <p:sp>
        <p:nvSpPr>
          <p:cNvPr id="23" name="t-572-284">
            <a:extLst xmlns:a="http://schemas.openxmlformats.org/drawingml/2006/main">
              <a:ext uri="{FF2B5EF4-FFF2-40B4-BE49-F238E27FC236}">
                <a16:creationId xmlns:a16="http://schemas.microsoft.com/office/drawing/2014/main" id="{C9C775AE-D8BD-4190-A5B8-3088B32A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05100"/>
            <a:ext cx="923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−0.136</a:t>
            </a:r>
          </a:p>
        </p:txBody>
      </p:sp>
      <p:sp>
        <p:nvSpPr>
          <p:cNvPr id="24" name="t-687-284">
            <a:extLst xmlns:a="http://schemas.openxmlformats.org/drawingml/2006/main">
              <a:ext uri="{FF2B5EF4-FFF2-40B4-BE49-F238E27FC236}">
                <a16:creationId xmlns:a16="http://schemas.microsoft.com/office/drawing/2014/main" id="{D6A6FC66-66F3-4117-86D4-163679B2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0510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Compared</a:t>
            </a:r>
          </a:p>
        </p:txBody>
      </p:sp>
      <p:sp>
        <p:nvSpPr>
          <p:cNvPr id="25" name="r2">
            <a:extLst xmlns:a="http://schemas.openxmlformats.org/drawingml/2006/main">
              <a:ext uri="{FF2B5EF4-FFF2-40B4-BE49-F238E27FC236}">
                <a16:creationId xmlns:a16="http://schemas.microsoft.com/office/drawing/2014/main" id="{8745BFDF-2CB5-4E46-9C8D-B54E7873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457200" y="340995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27" name="t-57-326">
            <a:extLst xmlns:a="http://schemas.openxmlformats.org/drawingml/2006/main">
              <a:ext uri="{FF2B5EF4-FFF2-40B4-BE49-F238E27FC236}">
                <a16:creationId xmlns:a16="http://schemas.microsoft.com/office/drawing/2014/main" id="{DA85D493-909E-447D-9758-9F181C2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05150"/>
            <a:ext cx="2162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Ridge</a:t>
            </a:r>
          </a:p>
        </p:txBody>
      </p:sp>
      <p:sp>
        <p:nvSpPr>
          <p:cNvPr id="28" name="t-302-326">
            <a:extLst xmlns:a="http://schemas.openxmlformats.org/drawingml/2006/main">
              <a:ext uri="{FF2B5EF4-FFF2-40B4-BE49-F238E27FC236}">
                <a16:creationId xmlns:a16="http://schemas.microsoft.com/office/drawing/2014/main" id="{80A1087C-ED96-4FF7-AFD6-F3AB125C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200 g</a:t>
            </a:r>
          </a:p>
        </p:txBody>
      </p:sp>
      <p:sp>
        <p:nvSpPr>
          <p:cNvPr id="29" name="t-437-326">
            <a:extLst xmlns:a="http://schemas.openxmlformats.org/drawingml/2006/main">
              <a:ext uri="{FF2B5EF4-FFF2-40B4-BE49-F238E27FC236}">
                <a16:creationId xmlns:a16="http://schemas.microsoft.com/office/drawing/2014/main" id="{96101FA3-689C-44B3-A611-4A62C435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0515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265 g</a:t>
            </a:r>
          </a:p>
        </p:txBody>
      </p:sp>
      <p:sp>
        <p:nvSpPr>
          <p:cNvPr id="30" name="t-572-326">
            <a:extLst xmlns:a="http://schemas.openxmlformats.org/drawingml/2006/main">
              <a:ext uri="{FF2B5EF4-FFF2-40B4-BE49-F238E27FC236}">
                <a16:creationId xmlns:a16="http://schemas.microsoft.com/office/drawing/2014/main" id="{83A8956D-4ABA-46AC-8AAE-E1C3BBC7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05150"/>
            <a:ext cx="923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−0.049</a:t>
            </a:r>
          </a:p>
        </p:txBody>
      </p:sp>
      <p:sp>
        <p:nvSpPr>
          <p:cNvPr id="31" name="t-687-326">
            <a:extLst xmlns:a="http://schemas.openxmlformats.org/drawingml/2006/main">
              <a:ext uri="{FF2B5EF4-FFF2-40B4-BE49-F238E27FC236}">
                <a16:creationId xmlns:a16="http://schemas.microsoft.com/office/drawing/2014/main" id="{0D9D047E-450F-423B-B29D-2474DB4E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0515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Compared</a:t>
            </a:r>
          </a:p>
        </p:txBody>
      </p:sp>
      <p:sp>
        <p:nvSpPr>
          <p:cNvPr id="32" name="r3">
            <a:extLst xmlns:a="http://schemas.openxmlformats.org/drawingml/2006/main">
              <a:ext uri="{FF2B5EF4-FFF2-40B4-BE49-F238E27FC236}">
                <a16:creationId xmlns:a16="http://schemas.microsoft.com/office/drawing/2014/main" id="{AC638401-3D95-4AE5-82E4-8A7E69A4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/>
          <p:nvPr/>
        </p:nvCxnSpPr>
        <p:spPr>
          <a:xfrm xmlns:a="http://schemas.openxmlformats.org/drawingml/2006/main">
            <a:off x="457200" y="381000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34" name="t-57-368">
            <a:extLst xmlns:a="http://schemas.openxmlformats.org/drawingml/2006/main">
              <a:ext uri="{FF2B5EF4-FFF2-40B4-BE49-F238E27FC236}">
                <a16:creationId xmlns:a16="http://schemas.microsoft.com/office/drawing/2014/main" id="{8D69EDC9-4CB6-4D27-818C-17495CE6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05200"/>
            <a:ext cx="2162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Robust Huber</a:t>
            </a:r>
          </a:p>
        </p:txBody>
      </p:sp>
      <p:sp>
        <p:nvSpPr>
          <p:cNvPr id="35" name="t-302-368">
            <a:extLst xmlns:a="http://schemas.openxmlformats.org/drawingml/2006/main">
              <a:ext uri="{FF2B5EF4-FFF2-40B4-BE49-F238E27FC236}">
                <a16:creationId xmlns:a16="http://schemas.microsoft.com/office/drawing/2014/main" id="{A47E4525-AF0E-449F-B19C-37125B38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0520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225 g</a:t>
            </a:r>
          </a:p>
        </p:txBody>
      </p:sp>
      <p:sp>
        <p:nvSpPr>
          <p:cNvPr id="36" name="t-437-368">
            <a:extLst xmlns:a="http://schemas.openxmlformats.org/drawingml/2006/main">
              <a:ext uri="{FF2B5EF4-FFF2-40B4-BE49-F238E27FC236}">
                <a16:creationId xmlns:a16="http://schemas.microsoft.com/office/drawing/2014/main" id="{BF979BAD-561C-42DC-AE68-B645AA81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0520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279 g</a:t>
            </a:r>
          </a:p>
        </p:txBody>
      </p:sp>
      <p:sp>
        <p:nvSpPr>
          <p:cNvPr id="37" name="t-572-368">
            <a:extLst xmlns:a="http://schemas.openxmlformats.org/drawingml/2006/main">
              <a:ext uri="{FF2B5EF4-FFF2-40B4-BE49-F238E27FC236}">
                <a16:creationId xmlns:a16="http://schemas.microsoft.com/office/drawing/2014/main" id="{4CCE463D-75F7-4218-B128-1E795F4F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05200"/>
            <a:ext cx="923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−0.164</a:t>
            </a:r>
          </a:p>
        </p:txBody>
      </p:sp>
      <p:sp>
        <p:nvSpPr>
          <p:cNvPr id="38" name="t-687-368">
            <a:extLst xmlns:a="http://schemas.openxmlformats.org/drawingml/2006/main">
              <a:ext uri="{FF2B5EF4-FFF2-40B4-BE49-F238E27FC236}">
                <a16:creationId xmlns:a16="http://schemas.microsoft.com/office/drawing/2014/main" id="{AE236F6A-695E-49FC-832A-7156B461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50520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Compared</a:t>
            </a:r>
          </a:p>
        </p:txBody>
      </p:sp>
      <p:sp>
        <p:nvSpPr>
          <p:cNvPr id="39" name="r4">
            <a:extLst xmlns:a="http://schemas.openxmlformats.org/drawingml/2006/main">
              <a:ext uri="{FF2B5EF4-FFF2-40B4-BE49-F238E27FC236}">
                <a16:creationId xmlns:a16="http://schemas.microsoft.com/office/drawing/2014/main" id="{D131D0F6-E72B-470F-BDDA-32321606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457200" y="421005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1" name="t-57-410">
            <a:extLst xmlns:a="http://schemas.openxmlformats.org/drawingml/2006/main">
              <a:ext uri="{FF2B5EF4-FFF2-40B4-BE49-F238E27FC236}">
                <a16:creationId xmlns:a16="http://schemas.microsoft.com/office/drawing/2014/main" id="{3DA234BD-4649-4055-8B94-5CB3D9C2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05250"/>
            <a:ext cx="2162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Gradient Boosting</a:t>
            </a:r>
          </a:p>
        </p:txBody>
      </p:sp>
      <p:sp>
        <p:nvSpPr>
          <p:cNvPr id="42" name="t-302-410">
            <a:extLst xmlns:a="http://schemas.openxmlformats.org/drawingml/2006/main">
              <a:ext uri="{FF2B5EF4-FFF2-40B4-BE49-F238E27FC236}">
                <a16:creationId xmlns:a16="http://schemas.microsoft.com/office/drawing/2014/main" id="{F458D3ED-DA56-447A-9065-A8F7CF08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0525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205 g</a:t>
            </a:r>
          </a:p>
        </p:txBody>
      </p:sp>
      <p:sp>
        <p:nvSpPr>
          <p:cNvPr id="43" name="t-437-410">
            <a:extLst xmlns:a="http://schemas.openxmlformats.org/drawingml/2006/main">
              <a:ext uri="{FF2B5EF4-FFF2-40B4-BE49-F238E27FC236}">
                <a16:creationId xmlns:a16="http://schemas.microsoft.com/office/drawing/2014/main" id="{ECB51123-905B-4F40-9199-BF64EF61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05250"/>
            <a:ext cx="1114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261 g</a:t>
            </a:r>
          </a:p>
        </p:txBody>
      </p:sp>
      <p:sp>
        <p:nvSpPr>
          <p:cNvPr id="44" name="t-572-410">
            <a:extLst xmlns:a="http://schemas.openxmlformats.org/drawingml/2006/main">
              <a:ext uri="{FF2B5EF4-FFF2-40B4-BE49-F238E27FC236}">
                <a16:creationId xmlns:a16="http://schemas.microsoft.com/office/drawing/2014/main" id="{DD24A13E-F6F8-4A5A-8C08-B8AE0094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05250"/>
            <a:ext cx="923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−0.019</a:t>
            </a:r>
          </a:p>
        </p:txBody>
      </p:sp>
      <p:sp>
        <p:nvSpPr>
          <p:cNvPr id="45" name="t-687-410">
            <a:extLst xmlns:a="http://schemas.openxmlformats.org/drawingml/2006/main">
              <a:ext uri="{FF2B5EF4-FFF2-40B4-BE49-F238E27FC236}">
                <a16:creationId xmlns:a16="http://schemas.microsoft.com/office/drawing/2014/main" id="{9AB5019F-BC2C-479A-910E-03F5E8EC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0525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Best learned</a:t>
            </a:r>
          </a:p>
        </p:txBody>
      </p:sp>
      <p:sp>
        <p:nvSpPr>
          <p:cNvPr id="46" name="weight-select">
            <a:extLst xmlns:a="http://schemas.openxmlformats.org/drawingml/2006/main">
              <a:ext uri="{FF2B5EF4-FFF2-40B4-BE49-F238E27FC236}">
                <a16:creationId xmlns:a16="http://schemas.microsoft.com/office/drawing/2014/main" id="{60A70B4B-C63A-4B47-A4B5-5CC15A40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0839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-72-498">
            <a:extLst xmlns:a="http://schemas.openxmlformats.org/drawingml/2006/main">
              <a:ext uri="{FF2B5EF4-FFF2-40B4-BE49-F238E27FC236}">
                <a16:creationId xmlns:a16="http://schemas.microsoft.com/office/drawing/2014/main" id="{C54C82BC-EA3B-4E15-8E50-E0D71BB9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Champion gate</a:t>
            </a:r>
          </a:p>
        </p:txBody>
      </p:sp>
      <p:sp>
        <p:nvSpPr>
          <p:cNvPr id="48" name="t-282-490">
            <a:extLst xmlns:a="http://schemas.openxmlformats.org/drawingml/2006/main">
              <a:ext uri="{FF2B5EF4-FFF2-40B4-BE49-F238E27FC236}">
                <a16:creationId xmlns:a16="http://schemas.microsoft.com/office/drawing/2014/main" id="{F8F8A2D9-0FCD-496E-B6B4-EAA53D20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67250"/>
            <a:ext cx="824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learned model must improve cycle-balanced MAE by at least 10%, retain positive R², avoid severe cycle deterioration, and place at least 70% within 200 g. None passed.</a:t>
            </a:r>
          </a:p>
        </p:txBody>
      </p:sp>
      <p:sp>
        <p:nvSpPr>
          <p:cNvPr id="49" name="t-72-626">
            <a:extLst xmlns:a="http://schemas.openxmlformats.org/drawingml/2006/main">
              <a:ext uri="{FF2B5EF4-FFF2-40B4-BE49-F238E27FC236}">
                <a16:creationId xmlns:a16="http://schemas.microsoft.com/office/drawing/2014/main" id="{72D988A4-DA63-41F2-AE1B-FC1DC920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rPr>
              <a:t>Operational result: 178 g overall MAE · 65.3% within 200 g · R² 0.126 · experimental forecast</a:t>
            </a:r>
          </a:p>
        </p:txBody>
      </p:sp>
    </p:spTree>
    <p:extLst>
      <p:ext uri="{BB962C8B-B14F-4D97-AF65-F5344CB8AC3E}">
        <p14:creationId xmlns:p14="http://schemas.microsoft.com/office/powerpoint/2010/main" val="2203193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-42-26">
            <a:extLst xmlns:a="http://schemas.openxmlformats.org/drawingml/2006/main">
              <a:ext uri="{FF2B5EF4-FFF2-40B4-BE49-F238E27FC236}">
                <a16:creationId xmlns:a16="http://schemas.microsoft.com/office/drawing/2014/main" id="{94F3CA1A-6446-489C-AF37-CAA4E6F2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62272411-84B7-463A-862E-0A32B3C1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0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Day 35 weight · actual versus predicted and checkpoint evidence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E9FFD02D-0230-4274-BD4C-EE9B2D3D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56403029841cf"/>
          <a:stretch xmlns:a="http://schemas.openxmlformats.org/drawingml/2006/main"/>
        </p:blipFill>
        <p:spPr>
          <a:xfrm xmlns:a="http://schemas.openxmlformats.org/drawingml/2006/main">
            <a:off x="852592" y="1485900"/>
            <a:ext cx="4657516" cy="40005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65f17be094ded"/>
          <a:stretch xmlns:a="http://schemas.openxmlformats.org/drawingml/2006/main"/>
        </p:blipFill>
        <p:spPr>
          <a:xfrm xmlns:a="http://schemas.openxmlformats.org/drawingml/2006/main">
            <a:off x="6191250" y="2369149"/>
            <a:ext cx="5600700" cy="2234002"/>
          </a:xfrm>
          <a:prstGeom xmlns:a="http://schemas.openxmlformats.org/drawingml/2006/main" prst="rect">
            <a:avLst/>
          </a:prstGeom>
        </p:spPr>
      </p:pic>
      <p:sp>
        <p:nvSpPr>
          <p:cNvPr id="7" name="wp">
            <a:extLst xmlns:a="http://schemas.openxmlformats.org/drawingml/2006/main">
              <a:ext uri="{FF2B5EF4-FFF2-40B4-BE49-F238E27FC236}">
                <a16:creationId xmlns:a16="http://schemas.microsoft.com/office/drawing/2014/main" id="{E015BE8F-5AD5-486E-B057-0189AD1C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85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-70-608">
            <a:extLst xmlns:a="http://schemas.openxmlformats.org/drawingml/2006/main">
              <a:ext uri="{FF2B5EF4-FFF2-40B4-BE49-F238E27FC236}">
                <a16:creationId xmlns:a16="http://schemas.microsoft.com/office/drawing/2014/main" id="{0D103DEE-4FC3-4CCE-98EB-9FB235E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Day 21 is strongest historically: 157 g MAE, 77.4% within 200 g, R² 0.334. Day 14 MAE is 181 g and 58.1% fall within 200 g.</a:t>
            </a:r>
          </a:p>
        </p:txBody>
      </p:sp>
    </p:spTree>
    <p:extLst>
      <p:ext uri="{BB962C8B-B14F-4D97-AF65-F5344CB8AC3E}">
        <p14:creationId xmlns:p14="http://schemas.microsoft.com/office/powerpoint/2010/main" val="448063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-42-26">
            <a:extLst xmlns:a="http://schemas.openxmlformats.org/drawingml/2006/main">
              <a:ext uri="{FF2B5EF4-FFF2-40B4-BE49-F238E27FC236}">
                <a16:creationId xmlns:a16="http://schemas.microsoft.com/office/drawing/2014/main" id="{A6F46710-FA7D-4CC3-BEDB-FA34160A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F4CCD6D2-D415-485E-B8E2-7E9C18BF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2026-3 gives a clean prospective weight audit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343B5F43-36C1-4B9C-A8A4-2A0675AA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t-54-174">
            <a:extLst xmlns:a="http://schemas.openxmlformats.org/drawingml/2006/main">
              <a:ext uri="{FF2B5EF4-FFF2-40B4-BE49-F238E27FC236}">
                <a16:creationId xmlns:a16="http://schemas.microsoft.com/office/drawing/2014/main" id="{3DA8CDEF-6CBE-4087-9C8D-B284E382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t-54-229">
            <a:extLst xmlns:a="http://schemas.openxmlformats.org/drawingml/2006/main">
              <a:ext uri="{FF2B5EF4-FFF2-40B4-BE49-F238E27FC236}">
                <a16:creationId xmlns:a16="http://schemas.microsoft.com/office/drawing/2014/main" id="{AC86835B-0555-4DAB-A210-0D23FA39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812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new building outcomes excluded from fitting</a:t>
            </a:r>
          </a:p>
        </p:txBody>
      </p:sp>
      <p:sp>
        <p:nvSpPr>
          <p:cNvPr id="7" name="t-390-174">
            <a:extLst xmlns:a="http://schemas.openxmlformats.org/drawingml/2006/main">
              <a:ext uri="{FF2B5EF4-FFF2-40B4-BE49-F238E27FC236}">
                <a16:creationId xmlns:a16="http://schemas.microsoft.com/office/drawing/2014/main" id="{2C63AD77-F825-49DD-8C53-0940D286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573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63 g</a:t>
            </a:r>
          </a:p>
        </p:txBody>
      </p:sp>
      <p:sp>
        <p:nvSpPr>
          <p:cNvPr id="8" name="t-390-229">
            <a:extLst xmlns:a="http://schemas.openxmlformats.org/drawingml/2006/main">
              <a:ext uri="{FF2B5EF4-FFF2-40B4-BE49-F238E27FC236}">
                <a16:creationId xmlns:a16="http://schemas.microsoft.com/office/drawing/2014/main" id="{85A6A602-DFFB-407D-B53C-509E0118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MAE across 12 checkpoint forecasts</a:t>
            </a:r>
          </a:p>
        </p:txBody>
      </p:sp>
      <p:sp>
        <p:nvSpPr>
          <p:cNvPr id="9" name="t-726-174">
            <a:extLst xmlns:a="http://schemas.openxmlformats.org/drawingml/2006/main">
              <a:ext uri="{FF2B5EF4-FFF2-40B4-BE49-F238E27FC236}">
                <a16:creationId xmlns:a16="http://schemas.microsoft.com/office/drawing/2014/main" id="{82CCEB1D-799A-42FF-8299-F89DFCE6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573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91.7%</a:t>
            </a:r>
          </a:p>
        </p:txBody>
      </p:sp>
      <p:sp>
        <p:nvSpPr>
          <p:cNvPr id="10" name="t-726-229">
            <a:extLst xmlns:a="http://schemas.openxmlformats.org/drawingml/2006/main">
              <a:ext uri="{FF2B5EF4-FFF2-40B4-BE49-F238E27FC236}">
                <a16:creationId xmlns:a16="http://schemas.microsoft.com/office/drawing/2014/main" id="{8D525FF9-F49E-4CD2-9461-F7B8B725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812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forecasts within 200 g</a:t>
            </a:r>
          </a:p>
        </p:txBody>
      </p:sp>
      <p:sp>
        <p:nvSpPr>
          <p:cNvPr id="11" name="t-1040-174">
            <a:extLst xmlns:a="http://schemas.openxmlformats.org/drawingml/2006/main">
              <a:ext uri="{FF2B5EF4-FFF2-40B4-BE49-F238E27FC236}">
                <a16:creationId xmlns:a16="http://schemas.microsoft.com/office/drawing/2014/main" id="{3A312A2C-C3F2-4743-9E3E-DF876E91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573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988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1.446–1.517 kg</a:t>
            </a:r>
          </a:p>
        </p:txBody>
      </p:sp>
      <p:sp>
        <p:nvSpPr>
          <p:cNvPr id="12" name="t-1040-229">
            <a:extLst xmlns:a="http://schemas.openxmlformats.org/drawingml/2006/main">
              <a:ext uri="{FF2B5EF4-FFF2-40B4-BE49-F238E27FC236}">
                <a16:creationId xmlns:a16="http://schemas.microsoft.com/office/drawing/2014/main" id="{B813F6C9-16AF-459C-BDA8-DDF2A2F4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812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recorded Day 35 outcomes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514350" y="29527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4" name="t-92-350">
            <a:extLst xmlns:a="http://schemas.openxmlformats.org/drawingml/2006/main">
              <a:ext uri="{FF2B5EF4-FFF2-40B4-BE49-F238E27FC236}">
                <a16:creationId xmlns:a16="http://schemas.microsoft.com/office/drawing/2014/main" id="{32DD053F-1804-44A2-A16D-D3D3FE95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Checkpoint</a:t>
            </a:r>
          </a:p>
        </p:txBody>
      </p:sp>
      <p:sp>
        <p:nvSpPr>
          <p:cNvPr id="15" name="t-402-350">
            <a:extLst xmlns:a="http://schemas.openxmlformats.org/drawingml/2006/main">
              <a:ext uri="{FF2B5EF4-FFF2-40B4-BE49-F238E27FC236}">
                <a16:creationId xmlns:a16="http://schemas.microsoft.com/office/drawing/2014/main" id="{5552DCF6-56C9-40B9-8470-293CD72D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33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MAE</a:t>
            </a:r>
          </a:p>
        </p:txBody>
      </p:sp>
      <p:sp>
        <p:nvSpPr>
          <p:cNvPr id="16" name="t-700-350">
            <a:extLst xmlns:a="http://schemas.openxmlformats.org/drawingml/2006/main">
              <a:ext uri="{FF2B5EF4-FFF2-40B4-BE49-F238E27FC236}">
                <a16:creationId xmlns:a16="http://schemas.microsoft.com/office/drawing/2014/main" id="{25418251-83A3-417E-92E3-1F46C57A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Within 200 g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762000" y="409575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8" name="t-92-390">
            <a:extLst xmlns:a="http://schemas.openxmlformats.org/drawingml/2006/main">
              <a:ext uri="{FF2B5EF4-FFF2-40B4-BE49-F238E27FC236}">
                <a16:creationId xmlns:a16="http://schemas.microsoft.com/office/drawing/2014/main" id="{E31BC21D-7269-483E-871A-06777FF1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Day 7</a:t>
            </a:r>
          </a:p>
        </p:txBody>
      </p:sp>
      <p:sp>
        <p:nvSpPr>
          <p:cNvPr id="19" name="t-402-390">
            <a:extLst xmlns:a="http://schemas.openxmlformats.org/drawingml/2006/main">
              <a:ext uri="{FF2B5EF4-FFF2-40B4-BE49-F238E27FC236}">
                <a16:creationId xmlns:a16="http://schemas.microsoft.com/office/drawing/2014/main" id="{E0F36A2C-F59E-4FCD-A62B-CDF5A826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14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54 g</a:t>
            </a:r>
          </a:p>
        </p:txBody>
      </p:sp>
      <p:sp>
        <p:nvSpPr>
          <p:cNvPr id="20" name="t-700-390">
            <a:extLst xmlns:a="http://schemas.openxmlformats.org/drawingml/2006/main">
              <a:ext uri="{FF2B5EF4-FFF2-40B4-BE49-F238E27FC236}">
                <a16:creationId xmlns:a16="http://schemas.microsoft.com/office/drawing/2014/main" id="{A633B228-4A3D-4EF6-9284-E6971D53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762000" y="461010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22" name="t-92-444">
            <a:extLst xmlns:a="http://schemas.openxmlformats.org/drawingml/2006/main">
              <a:ext uri="{FF2B5EF4-FFF2-40B4-BE49-F238E27FC236}">
                <a16:creationId xmlns:a16="http://schemas.microsoft.com/office/drawing/2014/main" id="{E709305A-A558-4F66-B91A-9874F7AC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Day 14</a:t>
            </a:r>
          </a:p>
        </p:txBody>
      </p:sp>
      <p:sp>
        <p:nvSpPr>
          <p:cNvPr id="23" name="t-402-444">
            <a:extLst xmlns:a="http://schemas.openxmlformats.org/drawingml/2006/main">
              <a:ext uri="{FF2B5EF4-FFF2-40B4-BE49-F238E27FC236}">
                <a16:creationId xmlns:a16="http://schemas.microsoft.com/office/drawing/2014/main" id="{3F41550E-7E84-43B4-BBDB-9943AA21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29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43 g</a:t>
            </a:r>
          </a:p>
        </p:txBody>
      </p:sp>
      <p:sp>
        <p:nvSpPr>
          <p:cNvPr id="24" name="t-700-444">
            <a:extLst xmlns:a="http://schemas.openxmlformats.org/drawingml/2006/main">
              <a:ext uri="{FF2B5EF4-FFF2-40B4-BE49-F238E27FC236}">
                <a16:creationId xmlns:a16="http://schemas.microsoft.com/office/drawing/2014/main" id="{CDC37A4F-14C5-4BE7-9334-A5C44DF2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762000" y="512445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26" name="t-92-498">
            <a:extLst xmlns:a="http://schemas.openxmlformats.org/drawingml/2006/main">
              <a:ext uri="{FF2B5EF4-FFF2-40B4-BE49-F238E27FC236}">
                <a16:creationId xmlns:a16="http://schemas.microsoft.com/office/drawing/2014/main" id="{351725AF-2731-4DE3-B5B9-B4ECF0C2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Day 21</a:t>
            </a:r>
          </a:p>
        </p:txBody>
      </p:sp>
      <p:sp>
        <p:nvSpPr>
          <p:cNvPr id="27" name="t-402-498">
            <a:extLst xmlns:a="http://schemas.openxmlformats.org/drawingml/2006/main">
              <a:ext uri="{FF2B5EF4-FFF2-40B4-BE49-F238E27FC236}">
                <a16:creationId xmlns:a16="http://schemas.microsoft.com/office/drawing/2014/main" id="{4C41D6FF-444E-43E4-A76A-2CA11962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43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33 g</a:t>
            </a:r>
          </a:p>
        </p:txBody>
      </p:sp>
      <p:sp>
        <p:nvSpPr>
          <p:cNvPr id="28" name="t-700-498">
            <a:extLst xmlns:a="http://schemas.openxmlformats.org/drawingml/2006/main">
              <a:ext uri="{FF2B5EF4-FFF2-40B4-BE49-F238E27FC236}">
                <a16:creationId xmlns:a16="http://schemas.microsoft.com/office/drawing/2014/main" id="{2AA0EF77-6500-401A-8564-C5EF41D7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762000" y="563880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30" name="t-92-552">
            <a:extLst xmlns:a="http://schemas.openxmlformats.org/drawingml/2006/main">
              <a:ext uri="{FF2B5EF4-FFF2-40B4-BE49-F238E27FC236}">
                <a16:creationId xmlns:a16="http://schemas.microsoft.com/office/drawing/2014/main" id="{3D79F752-256A-45FD-AD2A-23DBC7F1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Day 28</a:t>
            </a:r>
          </a:p>
        </p:txBody>
      </p:sp>
      <p:sp>
        <p:nvSpPr>
          <p:cNvPr id="31" name="t-402-552">
            <a:extLst xmlns:a="http://schemas.openxmlformats.org/drawingml/2006/main">
              <a:ext uri="{FF2B5EF4-FFF2-40B4-BE49-F238E27FC236}">
                <a16:creationId xmlns:a16="http://schemas.microsoft.com/office/drawing/2014/main" id="{F40E5BA0-4143-490B-B2E4-54E54A13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57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124 g</a:t>
            </a:r>
          </a:p>
        </p:txBody>
      </p:sp>
      <p:sp>
        <p:nvSpPr>
          <p:cNvPr id="32" name="t-700-552">
            <a:extLst xmlns:a="http://schemas.openxmlformats.org/drawingml/2006/main">
              <a:ext uri="{FF2B5EF4-FFF2-40B4-BE49-F238E27FC236}">
                <a16:creationId xmlns:a16="http://schemas.microsoft.com/office/drawing/2014/main" id="{E26ABDC4-F326-400C-B91C-4E3D33DC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57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67%</a:t>
            </a:r>
          </a:p>
        </p:txBody>
      </p:sp>
      <p:sp>
        <p:nvSpPr>
          <p:cNvPr id="33" name="pros-caveat">
            <a:extLst xmlns:a="http://schemas.openxmlformats.org/drawingml/2006/main">
              <a:ext uri="{FF2B5EF4-FFF2-40B4-BE49-F238E27FC236}">
                <a16:creationId xmlns:a16="http://schemas.microsoft.com/office/drawing/2014/main" id="{6ADAF102-2BF2-47F8-9DC2-F7AA5C56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71850"/>
            <a:ext cx="1771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-1032-374">
            <a:extLst xmlns:a="http://schemas.openxmlformats.org/drawingml/2006/main">
              <a:ext uri="{FF2B5EF4-FFF2-40B4-BE49-F238E27FC236}">
                <a16:creationId xmlns:a16="http://schemas.microsoft.com/office/drawing/2014/main" id="{E3E4DA5F-AE91-4E83-AE6A-90CAC812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623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rPr>
              <a:t>Do not overclaim</a:t>
            </a:r>
          </a:p>
        </p:txBody>
      </p:sp>
      <p:sp>
        <p:nvSpPr>
          <p:cNvPr id="35" name="t-1032-418">
            <a:extLst xmlns:a="http://schemas.openxmlformats.org/drawingml/2006/main">
              <a:ext uri="{FF2B5EF4-FFF2-40B4-BE49-F238E27FC236}">
                <a16:creationId xmlns:a16="http://schemas.microsoft.com/office/drawing/2014/main" id="{C1D49D1A-534A-4652-B58C-917E25BE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81450"/>
            <a:ext cx="1371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03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Only three closely clustered outcomes. Negative R² is mathematically expected when outcome variance is tiny, even with small gram errors.</a:t>
            </a:r>
          </a:p>
        </p:txBody>
      </p:sp>
    </p:spTree>
    <p:extLst>
      <p:ext uri="{BB962C8B-B14F-4D97-AF65-F5344CB8AC3E}">
        <p14:creationId xmlns:p14="http://schemas.microsoft.com/office/powerpoint/2010/main" val="60478295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-42-26">
            <a:extLst xmlns:a="http://schemas.openxmlformats.org/drawingml/2006/main">
              <a:ext uri="{FF2B5EF4-FFF2-40B4-BE49-F238E27FC236}">
                <a16:creationId xmlns:a16="http://schemas.microsoft.com/office/drawing/2014/main" id="{A818F778-3499-47A8-87A1-5944ADF3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E8F626FA-F6C8-442E-81C0-0CB46ACA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Model governance keeps performance honest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CFAAA373-9B47-4D34-9BE3-94E9251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t-48-180">
            <a:extLst xmlns:a="http://schemas.openxmlformats.org/drawingml/2006/main">
              <a:ext uri="{FF2B5EF4-FFF2-40B4-BE49-F238E27FC236}">
                <a16:creationId xmlns:a16="http://schemas.microsoft.com/office/drawing/2014/main" id="{24A8ED57-04FF-4EE0-AE86-F2D093E4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5720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7" name="t-48-232">
            <a:extLst xmlns:a="http://schemas.openxmlformats.org/drawingml/2006/main">
              <a:ext uri="{FF2B5EF4-FFF2-40B4-BE49-F238E27FC236}">
                <a16:creationId xmlns:a16="http://schemas.microsoft.com/office/drawing/2014/main" id="{B8550C54-DB7C-4D62-AF81-DA5A87AC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Version inputs</a:t>
            </a:r>
          </a:p>
        </p:txBody>
      </p:sp>
      <p:sp>
        <p:nvSpPr>
          <p:cNvPr id="8" name="t-48-282">
            <a:extLst xmlns:a="http://schemas.openxmlformats.org/drawingml/2006/main">
              <a:ext uri="{FF2B5EF4-FFF2-40B4-BE49-F238E27FC236}">
                <a16:creationId xmlns:a16="http://schemas.microsoft.com/office/drawing/2014/main" id="{A0177D1B-CE96-4649-B21A-B95FADB5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Canonical workbook, target curve, environmental rules.</a:t>
            </a:r>
          </a:p>
        </p:txBody>
      </p:sp>
      <p:sp>
        <p:nvSpPr>
          <p:cNvPr id="9" name="t-284.8-180">
            <a:extLst xmlns:a="http://schemas.openxmlformats.org/drawingml/2006/main">
              <a:ext uri="{FF2B5EF4-FFF2-40B4-BE49-F238E27FC236}">
                <a16:creationId xmlns:a16="http://schemas.microsoft.com/office/drawing/2014/main" id="{0EDA823D-EADE-4413-9451-79F1A071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271272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1" name="t-284.8-232">
            <a:extLst xmlns:a="http://schemas.openxmlformats.org/drawingml/2006/main">
              <a:ext uri="{FF2B5EF4-FFF2-40B4-BE49-F238E27FC236}">
                <a16:creationId xmlns:a16="http://schemas.microsoft.com/office/drawing/2014/main" id="{1D4C3730-9D6A-4FC8-8570-2F39A2D2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Freeze model-ready data</a:t>
            </a:r>
          </a:p>
        </p:txBody>
      </p:sp>
      <p:sp>
        <p:nvSpPr>
          <p:cNvPr id="12" name="t-284.8-282">
            <a:extLst xmlns:a="http://schemas.openxmlformats.org/drawingml/2006/main">
              <a:ext uri="{FF2B5EF4-FFF2-40B4-BE49-F238E27FC236}">
                <a16:creationId xmlns:a16="http://schemas.microsoft.com/office/drawing/2014/main" id="{8827F145-C215-47B1-8727-D926CE67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Export exact X/Y rows and leakage audit.</a:t>
            </a:r>
          </a:p>
        </p:txBody>
      </p:sp>
      <p:sp>
        <p:nvSpPr>
          <p:cNvPr id="13" name="t-521.6-180">
            <a:extLst xmlns:a="http://schemas.openxmlformats.org/drawingml/2006/main">
              <a:ext uri="{FF2B5EF4-FFF2-40B4-BE49-F238E27FC236}">
                <a16:creationId xmlns:a16="http://schemas.microsoft.com/office/drawing/2014/main" id="{98A406DE-F2B7-4F92-AC33-5FC00B7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96824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5" name="t-521.6-232">
            <a:extLst xmlns:a="http://schemas.openxmlformats.org/drawingml/2006/main">
              <a:ext uri="{FF2B5EF4-FFF2-40B4-BE49-F238E27FC236}">
                <a16:creationId xmlns:a16="http://schemas.microsoft.com/office/drawing/2014/main" id="{1B24B93D-515F-4EEA-9318-D19E0CC0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9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Compare five families</a:t>
            </a:r>
          </a:p>
        </p:txBody>
      </p:sp>
      <p:sp>
        <p:nvSpPr>
          <p:cNvPr id="16" name="t-521.6-282">
            <a:extLst xmlns:a="http://schemas.openxmlformats.org/drawingml/2006/main">
              <a:ext uri="{FF2B5EF4-FFF2-40B4-BE49-F238E27FC236}">
                <a16:creationId xmlns:a16="http://schemas.microsoft.com/office/drawing/2014/main" id="{C10A2816-58B1-4698-920A-1ED03BCE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Baseline, linear, Ridge/Huber, constrained tree models.</a:t>
            </a:r>
          </a:p>
        </p:txBody>
      </p:sp>
      <p:sp>
        <p:nvSpPr>
          <p:cNvPr id="17" name="t-758.4000000000001-180">
            <a:extLst xmlns:a="http://schemas.openxmlformats.org/drawingml/2006/main">
              <a:ext uri="{FF2B5EF4-FFF2-40B4-BE49-F238E27FC236}">
                <a16:creationId xmlns:a16="http://schemas.microsoft.com/office/drawing/2014/main" id="{13AF2A11-E03A-450A-93BC-09A03CEA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722376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9" name="t-758.4000000000001-232">
            <a:extLst xmlns:a="http://schemas.openxmlformats.org/drawingml/2006/main">
              <a:ext uri="{FF2B5EF4-FFF2-40B4-BE49-F238E27FC236}">
                <a16:creationId xmlns:a16="http://schemas.microsoft.com/office/drawing/2014/main" id="{7A9CC267-E3CF-4AB5-AC62-A4C59138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Apply gates</a:t>
            </a:r>
          </a:p>
        </p:txBody>
      </p:sp>
      <p:sp>
        <p:nvSpPr>
          <p:cNvPr id="20" name="t-758.4000000000001-282">
            <a:extLst xmlns:a="http://schemas.openxmlformats.org/drawingml/2006/main">
              <a:ext uri="{FF2B5EF4-FFF2-40B4-BE49-F238E27FC236}">
                <a16:creationId xmlns:a16="http://schemas.microsoft.com/office/drawing/2014/main" id="{3A6D8913-F708-44A6-90F9-EBDFAED1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MAE improvement plus R², stability, target and interval checks.</a:t>
            </a:r>
          </a:p>
        </p:txBody>
      </p:sp>
      <p:sp>
        <p:nvSpPr>
          <p:cNvPr id="21" name="t-995.2-180">
            <a:extLst xmlns:a="http://schemas.openxmlformats.org/drawingml/2006/main">
              <a:ext uri="{FF2B5EF4-FFF2-40B4-BE49-F238E27FC236}">
                <a16:creationId xmlns:a16="http://schemas.microsoft.com/office/drawing/2014/main" id="{6CBDE4E5-046A-4DB6-8141-068E7CD1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1714500"/>
            <a:ext cx="2026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9479280" y="2047875"/>
            <a:ext cx="20269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23" name="t-995.2-232">
            <a:extLst xmlns:a="http://schemas.openxmlformats.org/drawingml/2006/main">
              <a:ext uri="{FF2B5EF4-FFF2-40B4-BE49-F238E27FC236}">
                <a16:creationId xmlns:a16="http://schemas.microsoft.com/office/drawing/2014/main" id="{7138182D-AD19-4C77-A438-AE01E482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209800"/>
            <a:ext cx="2026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Publish one release</a:t>
            </a:r>
          </a:p>
        </p:txBody>
      </p:sp>
      <p:sp>
        <p:nvSpPr>
          <p:cNvPr id="24" name="t-995.2-282">
            <a:extLst xmlns:a="http://schemas.openxmlformats.org/drawingml/2006/main">
              <a:ext uri="{FF2B5EF4-FFF2-40B4-BE49-F238E27FC236}">
                <a16:creationId xmlns:a16="http://schemas.microsoft.com/office/drawing/2014/main" id="{38747B60-06FF-4A51-BFC2-69D28D8C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686050"/>
            <a:ext cx="20269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App, notebooks, manifests, PKLs, guide, and deck use identical evidence.</a:t>
            </a:r>
          </a:p>
        </p:txBody>
      </p:sp>
      <p:sp>
        <p:nvSpPr>
          <p:cNvPr id="25" name="gov">
            <a:extLst xmlns:a="http://schemas.openxmlformats.org/drawingml/2006/main">
              <a:ext uri="{FF2B5EF4-FFF2-40B4-BE49-F238E27FC236}">
                <a16:creationId xmlns:a16="http://schemas.microsoft.com/office/drawing/2014/main" id="{40767DD4-E598-4AF8-8136-CBD37C22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00600"/>
            <a:ext cx="10934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-78-526">
            <a:extLst xmlns:a="http://schemas.openxmlformats.org/drawingml/2006/main">
              <a:ext uri="{FF2B5EF4-FFF2-40B4-BE49-F238E27FC236}">
                <a16:creationId xmlns:a16="http://schemas.microsoft.com/office/drawing/2014/main" id="{22704BFF-0EF5-4D84-A87D-780939F7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Current positioning</a:t>
            </a:r>
          </a:p>
        </p:txBody>
      </p:sp>
      <p:sp>
        <p:nvSpPr>
          <p:cNvPr id="27" name="t-308-516">
            <a:extLst xmlns:a="http://schemas.openxmlformats.org/drawingml/2006/main">
              <a:ext uri="{FF2B5EF4-FFF2-40B4-BE49-F238E27FC236}">
                <a16:creationId xmlns:a16="http://schemas.microsoft.com/office/drawing/2014/main" id="{3BD17A40-D884-4BCC-94BE-D53CD0FA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14900"/>
            <a:ext cx="8115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Validated experimental forecasts. Useful for directional planning with ranges; not production guarantees and not reliable probabilities of target attainment.</a:t>
            </a:r>
          </a:p>
        </p:txBody>
      </p:sp>
    </p:spTree>
    <p:extLst>
      <p:ext uri="{BB962C8B-B14F-4D97-AF65-F5344CB8AC3E}">
        <p14:creationId xmlns:p14="http://schemas.microsoft.com/office/powerpoint/2010/main" val="21349576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-42-26">
            <a:extLst xmlns:a="http://schemas.openxmlformats.org/drawingml/2006/main">
              <a:ext uri="{FF2B5EF4-FFF2-40B4-BE49-F238E27FC236}">
                <a16:creationId xmlns:a16="http://schemas.microsoft.com/office/drawing/2014/main" id="{93134637-B166-48C4-B34C-AAA84206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EVIDENCE &amp; MODEL PROOF</a:t>
            </a:r>
          </a:p>
        </p:txBody>
      </p:sp>
      <p:sp>
        <p:nvSpPr>
          <p:cNvPr id="2" name="t-42-56">
            <a:extLst xmlns:a="http://schemas.openxmlformats.org/drawingml/2006/main">
              <a:ext uri="{FF2B5EF4-FFF2-40B4-BE49-F238E27FC236}">
                <a16:creationId xmlns:a16="http://schemas.microsoft.com/office/drawing/2014/main" id="{38F21453-5466-47C7-A0AE-72181742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2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strongest next improvements are biological and data-centric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4" name="t-1190-676">
            <a:extLst xmlns:a="http://schemas.openxmlformats.org/drawingml/2006/main">
              <a:ext uri="{FF2B5EF4-FFF2-40B4-BE49-F238E27FC236}">
                <a16:creationId xmlns:a16="http://schemas.microsoft.com/office/drawing/2014/main" id="{21790613-60C7-4E81-85CF-4ABE0858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t-52-160">
            <a:extLst xmlns:a="http://schemas.openxmlformats.org/drawingml/2006/main">
              <a:ext uri="{FF2B5EF4-FFF2-40B4-BE49-F238E27FC236}">
                <a16:creationId xmlns:a16="http://schemas.microsoft.com/office/drawing/2014/main" id="{1A475AD3-E8FB-4452-AC98-C9972E28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t-132-160">
            <a:extLst xmlns:a="http://schemas.openxmlformats.org/drawingml/2006/main">
              <a:ext uri="{FF2B5EF4-FFF2-40B4-BE49-F238E27FC236}">
                <a16:creationId xmlns:a16="http://schemas.microsoft.com/office/drawing/2014/main" id="{6BB0561B-9536-48E5-87BF-B1D99E76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Verify outcomes</a:t>
            </a:r>
          </a:p>
        </p:txBody>
      </p:sp>
      <p:sp>
        <p:nvSpPr>
          <p:cNvPr id="7" name="t-132-203">
            <a:extLst xmlns:a="http://schemas.openxmlformats.org/drawingml/2006/main">
              <a:ext uri="{FF2B5EF4-FFF2-40B4-BE49-F238E27FC236}">
                <a16:creationId xmlns:a16="http://schemas.microsoft.com/office/drawing/2014/main" id="{ECE426B9-D033-4CD8-8135-F89A302D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33575"/>
            <a:ext cx="438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Record actual harvest events, ending population, transfers/culls, and sale timing.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95300" y="274320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9" name="t-646-160">
            <a:extLst xmlns:a="http://schemas.openxmlformats.org/drawingml/2006/main">
              <a:ext uri="{FF2B5EF4-FFF2-40B4-BE49-F238E27FC236}">
                <a16:creationId xmlns:a16="http://schemas.microsoft.com/office/drawing/2014/main" id="{86744CE8-1992-4A3A-BF3D-0643F6B4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t-726-160">
            <a:extLst xmlns:a="http://schemas.openxmlformats.org/drawingml/2006/main">
              <a:ext uri="{FF2B5EF4-FFF2-40B4-BE49-F238E27FC236}">
                <a16:creationId xmlns:a16="http://schemas.microsoft.com/office/drawing/2014/main" id="{8438B8F6-0A9D-4190-9127-298FD082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240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Standardize weights</a:t>
            </a:r>
          </a:p>
        </p:txBody>
      </p:sp>
      <p:sp>
        <p:nvSpPr>
          <p:cNvPr id="11" name="t-726-203">
            <a:extLst xmlns:a="http://schemas.openxmlformats.org/drawingml/2006/main">
              <a:ext uri="{FF2B5EF4-FFF2-40B4-BE49-F238E27FC236}">
                <a16:creationId xmlns:a16="http://schemas.microsoft.com/office/drawing/2014/main" id="{363E4B55-A919-4DF3-87AD-CFB4F52F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33575"/>
            <a:ext cx="438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Record sampling method, sample size, zone, scale, and actual measurement date.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6153150" y="274320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3" name="t-52-326">
            <a:extLst xmlns:a="http://schemas.openxmlformats.org/drawingml/2006/main">
              <a:ext uri="{FF2B5EF4-FFF2-40B4-BE49-F238E27FC236}">
                <a16:creationId xmlns:a16="http://schemas.microsoft.com/office/drawing/2014/main" id="{44D526E5-39C2-4F81-A22B-EE9EFEF1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t-132-326">
            <a:extLst xmlns:a="http://schemas.openxmlformats.org/drawingml/2006/main">
              <a:ext uri="{FF2B5EF4-FFF2-40B4-BE49-F238E27FC236}">
                <a16:creationId xmlns:a16="http://schemas.microsoft.com/office/drawing/2014/main" id="{B737D818-8D64-4153-9659-32BB343F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Recovery challenger</a:t>
            </a:r>
          </a:p>
        </p:txBody>
      </p:sp>
      <p:sp>
        <p:nvSpPr>
          <p:cNvPr id="15" name="t-132-369">
            <a:extLst xmlns:a="http://schemas.openxmlformats.org/drawingml/2006/main">
              <a:ext uri="{FF2B5EF4-FFF2-40B4-BE49-F238E27FC236}">
                <a16:creationId xmlns:a16="http://schemas.microsoft.com/office/drawing/2014/main" id="{C4396BC4-3A89-46AB-9522-8CB0A94A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14725"/>
            <a:ext cx="438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Model future death counts with exposure-aware Poisson/negative-binomial or discrete-time hazard models.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95300" y="43243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17" name="t-646-326">
            <a:extLst xmlns:a="http://schemas.openxmlformats.org/drawingml/2006/main">
              <a:ext uri="{FF2B5EF4-FFF2-40B4-BE49-F238E27FC236}">
                <a16:creationId xmlns:a16="http://schemas.microsoft.com/office/drawing/2014/main" id="{509F2A50-EBB2-46C6-AED5-A7645A70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t-726-326">
            <a:extLst xmlns:a="http://schemas.openxmlformats.org/drawingml/2006/main">
              <a:ext uri="{FF2B5EF4-FFF2-40B4-BE49-F238E27FC236}">
                <a16:creationId xmlns:a16="http://schemas.microsoft.com/office/drawing/2014/main" id="{F32E16EC-FB21-4B00-95E4-4171C865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051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Growth challenger</a:t>
            </a:r>
          </a:p>
        </p:txBody>
      </p:sp>
      <p:sp>
        <p:nvSpPr>
          <p:cNvPr id="19" name="t-726-369">
            <a:extLst xmlns:a="http://schemas.openxmlformats.org/drawingml/2006/main">
              <a:ext uri="{FF2B5EF4-FFF2-40B4-BE49-F238E27FC236}">
                <a16:creationId xmlns:a16="http://schemas.microsoft.com/office/drawing/2014/main" id="{ADCB3A63-967E-4FDE-B033-69F6AED5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14725"/>
            <a:ext cx="438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Fit hierarchical Gompertz/Richards growth curves with partial pooling, then model residuals.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153150" y="43243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21" name="t-52-492">
            <a:extLst xmlns:a="http://schemas.openxmlformats.org/drawingml/2006/main">
              <a:ext uri="{FF2B5EF4-FFF2-40B4-BE49-F238E27FC236}">
                <a16:creationId xmlns:a16="http://schemas.microsoft.com/office/drawing/2014/main" id="{F21CB504-4912-4A74-A91E-919BD0AB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t-132-492">
            <a:extLst xmlns:a="http://schemas.openxmlformats.org/drawingml/2006/main">
              <a:ext uri="{FF2B5EF4-FFF2-40B4-BE49-F238E27FC236}">
                <a16:creationId xmlns:a16="http://schemas.microsoft.com/office/drawing/2014/main" id="{92F64279-C4CC-4704-A088-6CB44829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Add missing context</a:t>
            </a:r>
          </a:p>
        </p:txBody>
      </p:sp>
      <p:sp>
        <p:nvSpPr>
          <p:cNvPr id="23" name="t-132-535">
            <a:extLst xmlns:a="http://schemas.openxmlformats.org/drawingml/2006/main">
              <a:ext uri="{FF2B5EF4-FFF2-40B4-BE49-F238E27FC236}">
                <a16:creationId xmlns:a16="http://schemas.microsoft.com/office/drawing/2014/main" id="{426E25A6-7617-491C-8214-EEA2B17F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95875"/>
            <a:ext cx="438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Confirm feed/water units; capture strain, sex, density, disease, medication, and interventions.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95300" y="590550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  <p:sp>
        <p:nvSpPr>
          <p:cNvPr id="25" name="t-646-492">
            <a:extLst xmlns:a="http://schemas.openxmlformats.org/drawingml/2006/main">
              <a:ext uri="{FF2B5EF4-FFF2-40B4-BE49-F238E27FC236}">
                <a16:creationId xmlns:a16="http://schemas.microsoft.com/office/drawing/2014/main" id="{ED27D328-24F5-4B47-849B-450D4A9E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863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t-726-492">
            <a:extLst xmlns:a="http://schemas.openxmlformats.org/drawingml/2006/main">
              <a:ext uri="{FF2B5EF4-FFF2-40B4-BE49-F238E27FC236}">
                <a16:creationId xmlns:a16="http://schemas.microsoft.com/office/drawing/2014/main" id="{D5CC5FE6-0ECE-4454-94C5-E843D137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863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Accumulate cycles</a:t>
            </a:r>
          </a:p>
        </p:txBody>
      </p:sp>
      <p:sp>
        <p:nvSpPr>
          <p:cNvPr id="27" name="t-726-535">
            <a:extLst xmlns:a="http://schemas.openxmlformats.org/drawingml/2006/main">
              <a:ext uri="{FF2B5EF4-FFF2-40B4-BE49-F238E27FC236}">
                <a16:creationId xmlns:a16="http://schemas.microsoft.com/office/drawing/2014/main" id="{DD554EC0-7A94-4210-BF7D-FE5161D5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95875"/>
            <a:ext cx="438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762"/>
                </a:solidFill>
                <a:latin typeface="Helvetica Neue"/>
                <a:ea typeface="Helvetica Neue"/>
                <a:cs typeface="Helvetica Neue"/>
              </a:rPr>
              <a:t>Freeze 2026-3 and future cycles as prospective tests; recalibrate only after enough new outcomes.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6153150" y="590550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90957013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74F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-52-48">
            <a:extLst xmlns:a="http://schemas.openxmlformats.org/drawingml/2006/main">
              <a:ext uri="{FF2B5EF4-FFF2-40B4-BE49-F238E27FC236}">
                <a16:creationId xmlns:a16="http://schemas.microsoft.com/office/drawing/2014/main" id="{2F70EAAE-9881-4805-95F6-99BD0074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THE DEFENSIBLE CAPSTONE POSITION</a:t>
            </a:r>
          </a:p>
        </p:txBody>
      </p:sp>
      <p:sp>
        <p:nvSpPr>
          <p:cNvPr id="2" name="t-52-138">
            <a:extLst xmlns:a="http://schemas.openxmlformats.org/drawingml/2006/main">
              <a:ext uri="{FF2B5EF4-FFF2-40B4-BE49-F238E27FC236}">
                <a16:creationId xmlns:a16="http://schemas.microsoft.com/office/drawing/2014/main" id="{4D867AD1-3329-40D4-8911-2FF3B379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Canary creates earlier visibility—without hiding uncertainty.</a:t>
            </a:r>
          </a:p>
        </p:txBody>
      </p:sp>
      <p:sp>
        <p:nvSpPr>
          <p:cNvPr id="3" name="t-52-302">
            <a:extLst xmlns:a="http://schemas.openxmlformats.org/drawingml/2006/main">
              <a:ext uri="{FF2B5EF4-FFF2-40B4-BE49-F238E27FC236}">
                <a16:creationId xmlns:a16="http://schemas.microsoft.com/office/drawing/2014/main" id="{0660BD93-E21C-4906-A9CD-FFC79650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rules explain operational concern. The forecasts estimate likely recovery and Day 35 weight. The playbook turns recorded triggers into traceable inspections.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95300" y="4953000"/>
            <a:ext cx="10706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F9B86"/>
            </a:solidFill>
            <a:prstDash val="solid"/>
          </a:ln>
        </p:spPr>
      </p:cxnSp>
      <p:sp>
        <p:nvSpPr>
          <p:cNvPr id="5" name="t-52-558">
            <a:extLst xmlns:a="http://schemas.openxmlformats.org/drawingml/2006/main">
              <a:ext uri="{FF2B5EF4-FFF2-40B4-BE49-F238E27FC236}">
                <a16:creationId xmlns:a16="http://schemas.microsoft.com/office/drawing/2014/main" id="{C84CA938-55FC-493C-BD67-138B24CB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A7D62E"/>
                </a:solidFill>
                <a:latin typeface="Helvetica Neue"/>
                <a:ea typeface="Helvetica Neue"/>
                <a:cs typeface="Helvetica Neue"/>
              </a:rPr>
              <a:t>Evidence → Insight → Decision → Learning</a:t>
            </a:r>
          </a:p>
        </p:txBody>
      </p:sp>
      <p:sp>
        <p:nvSpPr>
          <p:cNvPr id="6" name="t-720-620">
            <a:extLst xmlns:a="http://schemas.openxmlformats.org/drawingml/2006/main">
              <a:ext uri="{FF2B5EF4-FFF2-40B4-BE49-F238E27FC236}">
                <a16:creationId xmlns:a16="http://schemas.microsoft.com/office/drawing/2014/main" id="{19F8D733-7EA7-4902-9090-7BF6E70C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905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9E7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9E7E0"/>
                </a:solidFill>
                <a:latin typeface="Helvetica Neue"/>
                <a:ea typeface="Helvetica Neue"/>
                <a:cs typeface="Helvetica Neue"/>
              </a:rPr>
              <a:t>Next milestone: verify labels, standardize measurements, and accumulate prospective cycles.</a:t>
            </a:r>
          </a:p>
        </p:txBody>
      </p:sp>
    </p:spTree>
    <p:extLst>
      <p:ext uri="{BB962C8B-B14F-4D97-AF65-F5344CB8AC3E}">
        <p14:creationId xmlns:p14="http://schemas.microsoft.com/office/powerpoint/2010/main" val="83645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2026-08-12T02:01:58.4310000Z</dcterms:created>
  <dcterms:modified xsi:type="dcterms:W3CDTF">2026-08-12T02:01:58.4310000Z</dcterms:modified>
</coreProperties>
</file>